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6" r:id="rId6"/>
    <p:sldId id="277" r:id="rId7"/>
    <p:sldId id="261" r:id="rId8"/>
    <p:sldId id="262" r:id="rId9"/>
    <p:sldId id="278" r:id="rId10"/>
    <p:sldId id="263" r:id="rId11"/>
    <p:sldId id="264" r:id="rId12"/>
    <p:sldId id="266" r:id="rId13"/>
    <p:sldId id="267" r:id="rId14"/>
    <p:sldId id="279" r:id="rId15"/>
    <p:sldId id="268" r:id="rId16"/>
    <p:sldId id="269" r:id="rId17"/>
    <p:sldId id="265" r:id="rId18"/>
    <p:sldId id="270" r:id="rId19"/>
    <p:sldId id="271" r:id="rId20"/>
    <p:sldId id="273" r:id="rId21"/>
    <p:sldId id="274" r:id="rId22"/>
    <p:sldId id="275" r:id="rId23"/>
    <p:sldId id="280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0E4E"/>
    <a:srgbClr val="CDE9F0"/>
    <a:srgbClr val="BAD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07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0C429-CC31-0A48-E9F5-551CCCA94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36862-2940-CEDE-4117-B794C8E39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B3691-54FD-56FA-E348-C4318F483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3A457-4A11-0786-D1AE-45ABDED08A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48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4736D-C9E9-2B34-3DC2-FE2B8226E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3B8C3-7C2B-3EF8-D98C-B4016CED4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8845A-5C8A-6DC9-5148-5E39DA76C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37C4-D1A6-1245-1F05-7F338C8DD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06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43E9-4F81-39FD-7FEE-7E28F9FC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C3F3-3C67-7E0D-6E17-2A38383D1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9C620-B170-950A-9F8A-BDBE4A716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22C93-4E7A-2338-24F0-CD9C1F179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975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30DC6-0951-CBA1-F2F2-8FB3C64D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DA95-7BA1-1D23-E67C-4745BE8F0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235DB-6283-D803-0BFE-92B46D1DE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18F24-87AE-B0B2-07B3-12C47DDB7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57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CA47-A2D9-C2D4-C47E-5BC39F19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BD697B-8023-68F1-106A-DDFCFF20D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2855E-7587-70F1-6D95-478D2328F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B3F0A-9073-D082-0EE3-E13110A4D1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986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1.png"/><Relationship Id="rId9" Type="http://schemas.openxmlformats.org/officeDocument/2006/relationships/image" Target="../media/image2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1.png"/><Relationship Id="rId4" Type="http://schemas.openxmlformats.org/officeDocument/2006/relationships/image" Target="../media/image11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11.png"/><Relationship Id="rId15" Type="http://schemas.openxmlformats.org/officeDocument/2006/relationships/image" Target="../media/image52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Relationship Id="rId1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43.png"/><Relationship Id="rId4" Type="http://schemas.openxmlformats.org/officeDocument/2006/relationships/image" Target="../media/image11.png"/><Relationship Id="rId9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1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1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1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69.png"/><Relationship Id="rId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3" Type="http://schemas.openxmlformats.org/officeDocument/2006/relationships/image" Target="../media/image1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18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1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23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image" Target="../media/image11.png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png"/><Relationship Id="rId18" Type="http://schemas.openxmlformats.org/officeDocument/2006/relationships/image" Target="../media/image123.png"/><Relationship Id="rId26" Type="http://schemas.openxmlformats.org/officeDocument/2006/relationships/image" Target="../media/image131.png"/><Relationship Id="rId21" Type="http://schemas.openxmlformats.org/officeDocument/2006/relationships/image" Target="../media/image126.png"/><Relationship Id="rId34" Type="http://schemas.openxmlformats.org/officeDocument/2006/relationships/image" Target="../media/image18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5" Type="http://schemas.openxmlformats.org/officeDocument/2006/relationships/image" Target="../media/image130.png"/><Relationship Id="rId33" Type="http://schemas.openxmlformats.org/officeDocument/2006/relationships/image" Target="../media/image1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21.png"/><Relationship Id="rId20" Type="http://schemas.openxmlformats.org/officeDocument/2006/relationships/image" Target="../media/image125.png"/><Relationship Id="rId29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24" Type="http://schemas.openxmlformats.org/officeDocument/2006/relationships/image" Target="../media/image129.png"/><Relationship Id="rId32" Type="http://schemas.openxmlformats.org/officeDocument/2006/relationships/image" Target="../media/image137.png"/><Relationship Id="rId37" Type="http://schemas.openxmlformats.org/officeDocument/2006/relationships/image" Target="../media/image141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23" Type="http://schemas.openxmlformats.org/officeDocument/2006/relationships/image" Target="../media/image128.png"/><Relationship Id="rId28" Type="http://schemas.openxmlformats.org/officeDocument/2006/relationships/image" Target="../media/image133.png"/><Relationship Id="rId36" Type="http://schemas.openxmlformats.org/officeDocument/2006/relationships/image" Target="../media/image140.png"/><Relationship Id="rId10" Type="http://schemas.openxmlformats.org/officeDocument/2006/relationships/image" Target="../media/image115.png"/><Relationship Id="rId19" Type="http://schemas.openxmlformats.org/officeDocument/2006/relationships/image" Target="../media/image124.png"/><Relationship Id="rId31" Type="http://schemas.openxmlformats.org/officeDocument/2006/relationships/image" Target="../media/image136.png"/><Relationship Id="rId4" Type="http://schemas.openxmlformats.org/officeDocument/2006/relationships/image" Target="../media/image11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Relationship Id="rId22" Type="http://schemas.openxmlformats.org/officeDocument/2006/relationships/image" Target="../media/image127.png"/><Relationship Id="rId27" Type="http://schemas.openxmlformats.org/officeDocument/2006/relationships/image" Target="../media/image132.png"/><Relationship Id="rId30" Type="http://schemas.openxmlformats.org/officeDocument/2006/relationships/image" Target="../media/image135.png"/><Relationship Id="rId35" Type="http://schemas.openxmlformats.org/officeDocument/2006/relationships/image" Target="../media/image139.png"/><Relationship Id="rId8" Type="http://schemas.openxmlformats.org/officeDocument/2006/relationships/image" Target="../media/image113.png"/><Relationship Id="rId3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49.png"/><Relationship Id="rId18" Type="http://schemas.openxmlformats.org/officeDocument/2006/relationships/image" Target="../media/image154.png"/><Relationship Id="rId3" Type="http://schemas.openxmlformats.org/officeDocument/2006/relationships/image" Target="../media/image1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17" Type="http://schemas.openxmlformats.org/officeDocument/2006/relationships/image" Target="../media/image15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2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47.png"/><Relationship Id="rId5" Type="http://schemas.openxmlformats.org/officeDocument/2006/relationships/image" Target="../media/image142.png"/><Relationship Id="rId15" Type="http://schemas.openxmlformats.org/officeDocument/2006/relationships/image" Target="../media/image151.png"/><Relationship Id="rId10" Type="http://schemas.openxmlformats.org/officeDocument/2006/relationships/image" Target="../media/image146.png"/><Relationship Id="rId19" Type="http://schemas.openxmlformats.org/officeDocument/2006/relationships/image" Target="../media/image155.png"/><Relationship Id="rId4" Type="http://schemas.openxmlformats.org/officeDocument/2006/relationships/image" Target="../media/image11.png"/><Relationship Id="rId9" Type="http://schemas.openxmlformats.org/officeDocument/2006/relationships/image" Target="../media/image145.png"/><Relationship Id="rId14" Type="http://schemas.openxmlformats.org/officeDocument/2006/relationships/image" Target="../media/image1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6.png"/><Relationship Id="rId5" Type="http://schemas.openxmlformats.org/officeDocument/2006/relationships/image" Target="../media/image110.png"/><Relationship Id="rId10" Type="http://schemas.openxmlformats.org/officeDocument/2006/relationships/image" Target="../media/image158.png"/><Relationship Id="rId4" Type="http://schemas.openxmlformats.org/officeDocument/2006/relationships/image" Target="../media/image11.png"/><Relationship Id="rId9" Type="http://schemas.openxmlformats.org/officeDocument/2006/relationships/image" Target="../media/image1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3" Type="http://schemas.openxmlformats.org/officeDocument/2006/relationships/image" Target="../media/image159.png"/><Relationship Id="rId7" Type="http://schemas.openxmlformats.org/officeDocument/2006/relationships/image" Target="../media/image1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1.png"/><Relationship Id="rId11" Type="http://schemas.openxmlformats.org/officeDocument/2006/relationships/image" Target="../media/image18.png"/><Relationship Id="rId5" Type="http://schemas.openxmlformats.org/officeDocument/2006/relationships/image" Target="../media/image160.png"/><Relationship Id="rId10" Type="http://schemas.openxmlformats.org/officeDocument/2006/relationships/image" Target="../media/image165.png"/><Relationship Id="rId4" Type="http://schemas.openxmlformats.org/officeDocument/2006/relationships/image" Target="../media/image11.png"/><Relationship Id="rId9" Type="http://schemas.openxmlformats.org/officeDocument/2006/relationships/image" Target="../media/image1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png"/><Relationship Id="rId13" Type="http://schemas.openxmlformats.org/officeDocument/2006/relationships/image" Target="../media/image174.png"/><Relationship Id="rId3" Type="http://schemas.openxmlformats.org/officeDocument/2006/relationships/image" Target="../media/image1.png"/><Relationship Id="rId7" Type="http://schemas.openxmlformats.org/officeDocument/2006/relationships/image" Target="../media/image168.png"/><Relationship Id="rId12" Type="http://schemas.openxmlformats.org/officeDocument/2006/relationships/image" Target="../media/image17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72.png"/><Relationship Id="rId5" Type="http://schemas.openxmlformats.org/officeDocument/2006/relationships/image" Target="../media/image166.png"/><Relationship Id="rId15" Type="http://schemas.openxmlformats.org/officeDocument/2006/relationships/image" Target="../media/image165.png"/><Relationship Id="rId10" Type="http://schemas.openxmlformats.org/officeDocument/2006/relationships/image" Target="../media/image171.png"/><Relationship Id="rId4" Type="http://schemas.openxmlformats.org/officeDocument/2006/relationships/image" Target="../media/image11.png"/><Relationship Id="rId9" Type="http://schemas.openxmlformats.org/officeDocument/2006/relationships/image" Target="../media/image170.png"/><Relationship Id="rId14" Type="http://schemas.openxmlformats.org/officeDocument/2006/relationships/image" Target="../media/image17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.png"/><Relationship Id="rId7" Type="http://schemas.openxmlformats.org/officeDocument/2006/relationships/image" Target="../media/image177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1" Type="http://schemas.openxmlformats.org/officeDocument/2006/relationships/image" Target="../media/image141.png"/><Relationship Id="rId5" Type="http://schemas.openxmlformats.org/officeDocument/2006/relationships/image" Target="../media/image176.png"/><Relationship Id="rId10" Type="http://schemas.openxmlformats.org/officeDocument/2006/relationships/image" Target="../media/image140.png"/><Relationship Id="rId4" Type="http://schemas.openxmlformats.org/officeDocument/2006/relationships/image" Target="../media/image11.png"/><Relationship Id="rId9" Type="http://schemas.openxmlformats.org/officeDocument/2006/relationships/image" Target="../media/image17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3" Type="http://schemas.openxmlformats.org/officeDocument/2006/relationships/image" Target="../media/image1.png"/><Relationship Id="rId7" Type="http://schemas.openxmlformats.org/officeDocument/2006/relationships/image" Target="../media/image1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6.png"/><Relationship Id="rId5" Type="http://schemas.openxmlformats.org/officeDocument/2006/relationships/image" Target="../media/image180.png"/><Relationship Id="rId10" Type="http://schemas.openxmlformats.org/officeDocument/2006/relationships/image" Target="../media/image183.png"/><Relationship Id="rId4" Type="http://schemas.openxmlformats.org/officeDocument/2006/relationships/image" Target="../media/image11.png"/><Relationship Id="rId9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.png"/><Relationship Id="rId7" Type="http://schemas.openxmlformats.org/officeDocument/2006/relationships/image" Target="../media/image186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5.png"/><Relationship Id="rId11" Type="http://schemas.openxmlformats.org/officeDocument/2006/relationships/image" Target="../media/image189.png"/><Relationship Id="rId5" Type="http://schemas.openxmlformats.org/officeDocument/2006/relationships/image" Target="../media/image184.png"/><Relationship Id="rId10" Type="http://schemas.openxmlformats.org/officeDocument/2006/relationships/image" Target="../media/image99.png"/><Relationship Id="rId4" Type="http://schemas.openxmlformats.org/officeDocument/2006/relationships/image" Target="../media/image11.png"/><Relationship Id="rId9" Type="http://schemas.openxmlformats.org/officeDocument/2006/relationships/image" Target="../media/image18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3.png"/><Relationship Id="rId13" Type="http://schemas.openxmlformats.org/officeDocument/2006/relationships/image" Target="../media/image198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92.png"/><Relationship Id="rId12" Type="http://schemas.openxmlformats.org/officeDocument/2006/relationships/image" Target="../media/image197.png"/><Relationship Id="rId17" Type="http://schemas.openxmlformats.org/officeDocument/2006/relationships/image" Target="../media/image202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1.png"/><Relationship Id="rId11" Type="http://schemas.openxmlformats.org/officeDocument/2006/relationships/image" Target="../media/image196.png"/><Relationship Id="rId5" Type="http://schemas.openxmlformats.org/officeDocument/2006/relationships/image" Target="../media/image190.png"/><Relationship Id="rId15" Type="http://schemas.openxmlformats.org/officeDocument/2006/relationships/image" Target="../media/image200.png"/><Relationship Id="rId10" Type="http://schemas.openxmlformats.org/officeDocument/2006/relationships/image" Target="../media/image195.png"/><Relationship Id="rId4" Type="http://schemas.openxmlformats.org/officeDocument/2006/relationships/image" Target="../media/image11.png"/><Relationship Id="rId9" Type="http://schemas.openxmlformats.org/officeDocument/2006/relationships/image" Target="../media/image194.png"/><Relationship Id="rId14" Type="http://schemas.openxmlformats.org/officeDocument/2006/relationships/image" Target="../media/image19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6.png"/><Relationship Id="rId13" Type="http://schemas.openxmlformats.org/officeDocument/2006/relationships/image" Target="../media/image210.png"/><Relationship Id="rId18" Type="http://schemas.openxmlformats.org/officeDocument/2006/relationships/image" Target="../media/image215.png"/><Relationship Id="rId3" Type="http://schemas.openxmlformats.org/officeDocument/2006/relationships/image" Target="../media/image1.png"/><Relationship Id="rId21" Type="http://schemas.openxmlformats.org/officeDocument/2006/relationships/image" Target="../media/image218.png"/><Relationship Id="rId7" Type="http://schemas.openxmlformats.org/officeDocument/2006/relationships/image" Target="../media/image205.png"/><Relationship Id="rId12" Type="http://schemas.openxmlformats.org/officeDocument/2006/relationships/image" Target="../media/image201.png"/><Relationship Id="rId17" Type="http://schemas.openxmlformats.org/officeDocument/2006/relationships/image" Target="../media/image214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213.png"/><Relationship Id="rId20" Type="http://schemas.openxmlformats.org/officeDocument/2006/relationships/image" Target="../media/image2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4.png"/><Relationship Id="rId11" Type="http://schemas.openxmlformats.org/officeDocument/2006/relationships/image" Target="../media/image209.png"/><Relationship Id="rId24" Type="http://schemas.openxmlformats.org/officeDocument/2006/relationships/image" Target="../media/image18.png"/><Relationship Id="rId5" Type="http://schemas.openxmlformats.org/officeDocument/2006/relationships/image" Target="../media/image203.png"/><Relationship Id="rId15" Type="http://schemas.openxmlformats.org/officeDocument/2006/relationships/image" Target="../media/image212.png"/><Relationship Id="rId23" Type="http://schemas.openxmlformats.org/officeDocument/2006/relationships/image" Target="../media/image220.png"/><Relationship Id="rId10" Type="http://schemas.openxmlformats.org/officeDocument/2006/relationships/image" Target="../media/image208.png"/><Relationship Id="rId19" Type="http://schemas.openxmlformats.org/officeDocument/2006/relationships/image" Target="../media/image216.png"/><Relationship Id="rId4" Type="http://schemas.openxmlformats.org/officeDocument/2006/relationships/image" Target="../media/image11.png"/><Relationship Id="rId9" Type="http://schemas.openxmlformats.org/officeDocument/2006/relationships/image" Target="../media/image207.png"/><Relationship Id="rId14" Type="http://schemas.openxmlformats.org/officeDocument/2006/relationships/image" Target="../media/image211.png"/><Relationship Id="rId22" Type="http://schemas.openxmlformats.org/officeDocument/2006/relationships/image" Target="../media/image21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.png"/><Relationship Id="rId7" Type="http://schemas.openxmlformats.org/officeDocument/2006/relationships/image" Target="../media/image2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23.png"/><Relationship Id="rId4" Type="http://schemas.openxmlformats.org/officeDocument/2006/relationships/image" Target="../media/image11.png"/><Relationship Id="rId9" Type="http://schemas.openxmlformats.org/officeDocument/2006/relationships/image" Target="../media/image2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64" y="225409"/>
            <a:ext cx="1657673" cy="159705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6167" y="5055257"/>
            <a:ext cx="1510466" cy="155761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7450" y="1714500"/>
            <a:ext cx="7277100" cy="3429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2705100"/>
            <a:ext cx="9144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5814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700" y="3733800"/>
            <a:ext cx="228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581400"/>
            <a:ext cx="6096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988" y="3733800"/>
            <a:ext cx="200025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581400"/>
            <a:ext cx="609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7988" y="3733800"/>
            <a:ext cx="200025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2278380" y="2019300"/>
            <a:ext cx="76352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탐지 프로젝트 분석</a:t>
            </a:r>
            <a:endParaRPr lang="en-US" sz="3600" dirty="0"/>
          </a:p>
        </p:txBody>
      </p:sp>
      <p:sp>
        <p:nvSpPr>
          <p:cNvPr id="15" name="Text 1"/>
          <p:cNvSpPr/>
          <p:nvPr/>
        </p:nvSpPr>
        <p:spPr>
          <a:xfrm>
            <a:off x="2278380" y="2971800"/>
            <a:ext cx="7635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Machine Learning Approach for Fraud Detection</a:t>
            </a:r>
            <a:endParaRPr lang="en-US" sz="1800" dirty="0"/>
          </a:p>
        </p:txBody>
      </p:sp>
      <p:sp>
        <p:nvSpPr>
          <p:cNvPr id="16" name="Text 2"/>
          <p:cNvSpPr/>
          <p:nvPr/>
        </p:nvSpPr>
        <p:spPr>
          <a:xfrm>
            <a:off x="2914650" y="4572000"/>
            <a:ext cx="636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12월 16일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3276600"/>
            <a:ext cx="3657600" cy="202882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95487" y="3552825"/>
            <a:ext cx="428625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3276600"/>
            <a:ext cx="3657600" cy="202882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8" y="3552825"/>
            <a:ext cx="428625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3276600"/>
            <a:ext cx="3657600" cy="20288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10750" y="3552825"/>
            <a:ext cx="342900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 및 목표</a:t>
            </a:r>
            <a:endParaRPr lang="en-US" sz="2250" dirty="0"/>
          </a:p>
        </p:txBody>
      </p:sp>
      <p:sp>
        <p:nvSpPr>
          <p:cNvPr id="14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2/20</a:t>
            </a:r>
            <a:endParaRPr lang="en-US" sz="1500" dirty="0"/>
          </a:p>
        </p:txBody>
      </p:sp>
      <p:sp>
        <p:nvSpPr>
          <p:cNvPr id="15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문제</a:t>
            </a:r>
            <a:endParaRPr lang="en-US" sz="1800" dirty="0"/>
          </a:p>
        </p:txBody>
      </p:sp>
      <p:sp>
        <p:nvSpPr>
          <p:cNvPr id="16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사기는 금융 업계에 심각하게 발생되고 있는 위협으로, 전 세계적으로 수십억 달러의 손실을 초래하고 있습니다. 전통적인 규칙 기반 탐지 시스템은 사기 패턴의 변화에 적응하지 못하고 있으며, 높은 가짜 긍정 비율로 인해 고객 불편을 초래하고 있습니다.</a:t>
            </a:r>
            <a:endParaRPr lang="en-US" sz="1350" dirty="0"/>
          </a:p>
        </p:txBody>
      </p:sp>
      <p:sp>
        <p:nvSpPr>
          <p:cNvPr id="17" name="Text 4"/>
          <p:cNvSpPr/>
          <p:nvPr/>
        </p:nvSpPr>
        <p:spPr>
          <a:xfrm>
            <a:off x="381000" y="28194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800" dirty="0"/>
          </a:p>
        </p:txBody>
      </p:sp>
      <p:sp>
        <p:nvSpPr>
          <p:cNvPr id="18" name="Text 5"/>
          <p:cNvSpPr/>
          <p:nvPr/>
        </p:nvSpPr>
        <p:spPr>
          <a:xfrm>
            <a:off x="1186815" y="4048125"/>
            <a:ext cx="20459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개발 및 평가</a:t>
            </a:r>
            <a:endParaRPr lang="en-US" sz="1500" dirty="0"/>
          </a:p>
        </p:txBody>
      </p:sp>
      <p:sp>
        <p:nvSpPr>
          <p:cNvPr id="19" name="Text 6"/>
          <p:cNvSpPr/>
          <p:nvPr/>
        </p:nvSpPr>
        <p:spPr>
          <a:xfrm>
            <a:off x="881063" y="4391025"/>
            <a:ext cx="26574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합법적 거래와 사기 거래를 구별할 수 있는
머신러닝 모델을 개발하고 평가합니다.</a:t>
            </a:r>
            <a:endParaRPr lang="en-US" sz="1200" dirty="0"/>
          </a:p>
        </p:txBody>
      </p:sp>
      <p:sp>
        <p:nvSpPr>
          <p:cNvPr id="20" name="Text 7"/>
          <p:cNvSpPr/>
          <p:nvPr/>
        </p:nvSpPr>
        <p:spPr>
          <a:xfrm>
            <a:off x="5204460" y="4048125"/>
            <a:ext cx="17830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기법 비교</a:t>
            </a:r>
            <a:endParaRPr lang="en-US" sz="1500" dirty="0"/>
          </a:p>
        </p:txBody>
      </p:sp>
      <p:sp>
        <p:nvSpPr>
          <p:cNvPr id="21" name="Text 8"/>
          <p:cNvSpPr/>
          <p:nvPr/>
        </p:nvSpPr>
        <p:spPr>
          <a:xfrm>
            <a:off x="4805363" y="4391025"/>
            <a:ext cx="258127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 회귀, 랜덤 포레스트,
XGBoost, LightGBM, CatBoost 등의
다양한 알고리즘을 적용하고 비교합니다.</a:t>
            </a:r>
            <a:endParaRPr lang="en-US" sz="1200" dirty="0"/>
          </a:p>
        </p:txBody>
      </p:sp>
      <p:sp>
        <p:nvSpPr>
          <p:cNvPr id="22" name="Text 9"/>
          <p:cNvSpPr/>
          <p:nvPr/>
        </p:nvSpPr>
        <p:spPr>
          <a:xfrm>
            <a:off x="8850630" y="4048125"/>
            <a:ext cx="22631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실용적 적용 가능성 평가</a:t>
            </a:r>
            <a:endParaRPr lang="en-US" sz="1500" dirty="0"/>
          </a:p>
        </p:txBody>
      </p:sp>
      <p:sp>
        <p:nvSpPr>
          <p:cNvPr id="23" name="Text 10"/>
          <p:cNvSpPr/>
          <p:nvPr/>
        </p:nvSpPr>
        <p:spPr>
          <a:xfrm>
            <a:off x="8720138" y="4391025"/>
            <a:ext cx="25241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False Positive(정상 거래 잘못 탐지)과
False Negative(사기 거래 감지 실패)의
실제 비용을 고려합니다.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028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400300"/>
            <a:ext cx="56007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628900"/>
            <a:ext cx="171450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099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3147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619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9243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42291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400300"/>
            <a:ext cx="5600700" cy="2209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26289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00990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314700"/>
            <a:ext cx="13335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619500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4838700"/>
            <a:ext cx="11430000" cy="1333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5391150"/>
            <a:ext cx="7620000" cy="571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13716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3/20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1066800" y="1333500"/>
            <a:ext cx="10229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이진 분류 과제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1066800" y="1714500"/>
            <a:ext cx="105537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데이터에서 사기성 거래를 식별하기 위한 이진 분류 문제로, 합법적 거래(0)와 사기 거래(1)를 구별하는 모델을 개발해야 합니다.</a:t>
            </a:r>
            <a:endParaRPr lang="en-US" sz="1350" dirty="0"/>
          </a:p>
        </p:txBody>
      </p:sp>
      <p:sp>
        <p:nvSpPr>
          <p:cNvPr id="25" name="Text 4"/>
          <p:cNvSpPr/>
          <p:nvPr/>
        </p:nvSpPr>
        <p:spPr>
          <a:xfrm>
            <a:off x="85725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800100" y="2971800"/>
            <a:ext cx="17487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수: 284,807 건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800100" y="3276600"/>
            <a:ext cx="192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사기율: 492 건 (0.172%)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800100" y="3581400"/>
            <a:ext cx="22974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변수: V1-V28 (PCA 변환)</a:t>
            </a:r>
            <a:endParaRPr lang="en-US" sz="1200" dirty="0"/>
          </a:p>
        </p:txBody>
      </p:sp>
      <p:sp>
        <p:nvSpPr>
          <p:cNvPr id="29" name="Text 8"/>
          <p:cNvSpPr/>
          <p:nvPr/>
        </p:nvSpPr>
        <p:spPr>
          <a:xfrm>
            <a:off x="800100" y="3886200"/>
            <a:ext cx="1987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변수: Time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800100" y="4191000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금액: Amount</a:t>
            </a:r>
            <a:endParaRPr lang="en-US" sz="1200" dirty="0"/>
          </a:p>
        </p:txBody>
      </p:sp>
      <p:sp>
        <p:nvSpPr>
          <p:cNvPr id="31" name="Text 10"/>
          <p:cNvSpPr/>
          <p:nvPr/>
        </p:nvSpPr>
        <p:spPr>
          <a:xfrm>
            <a:off x="670560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과제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6610350" y="2971800"/>
            <a:ext cx="3234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불균형: 사기 거래 비율이 매우 낮음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610350" y="3276600"/>
            <a:ext cx="4526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특징의 익명성: PCA로 변환된 변수에 대한 의미 해석 어려움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6610350" y="3581400"/>
            <a:ext cx="41376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시간적 패턴: 사기 패턴의 지속적인 변화에 적응해야 함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571500" y="50292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시각화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5627489" cy="1295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43025"/>
            <a:ext cx="3048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590800"/>
            <a:ext cx="5638800" cy="10858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902446"/>
            <a:ext cx="2514600" cy="67210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6600" y="2719466"/>
            <a:ext cx="2438400" cy="876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7089" y="1066800"/>
            <a:ext cx="5627489" cy="2628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5689" y="1638300"/>
            <a:ext cx="5170289" cy="182805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489" y="3924301"/>
            <a:ext cx="11579423" cy="1257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9669" y="4052966"/>
            <a:ext cx="278892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3969" y="4205366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69983" y="4052966"/>
            <a:ext cx="265176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4283" y="4205366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89031" y="4562632"/>
            <a:ext cx="278892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03331" y="4715032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79345" y="4562632"/>
            <a:ext cx="2651760" cy="457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3645" y="4715032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4/20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990600" y="1295400"/>
            <a:ext cx="47434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Credit Card Fraud Detection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990600" y="1676400"/>
            <a:ext cx="39528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데이터셋으로,
개인정보 보호를 위해 PCA 변환된 익명화된 데이터입니다.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457200" y="2647118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통계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401427" y="282582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284,807</a:t>
            </a:r>
            <a:endParaRPr lang="en-US" sz="2250" dirty="0"/>
          </a:p>
        </p:txBody>
      </p:sp>
      <p:sp>
        <p:nvSpPr>
          <p:cNvPr id="27" name="Text 6"/>
          <p:cNvSpPr/>
          <p:nvPr/>
        </p:nvSpPr>
        <p:spPr>
          <a:xfrm>
            <a:off x="1689031" y="3214766"/>
            <a:ext cx="2209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30016" y="2825820"/>
            <a:ext cx="25603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0.172%</a:t>
            </a:r>
            <a:endParaRPr lang="en-US" sz="2250" dirty="0"/>
          </a:p>
        </p:txBody>
      </p:sp>
      <p:sp>
        <p:nvSpPr>
          <p:cNvPr id="29" name="Text 8"/>
          <p:cNvSpPr/>
          <p:nvPr/>
        </p:nvSpPr>
        <p:spPr>
          <a:xfrm>
            <a:off x="3541121" y="3214766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 (492건)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465689" y="1295400"/>
            <a:ext cx="517028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분포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522089" y="4152900"/>
            <a:ext cx="1112222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2022569" y="4167266"/>
            <a:ext cx="2651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V1 ~ V28: PCA 변환된 익명화 특징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312883" y="4167266"/>
            <a:ext cx="1988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Time: 첫 거래부터의 시간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2031931" y="4676932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Amount: 거래 금액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6322245" y="4676932"/>
            <a:ext cx="2606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Class: 타겟 변수 (0=정상, 1=사기)</a:t>
            </a:r>
            <a:endParaRPr lang="en-US" sz="1200" dirty="0"/>
          </a:p>
        </p:txBody>
      </p:sp>
      <p:pic>
        <p:nvPicPr>
          <p:cNvPr id="36" name="Image 15" descr="preencoded.png">
            <a:extLst>
              <a:ext uri="{FF2B5EF4-FFF2-40B4-BE49-F238E27FC236}">
                <a16:creationId xmlns:a16="http://schemas.microsoft.com/office/drawing/2014/main" id="{987D23E9-DFB1-6323-8303-C7F5D5C5F88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2178" y="5410200"/>
            <a:ext cx="11582400" cy="1014893"/>
          </a:xfrm>
          <a:prstGeom prst="rect">
            <a:avLst/>
          </a:prstGeom>
        </p:spPr>
      </p:pic>
      <p:pic>
        <p:nvPicPr>
          <p:cNvPr id="37" name="Image 16" descr="preencoded.png">
            <a:extLst>
              <a:ext uri="{FF2B5EF4-FFF2-40B4-BE49-F238E27FC236}">
                <a16:creationId xmlns:a16="http://schemas.microsoft.com/office/drawing/2014/main" id="{1E9C92C3-62AF-2E3F-6955-D1B4C6480AE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223" y="5774771"/>
            <a:ext cx="285750" cy="285750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400EDB2D-9418-F3FC-7158-C2EAC8F37F90}"/>
              </a:ext>
            </a:extLst>
          </p:cNvPr>
          <p:cNvSpPr/>
          <p:nvPr/>
        </p:nvSpPr>
        <p:spPr>
          <a:xfrm>
            <a:off x="990600" y="5629432"/>
            <a:ext cx="90201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문제</a:t>
            </a:r>
            <a:endParaRPr lang="en-US" sz="135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EEF04CA6-D9AD-B911-8A9D-923E86D89FCA}"/>
              </a:ext>
            </a:extLst>
          </p:cNvPr>
          <p:cNvSpPr/>
          <p:nvPr/>
        </p:nvSpPr>
        <p:spPr>
          <a:xfrm>
            <a:off x="990600" y="5961819"/>
            <a:ext cx="10824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개발 및 평가 시 중요한 고려 사항으로, 사기 거래(클래스 1)는 매우 적은 비율로 발생하므로 정확한 재현율과 F1-score 측정이 필요합니다.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8E47-5DE7-3923-B88C-DCDFCF21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08FF7D7-85DB-09A6-4ED9-3038CF98B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5" name="Image 6" descr="preencoded.png">
            <a:extLst>
              <a:ext uri="{FF2B5EF4-FFF2-40B4-BE49-F238E27FC236}">
                <a16:creationId xmlns:a16="http://schemas.microsoft.com/office/drawing/2014/main" id="{DBB95387-4C40-3D82-E781-33FE495C0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3470475"/>
            <a:ext cx="5676900" cy="110799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24FFB81-69E3-95C7-07AE-1E4E3F892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3AB0C250-A11E-BE82-9D4C-46B2CF59D2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066800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3C72532-8407-B997-3908-0BCACB06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33600"/>
            <a:ext cx="5676900" cy="110799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0909B5CC-D9C5-D131-CD36-54D6372630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254" y="2349253"/>
            <a:ext cx="323850" cy="571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964AC47F-A1FF-CE04-5A90-D8B391CADC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254" y="2463553"/>
            <a:ext cx="32385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C8347ECE-3384-B31F-5BE0-AA89C1ABC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133600"/>
            <a:ext cx="5676900" cy="110799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77298173-F684-7DF4-9DBA-591FF83B8C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24100"/>
            <a:ext cx="305842" cy="5715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86D9178D-4CEF-7973-5319-2A33BD8A1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0771" y="2438400"/>
            <a:ext cx="28575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E878CFF-7376-FAA3-0543-5CAC42B6A6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01980"/>
            <a:ext cx="252115" cy="571500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4D8F18D5-3A30-B8C1-3360-72E1C95C9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470190"/>
            <a:ext cx="5676900" cy="110799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209A7BAE-BB27-A81E-CDFC-2050D980EBC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3032" y="3816280"/>
            <a:ext cx="247650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61149B83-1C53-BE73-2F44-7A616DDF95A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EDCC87FE-574C-F001-8991-3A50FD7A0288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통계적 요약 및 분포 확인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3FDBE431-C0E0-6D2B-6A7E-AF2CE28A621B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5/20</a:t>
            </a:r>
            <a:endParaRPr lang="en-US" sz="15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98EB80A5-2705-4334-44D7-6776FCD75269}"/>
              </a:ext>
            </a:extLst>
          </p:cNvPr>
          <p:cNvSpPr/>
          <p:nvPr/>
        </p:nvSpPr>
        <p:spPr>
          <a:xfrm>
            <a:off x="457200" y="12192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데이터셋은 총 31개의 피처로 구성되어 있으며, 이는 사기 탐지 모델 개발에 중요한 입력 요소입니다.
다음은 각 피처 유형에 대한 상세 분석입니다.</a:t>
            </a:r>
            <a:endParaRPr lang="en-US" sz="135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0DC36A21-45AD-34A3-4BFD-2A765F3F450E}"/>
              </a:ext>
            </a:extLst>
          </p:cNvPr>
          <p:cNvSpPr/>
          <p:nvPr/>
        </p:nvSpPr>
        <p:spPr>
          <a:xfrm>
            <a:off x="990600" y="2258049"/>
            <a:ext cx="4819650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특징 (V1-V28)</a:t>
            </a:r>
            <a:endParaRPr lang="en-US" sz="15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821403C-CCD4-D9A7-A378-78A23B1E057B}"/>
              </a:ext>
            </a:extLst>
          </p:cNvPr>
          <p:cNvSpPr/>
          <p:nvPr/>
        </p:nvSpPr>
        <p:spPr>
          <a:xfrm>
            <a:off x="971550" y="2585473"/>
            <a:ext cx="4819650" cy="574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보유자 개인정보를 보호하기 위해 PCA(주성분 분석) 기법으로 변환된 익명화된 특징들입니다.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통계적 및 변환된 거래 특성을 포함합니다.</a:t>
            </a:r>
            <a:endParaRPr lang="en-US" sz="12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9F6220B-50C7-EC3A-1950-89EF51F5E6B2}"/>
              </a:ext>
            </a:extLst>
          </p:cNvPr>
          <p:cNvSpPr/>
          <p:nvPr/>
        </p:nvSpPr>
        <p:spPr>
          <a:xfrm>
            <a:off x="6859042" y="2258888"/>
            <a:ext cx="4837658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시간 (Time)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01A2B55-EF32-DBD7-B3BB-ABC7D5A003B8}"/>
              </a:ext>
            </a:extLst>
          </p:cNvPr>
          <p:cNvSpPr/>
          <p:nvPr/>
        </p:nvSpPr>
        <p:spPr>
          <a:xfrm>
            <a:off x="6859042" y="2587710"/>
            <a:ext cx="483765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거래 이후 경과된 시간(초 단위)을 나타냅니다. 이 특징은 시간적 패턴이나 특정 시간대에 발생하는 사기 활동을 분석하는 데 유용합니다.</a:t>
            </a:r>
            <a:endParaRPr lang="en-US" sz="12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17B40C1C-DA30-0CAF-B5C1-EF29F13D76E4}"/>
              </a:ext>
            </a:extLst>
          </p:cNvPr>
          <p:cNvSpPr/>
          <p:nvPr/>
        </p:nvSpPr>
        <p:spPr>
          <a:xfrm>
            <a:off x="1010965" y="3634223"/>
            <a:ext cx="4751933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 (Amount)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B02F5784-C4B6-82AE-45AB-D8F31A2E15AB}"/>
              </a:ext>
            </a:extLst>
          </p:cNvPr>
          <p:cNvSpPr/>
          <p:nvPr/>
        </p:nvSpPr>
        <p:spPr>
          <a:xfrm>
            <a:off x="990600" y="3967650"/>
            <a:ext cx="4751933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거래의 금액을 나타내며, 사기 거래가 특정 금액 구간에서 더 자주 발생하는지 분석하는 데 사용될 수 있습니다.</a:t>
            </a:r>
            <a:endParaRPr lang="en-US" sz="12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2E35852A-76EF-52F6-EE3E-C21EA5E42D31}"/>
              </a:ext>
            </a:extLst>
          </p:cNvPr>
          <p:cNvSpPr/>
          <p:nvPr/>
        </p:nvSpPr>
        <p:spPr>
          <a:xfrm>
            <a:off x="6805315" y="3634223"/>
            <a:ext cx="4891385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변수 (Class)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A6B2D7A-0E6D-3CFA-FECC-D191DE5A0121}"/>
              </a:ext>
            </a:extLst>
          </p:cNvPr>
          <p:cNvSpPr/>
          <p:nvPr/>
        </p:nvSpPr>
        <p:spPr>
          <a:xfrm>
            <a:off x="6805315" y="3945849"/>
            <a:ext cx="4891385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0은 정상 거래, 1은 사기 거래를 나타냅니다. 이 데이터셋은 극도로 불균형한 클래스 분포를 보이며, 사기 거래 비율은 총 거래의 0.172%에 불과합니다.</a:t>
            </a:r>
            <a:endParaRPr lang="en-US" sz="1200" dirty="0"/>
          </a:p>
        </p:txBody>
      </p:sp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0F3DE22-8765-63BA-0EEC-153A305DBC9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099" y="3712690"/>
            <a:ext cx="391567" cy="571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11B76814-B1BD-10EE-78E8-F38249BF8D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933" y="3826990"/>
            <a:ext cx="285750" cy="34290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AD2C5874-3B1B-BFEB-2A70-1B6C0FE2BD7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4800" y="4800619"/>
            <a:ext cx="7872549" cy="1775763"/>
          </a:xfrm>
          <a:prstGeom prst="rect">
            <a:avLst/>
          </a:prstGeom>
        </p:spPr>
      </p:pic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80764784-E5BF-E1B4-784F-4E0DFDFEB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950" y="4800619"/>
            <a:ext cx="3483156" cy="1761227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6DECBDD3-1B22-21AA-0509-F2D31027CD57}"/>
              </a:ext>
            </a:extLst>
          </p:cNvPr>
          <p:cNvSpPr/>
          <p:nvPr/>
        </p:nvSpPr>
        <p:spPr>
          <a:xfrm>
            <a:off x="8657818" y="5413761"/>
            <a:ext cx="2979420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피처는 평균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(88.35)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대비 표준편차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(250.12)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크고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</a:p>
          <a:p>
            <a:pPr>
              <a:lnSpc>
                <a:spcPts val="1800"/>
              </a:lnSpc>
            </a:pP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왜도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(16.48)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높은 오른쪽으로 심하게 편향된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(Skewed)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분포를 보입니다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9B2773C1-E726-A62B-66A5-7A2B7AD08937}"/>
              </a:ext>
            </a:extLst>
          </p:cNvPr>
          <p:cNvSpPr/>
          <p:nvPr/>
        </p:nvSpPr>
        <p:spPr>
          <a:xfrm>
            <a:off x="8657818" y="5002109"/>
            <a:ext cx="3192236" cy="210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</a:t>
            </a:r>
            <a:r>
              <a:rPr lang="en-US" altLang="ko-KR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 분석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03630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F2332-58C9-6A3D-326E-6EB5947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8BA9420-8944-8C7B-DE2A-6651205D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E5A26B2-5FBD-9349-049F-EE6AC1D3F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A50973A0-21DE-2D77-FC0F-4A1FFDF84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7237" y="1009649"/>
            <a:ext cx="3824266" cy="1685628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E4B681EA-5185-2B35-65B7-646D86C09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97" y="1009648"/>
            <a:ext cx="3688056" cy="1685629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256BFF13-0393-D9E0-967E-B4841C2925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FEF38453-A7B5-B042-C879-D78C8137D3FF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 분석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676D0AC4-6F40-36B0-F314-1DAA38BAFB94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5/20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A85AED3D-1B7C-863E-8C1B-937522F92839}"/>
              </a:ext>
            </a:extLst>
          </p:cNvPr>
          <p:cNvSpPr/>
          <p:nvPr/>
        </p:nvSpPr>
        <p:spPr>
          <a:xfrm>
            <a:off x="8485597" y="1195356"/>
            <a:ext cx="3032739" cy="2237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altLang="ko-KR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94057D5-DDCD-1530-D19B-0D4423023A33}"/>
              </a:ext>
            </a:extLst>
          </p:cNvPr>
          <p:cNvSpPr/>
          <p:nvPr/>
        </p:nvSpPr>
        <p:spPr>
          <a:xfrm>
            <a:off x="8485596" y="1580020"/>
            <a:ext cx="3310869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(Class=1)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와 정상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(Class=0)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간의 분포에 큰 차이를 보이지 않습니다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즉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절대적인 시간 정보 자체는 </a:t>
            </a:r>
            <a:r>
              <a:rPr lang="ko-KR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 탐지에 큰 예측력을 갖지 못함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을 시사합니다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6A1B2B4-60F1-C547-E09F-CA00F2FF59DA}"/>
              </a:ext>
            </a:extLst>
          </p:cNvPr>
          <p:cNvSpPr/>
          <p:nvPr/>
        </p:nvSpPr>
        <p:spPr>
          <a:xfrm>
            <a:off x="395535" y="1195356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분석 </a:t>
            </a:r>
            <a:r>
              <a:rPr lang="en-US" altLang="ko-KR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Q-Q Plot</a:t>
            </a:r>
            <a:endParaRPr lang="en-US" sz="1500" dirty="0">
              <a:solidFill>
                <a:srgbClr val="C00000"/>
              </a:solidFill>
            </a:endParaRPr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E18E0A0-92F8-4BBE-8DA7-62E60195E326}"/>
              </a:ext>
            </a:extLst>
          </p:cNvPr>
          <p:cNvSpPr/>
          <p:nvPr/>
        </p:nvSpPr>
        <p:spPr>
          <a:xfrm>
            <a:off x="380999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포인트가 정규 분포 라인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직선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에서 극단적으로 벗어나는 모습을 보였습니다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이는 데이터가 정규성을 따르지 않으며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이상치가 다수 존재함을 시사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7E7E81-5C56-2A8A-E1BD-16A054290D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497" y="2887963"/>
            <a:ext cx="3688056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9CAC29-AC3C-E338-5F11-D9A73C78B2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7238" y="2887964"/>
            <a:ext cx="3824265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3D4A1BC-FE05-55C7-AAC5-89DD3D4E7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794" y="2887964"/>
            <a:ext cx="4001044" cy="3701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Image 6" descr="preencoded.png">
            <a:extLst>
              <a:ext uri="{FF2B5EF4-FFF2-40B4-BE49-F238E27FC236}">
                <a16:creationId xmlns:a16="http://schemas.microsoft.com/office/drawing/2014/main" id="{E1C0B6B3-DCB8-8C42-69CA-E461B26C9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050" y="1009648"/>
            <a:ext cx="3974787" cy="1685629"/>
          </a:xfrm>
          <a:prstGeom prst="rect">
            <a:avLst/>
          </a:prstGeom>
        </p:spPr>
      </p:pic>
      <p:sp>
        <p:nvSpPr>
          <p:cNvPr id="31" name="Text 7">
            <a:extLst>
              <a:ext uri="{FF2B5EF4-FFF2-40B4-BE49-F238E27FC236}">
                <a16:creationId xmlns:a16="http://schemas.microsoft.com/office/drawing/2014/main" id="{9174D9FF-2C49-3871-B310-2C04FEB0DFA8}"/>
              </a:ext>
            </a:extLst>
          </p:cNvPr>
          <p:cNvSpPr/>
          <p:nvPr/>
        </p:nvSpPr>
        <p:spPr>
          <a:xfrm>
            <a:off x="4332945" y="1195611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84DBFC0-4A78-1385-E3DD-B34AA33025FA}"/>
              </a:ext>
            </a:extLst>
          </p:cNvPr>
          <p:cNvSpPr/>
          <p:nvPr/>
        </p:nvSpPr>
        <p:spPr>
          <a:xfrm>
            <a:off x="4332945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사기 거래는 주로 작은 금액대에서 발생하는 경향이 있으나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일부 매우 큰 금액도 포함되어 있습니다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이는 사기 거래가 일반 거래와 다른 금액 분포 패턴을 가짐을 보여줍니다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4770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638300"/>
            <a:ext cx="3606701" cy="4000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66900"/>
            <a:ext cx="666750" cy="666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028825"/>
            <a:ext cx="36195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257800"/>
            <a:ext cx="104775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638300"/>
            <a:ext cx="3606850" cy="400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1101" y="1866900"/>
            <a:ext cx="666750" cy="666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1601" y="2028825"/>
            <a:ext cx="28575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1101" y="5257800"/>
            <a:ext cx="104775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4150" y="1638300"/>
            <a:ext cx="3606701" cy="400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32750" y="1866900"/>
            <a:ext cx="666750" cy="666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85150" y="2028825"/>
            <a:ext cx="36195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2750" y="5257800"/>
            <a:ext cx="104775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5867400"/>
            <a:ext cx="11430000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24138" y="606742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209550"/>
            <a:ext cx="27432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 전략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6/20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381000" y="1143000"/>
            <a:ext cx="11430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최적의 모델 성능을 위해 세 가지 주요 데이터 전처리 전략을 적용했습니다: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42875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</a:t>
            </a:r>
            <a:endParaRPr lang="en-US" sz="1800" dirty="0"/>
          </a:p>
        </p:txBody>
      </p:sp>
      <p:sp>
        <p:nvSpPr>
          <p:cNvPr id="23" name="Text 4"/>
          <p:cNvSpPr/>
          <p:nvPr/>
        </p:nvSpPr>
        <p:spPr>
          <a:xfrm>
            <a:off x="60960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350" dirty="0"/>
          </a:p>
        </p:txBody>
      </p:sp>
      <p:sp>
        <p:nvSpPr>
          <p:cNvPr id="24" name="Text 5"/>
          <p:cNvSpPr/>
          <p:nvPr/>
        </p:nvSpPr>
        <p:spPr>
          <a:xfrm>
            <a:off x="609600" y="30289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비율이 0.172%로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극도로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불균형한 데이터셋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09600" y="36385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26" name="Text 7"/>
          <p:cNvSpPr/>
          <p:nvPr/>
        </p:nvSpPr>
        <p:spPr>
          <a:xfrm>
            <a:off x="609600" y="39814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(Synthetic Minority Oversampling Technique)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609600" y="44767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오버샘플링과 언더샘플링 조합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09600" y="47434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가중치 조정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752475" y="5219700"/>
            <a:ext cx="37794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사기 거래 탐지 정확도 향상</a:t>
            </a:r>
            <a:endParaRPr lang="en-US" sz="1050" dirty="0"/>
          </a:p>
        </p:txBody>
      </p:sp>
      <p:sp>
        <p:nvSpPr>
          <p:cNvPr id="30" name="Text 11"/>
          <p:cNvSpPr/>
          <p:nvPr/>
        </p:nvSpPr>
        <p:spPr>
          <a:xfrm>
            <a:off x="5340250" y="2028825"/>
            <a:ext cx="2473375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(Outlier) 처리</a:t>
            </a:r>
            <a:endParaRPr lang="en-US" sz="1800" dirty="0"/>
          </a:p>
        </p:txBody>
      </p:sp>
      <p:sp>
        <p:nvSpPr>
          <p:cNvPr id="31" name="Text 12"/>
          <p:cNvSpPr/>
          <p:nvPr/>
        </p:nvSpPr>
        <p:spPr>
          <a:xfrm>
            <a:off x="4521101" y="268605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32" name="Text 13"/>
          <p:cNvSpPr/>
          <p:nvPr/>
        </p:nvSpPr>
        <p:spPr>
          <a:xfrm>
            <a:off x="4521101" y="30289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아웃라이어 캡핑 (Outlier Capping)</a:t>
            </a:r>
            <a:endParaRPr lang="en-US" sz="1200" dirty="0"/>
          </a:p>
        </p:txBody>
      </p:sp>
      <p:sp>
        <p:nvSpPr>
          <p:cNvPr id="33" name="Text 14"/>
          <p:cNvSpPr/>
          <p:nvPr/>
        </p:nvSpPr>
        <p:spPr>
          <a:xfrm>
            <a:off x="4521101" y="329565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EXTREME 값 제거</a:t>
            </a:r>
            <a:endParaRPr lang="en-US" sz="1200" dirty="0"/>
          </a:p>
        </p:txBody>
      </p:sp>
      <p:sp>
        <p:nvSpPr>
          <p:cNvPr id="34" name="Text 15"/>
          <p:cNvSpPr/>
          <p:nvPr/>
        </p:nvSpPr>
        <p:spPr>
          <a:xfrm>
            <a:off x="4521101" y="35623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(amount)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3σ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</a:t>
            </a:r>
            <a:endParaRPr lang="en-US" altLang="ko-KR" sz="1200" dirty="0"/>
          </a:p>
        </p:txBody>
      </p:sp>
      <p:sp>
        <p:nvSpPr>
          <p:cNvPr id="35" name="Text 16"/>
          <p:cNvSpPr/>
          <p:nvPr/>
        </p:nvSpPr>
        <p:spPr>
          <a:xfrm>
            <a:off x="4521101" y="4293117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36" name="Text 17"/>
          <p:cNvSpPr/>
          <p:nvPr/>
        </p:nvSpPr>
        <p:spPr>
          <a:xfrm>
            <a:off x="4521101" y="461010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이상치로 인한 모델 오염 방지</a:t>
            </a:r>
            <a:endParaRPr lang="en-US" sz="1200" dirty="0"/>
          </a:p>
        </p:txBody>
      </p:sp>
      <p:sp>
        <p:nvSpPr>
          <p:cNvPr id="37" name="Text 18"/>
          <p:cNvSpPr/>
          <p:nvPr/>
        </p:nvSpPr>
        <p:spPr>
          <a:xfrm>
            <a:off x="4663976" y="5219700"/>
            <a:ext cx="31496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모델 안정성 향상</a:t>
            </a:r>
            <a:endParaRPr lang="en-US" sz="1050" dirty="0"/>
          </a:p>
        </p:txBody>
      </p:sp>
      <p:sp>
        <p:nvSpPr>
          <p:cNvPr id="38" name="Text 19"/>
          <p:cNvSpPr/>
          <p:nvPr/>
        </p:nvSpPr>
        <p:spPr>
          <a:xfrm>
            <a:off x="925190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스케일링</a:t>
            </a:r>
            <a:endParaRPr lang="en-US" sz="1800" dirty="0"/>
          </a:p>
        </p:txBody>
      </p:sp>
      <p:sp>
        <p:nvSpPr>
          <p:cNvPr id="39" name="Text 20"/>
          <p:cNvSpPr/>
          <p:nvPr/>
        </p:nvSpPr>
        <p:spPr>
          <a:xfrm>
            <a:off x="843275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40" name="Text 21"/>
          <p:cNvSpPr/>
          <p:nvPr/>
        </p:nvSpPr>
        <p:spPr>
          <a:xfrm>
            <a:off x="8432750" y="30289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200" dirty="0"/>
          </a:p>
        </p:txBody>
      </p:sp>
      <p:sp>
        <p:nvSpPr>
          <p:cNvPr id="41" name="Text 22"/>
          <p:cNvSpPr/>
          <p:nvPr/>
        </p:nvSpPr>
        <p:spPr>
          <a:xfrm>
            <a:off x="8432750" y="32956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RobustScaler</a:t>
            </a:r>
            <a:endParaRPr lang="en-US" sz="1200" dirty="0"/>
          </a:p>
        </p:txBody>
      </p:sp>
      <p:sp>
        <p:nvSpPr>
          <p:cNvPr id="43" name="Text 24"/>
          <p:cNvSpPr/>
          <p:nvPr/>
        </p:nvSpPr>
        <p:spPr>
          <a:xfrm>
            <a:off x="8429765" y="3723154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44" name="Text 25"/>
          <p:cNvSpPr/>
          <p:nvPr/>
        </p:nvSpPr>
        <p:spPr>
          <a:xfrm>
            <a:off x="8432750" y="4043923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sensitivity 향상</a:t>
            </a:r>
            <a:endParaRPr lang="en-US" sz="1200" dirty="0"/>
          </a:p>
        </p:txBody>
      </p:sp>
      <p:sp>
        <p:nvSpPr>
          <p:cNvPr id="45" name="Text 26"/>
          <p:cNvSpPr/>
          <p:nvPr/>
        </p:nvSpPr>
        <p:spPr>
          <a:xfrm>
            <a:off x="8575625" y="5219700"/>
            <a:ext cx="245096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신경망 및 거리 기반 모델 성능 향상</a:t>
            </a:r>
            <a:endParaRPr lang="en-US" sz="1050" dirty="0"/>
          </a:p>
        </p:txBody>
      </p:sp>
      <p:sp>
        <p:nvSpPr>
          <p:cNvPr id="46" name="Text 27"/>
          <p:cNvSpPr/>
          <p:nvPr/>
        </p:nvSpPr>
        <p:spPr>
          <a:xfrm>
            <a:off x="1364401" y="6038850"/>
            <a:ext cx="974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전략은 모델 성능 향상을 위해 조합하여 사용되었습니다. (예: SMOTE + 아웃라이어 캡핑 + 스케일링)</a:t>
            </a:r>
            <a:endParaRPr lang="en-US" sz="12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598FFB8F-5574-7E86-3E48-F348CE1F0BC7}"/>
              </a:ext>
            </a:extLst>
          </p:cNvPr>
          <p:cNvSpPr/>
          <p:nvPr/>
        </p:nvSpPr>
        <p:spPr>
          <a:xfrm>
            <a:off x="4521101" y="3862667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Time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피처 삭제</a:t>
            </a:r>
            <a:endParaRPr lang="en-US" altLang="ko-KR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928241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995041"/>
            <a:ext cx="5676900" cy="1066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356991"/>
            <a:ext cx="34290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995041"/>
            <a:ext cx="5676900" cy="1066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2356991"/>
            <a:ext cx="3429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3290441"/>
            <a:ext cx="5676900" cy="1066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652391"/>
            <a:ext cx="34290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90441"/>
            <a:ext cx="56769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652391"/>
            <a:ext cx="42862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" y="4585841"/>
            <a:ext cx="11582400" cy="1905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19241"/>
            <a:ext cx="11277600" cy="1219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프레임워크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420475" y="178296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7/20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457200" y="1080641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불균형 데이터셋(사기 거래율 0.172%)에서는 전통적인 정확도(accuracy) 지표가 모델 성능을 충분히 평가하지 못합니다. 따라서 사기 탐지에 적합한 종합적인 평가 접근법을 위해 여러 지표를 활용합니다.</a:t>
            </a:r>
            <a:endParaRPr lang="en-US" sz="1350" dirty="0"/>
          </a:p>
        </p:txBody>
      </p:sp>
      <p:sp>
        <p:nvSpPr>
          <p:cNvPr id="19" name="Text 3"/>
          <p:cNvSpPr/>
          <p:nvPr/>
        </p:nvSpPr>
        <p:spPr>
          <a:xfrm>
            <a:off x="952500" y="2147441"/>
            <a:ext cx="58521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 (Area Under Curve)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9525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 곡선 아래 영역으로, 모델의 분류 성능을 평가합니다. 임계값에 영향을 받지 않으며, 불균형 데이터셋에서도 신뢰할 수 있습니다.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6858000" y="21474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68580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사기라고 예측한 거래 중에서 실제로 사기인 비율입니다. 높은 정밀도는 가짜 긍정(합법적 거래 잘못 차단)을 줄입니다.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52500" y="34428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4" name="Text 8"/>
          <p:cNvSpPr/>
          <p:nvPr/>
        </p:nvSpPr>
        <p:spPr>
          <a:xfrm>
            <a:off x="952500" y="37476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사기 거래 중에서 모델이 사기라고 예측한 비율입니다. 높은 재현율은 가짜 네거티브(사기 거래 감지 실패)를 줄입니다.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6943725" y="3442841"/>
            <a:ext cx="4791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6943725" y="3747641"/>
            <a:ext cx="47910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정밀도와 재현율의 조화평균으로, 둘 간의 균형을 찾습니다. 불균형 데이터셋에서 정밀도와 재현율의 균형을 보여주는 이상적인 지표입니다.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57200" y="4738241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간의 관계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76C97-F135-4BC7-89FF-F18CFCFF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E8882F8-03CD-139D-45E8-61F745114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" name="Image 3" descr="preencoded.png">
            <a:extLst>
              <a:ext uri="{FF2B5EF4-FFF2-40B4-BE49-F238E27FC236}">
                <a16:creationId xmlns:a16="http://schemas.microsoft.com/office/drawing/2014/main" id="{BCBD3E0A-E3F6-CAE8-5299-56DCD7BFA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23014"/>
            <a:ext cx="5678806" cy="1371600"/>
          </a:xfrm>
          <a:prstGeom prst="rect">
            <a:avLst/>
          </a:prstGeom>
        </p:spPr>
      </p:pic>
      <p:pic>
        <p:nvPicPr>
          <p:cNvPr id="42" name="Image 3" descr="preencoded.png">
            <a:extLst>
              <a:ext uri="{FF2B5EF4-FFF2-40B4-BE49-F238E27FC236}">
                <a16:creationId xmlns:a16="http://schemas.microsoft.com/office/drawing/2014/main" id="{001DF531-3529-4DF5-8328-87151BD70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99" y="823344"/>
            <a:ext cx="5678807" cy="1371600"/>
          </a:xfrm>
          <a:prstGeom prst="rect">
            <a:avLst/>
          </a:prstGeom>
        </p:spPr>
      </p:pic>
      <p:pic>
        <p:nvPicPr>
          <p:cNvPr id="41" name="Image 3" descr="preencoded.png">
            <a:extLst>
              <a:ext uri="{FF2B5EF4-FFF2-40B4-BE49-F238E27FC236}">
                <a16:creationId xmlns:a16="http://schemas.microsoft.com/office/drawing/2014/main" id="{09465017-46B1-2001-4546-B59B99574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2313120"/>
            <a:ext cx="5676900" cy="13716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5CD65EB-BAA3-A12C-A102-BD18985DF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C399DAF-F65D-3D64-1C0C-51D6DE61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823344"/>
            <a:ext cx="5676900" cy="13716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E3A627AD-941D-58C0-29D1-20D9E3C357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1764" y="3862682"/>
            <a:ext cx="3225436" cy="2693045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56611947-1DC6-4AA0-8ABA-5F2E11E53D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38B1E39A-634F-B03E-4C23-1188C943416D}"/>
              </a:ext>
            </a:extLst>
          </p:cNvPr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</a:t>
            </a:r>
            <a:endParaRPr lang="en-US" altLang="ko-KR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303999FC-A339-6722-FA30-EE638E85D635}"/>
              </a:ext>
            </a:extLst>
          </p:cNvPr>
          <p:cNvSpPr/>
          <p:nvPr/>
        </p:nvSpPr>
        <p:spPr>
          <a:xfrm>
            <a:off x="11418570" y="178296"/>
            <a:ext cx="449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7/20</a:t>
            </a:r>
            <a:endParaRPr lang="en-US" sz="15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DB861909-2913-AE54-DA5C-B602D67A3EF8}"/>
              </a:ext>
            </a:extLst>
          </p:cNvPr>
          <p:cNvSpPr/>
          <p:nvPr/>
        </p:nvSpPr>
        <p:spPr>
          <a:xfrm>
            <a:off x="488224" y="888890"/>
            <a:ext cx="1881596" cy="3026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이상치 처리</a:t>
            </a:r>
            <a:endParaRPr lang="en-US" sz="15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7BAEE8E8-0A09-BB61-A1B8-75943767F8E7}"/>
              </a:ext>
            </a:extLst>
          </p:cNvPr>
          <p:cNvSpPr/>
          <p:nvPr/>
        </p:nvSpPr>
        <p:spPr>
          <a:xfrm>
            <a:off x="488224" y="2407426"/>
            <a:ext cx="2686050" cy="2901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스케일링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altLang="ko-KR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50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33A0269B-C6DA-ABDB-25AF-47B773BAF506}"/>
              </a:ext>
            </a:extLst>
          </p:cNvPr>
          <p:cNvSpPr/>
          <p:nvPr/>
        </p:nvSpPr>
        <p:spPr>
          <a:xfrm>
            <a:off x="6456046" y="888890"/>
            <a:ext cx="152307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엔지니어링</a:t>
            </a:r>
            <a:endParaRPr lang="en-US" sz="1500" dirty="0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9FE16D7F-2BF5-9B9E-2EAD-F62629D1B34C}"/>
              </a:ext>
            </a:extLst>
          </p:cNvPr>
          <p:cNvSpPr/>
          <p:nvPr/>
        </p:nvSpPr>
        <p:spPr>
          <a:xfrm>
            <a:off x="6456046" y="2397757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Weight (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기반 가중치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0694E4B-2325-3E16-10D4-9558EA45B38F}"/>
              </a:ext>
            </a:extLst>
          </p:cNvPr>
          <p:cNvSpPr/>
          <p:nvPr/>
        </p:nvSpPr>
        <p:spPr>
          <a:xfrm>
            <a:off x="488224" y="1257134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Time, 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및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V1~V28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IQR 1.5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배 기준 이상치 제거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LightGBM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성능 비교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0.8673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에서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0.8875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향상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9FB3773-CD26-1CAB-3A30-F7905FF58F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3862682"/>
            <a:ext cx="8184515" cy="2693045"/>
          </a:xfrm>
          <a:prstGeom prst="rect">
            <a:avLst/>
          </a:prstGeom>
        </p:spPr>
      </p:pic>
      <p:sp>
        <p:nvSpPr>
          <p:cNvPr id="44" name="Text 5">
            <a:extLst>
              <a:ext uri="{FF2B5EF4-FFF2-40B4-BE49-F238E27FC236}">
                <a16:creationId xmlns:a16="http://schemas.microsoft.com/office/drawing/2014/main" id="{8C524236-6D9A-7229-8CA5-044B3F9486EA}"/>
              </a:ext>
            </a:extLst>
          </p:cNvPr>
          <p:cNvSpPr/>
          <p:nvPr/>
        </p:nvSpPr>
        <p:spPr>
          <a:xfrm>
            <a:off x="480875" y="2760323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모든 피처에 </a:t>
            </a: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StandardScaler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를 적용해 표준화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각 피처의 평균을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0,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표준편차를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1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맞춰 스케일 차이를 제거</a:t>
            </a:r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1A2811A1-E6C8-916E-B05D-24E41E40FEA8}"/>
              </a:ext>
            </a:extLst>
          </p:cNvPr>
          <p:cNvSpPr/>
          <p:nvPr/>
        </p:nvSpPr>
        <p:spPr>
          <a:xfrm>
            <a:off x="6456045" y="1257134"/>
            <a:ext cx="510458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모델 학습 전에 삭제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A174EC2B-084F-E835-DCEE-1167BDE2A1A3}"/>
              </a:ext>
            </a:extLst>
          </p:cNvPr>
          <p:cNvSpPr/>
          <p:nvPr/>
        </p:nvSpPr>
        <p:spPr>
          <a:xfrm>
            <a:off x="488224" y="1802987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최종 파이프라인에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이상치 제거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또는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Capping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전략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을 포함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8" name="Text 5">
            <a:extLst>
              <a:ext uri="{FF2B5EF4-FFF2-40B4-BE49-F238E27FC236}">
                <a16:creationId xmlns:a16="http://schemas.microsoft.com/office/drawing/2014/main" id="{1FA78188-BA99-FD82-9CC4-7FC32F093813}"/>
              </a:ext>
            </a:extLst>
          </p:cNvPr>
          <p:cNvSpPr/>
          <p:nvPr/>
        </p:nvSpPr>
        <p:spPr>
          <a:xfrm>
            <a:off x="6456045" y="152719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분포 왜곡을 완화하고 정규성에 가깝게 만들기 위해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np.log1p(Amount)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로그 변환 적용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D9C85E9C-8899-2BA7-78E5-641C6213E8B4}"/>
              </a:ext>
            </a:extLst>
          </p:cNvPr>
          <p:cNvSpPr/>
          <p:nvPr/>
        </p:nvSpPr>
        <p:spPr>
          <a:xfrm>
            <a:off x="488224" y="331437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특히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Logistic Regression, SVM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같은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선형 모델의 안정적인 학습 유도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36FE930D-9BA1-E0D3-05CE-2BDA854BC54B}"/>
              </a:ext>
            </a:extLst>
          </p:cNvPr>
          <p:cNvSpPr/>
          <p:nvPr/>
        </p:nvSpPr>
        <p:spPr>
          <a:xfrm>
            <a:off x="6456044" y="2632008"/>
            <a:ext cx="5104584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class_weight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='balanced'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옵션을 적용하여 소수 클래스에 높은 가중치를 부여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3B086758-8A9E-AF92-59E6-85DE692AD0B7}"/>
              </a:ext>
            </a:extLst>
          </p:cNvPr>
          <p:cNvSpPr/>
          <p:nvPr/>
        </p:nvSpPr>
        <p:spPr>
          <a:xfrm>
            <a:off x="6456046" y="314934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4" name="Text 5">
            <a:extLst>
              <a:ext uri="{FF2B5EF4-FFF2-40B4-BE49-F238E27FC236}">
                <a16:creationId xmlns:a16="http://schemas.microsoft.com/office/drawing/2014/main" id="{F2FA066B-25D9-4564-226B-B8A34361F18C}"/>
              </a:ext>
            </a:extLst>
          </p:cNvPr>
          <p:cNvSpPr/>
          <p:nvPr/>
        </p:nvSpPr>
        <p:spPr>
          <a:xfrm>
            <a:off x="6456044" y="311791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별도의 샘플링 없이 자체적으로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뷸균형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처리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Recall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향상 효과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97E547CC-2660-32C6-FDFE-FC6B916D17E9}"/>
              </a:ext>
            </a:extLst>
          </p:cNvPr>
          <p:cNvSpPr/>
          <p:nvPr/>
        </p:nvSpPr>
        <p:spPr>
          <a:xfrm>
            <a:off x="8857887" y="4419549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학습 데이터셋에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기법을 적용하여 사기 거래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소수 클래스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와 유사한 합성 데이터 생성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6" name="Text 3">
            <a:extLst>
              <a:ext uri="{FF2B5EF4-FFF2-40B4-BE49-F238E27FC236}">
                <a16:creationId xmlns:a16="http://schemas.microsoft.com/office/drawing/2014/main" id="{806C186C-E0C9-A77A-1F2C-FC8DDC59AF90}"/>
              </a:ext>
            </a:extLst>
          </p:cNvPr>
          <p:cNvSpPr/>
          <p:nvPr/>
        </p:nvSpPr>
        <p:spPr>
          <a:xfrm>
            <a:off x="8857887" y="3973099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229C8B2-FF27-FFED-9B24-FEE094D2AE09}"/>
              </a:ext>
            </a:extLst>
          </p:cNvPr>
          <p:cNvSpPr/>
          <p:nvPr/>
        </p:nvSpPr>
        <p:spPr>
          <a:xfrm>
            <a:off x="8857887" y="5183108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500" dirty="0"/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AF5ED625-C605-0241-D853-9069C82F8BB8}"/>
              </a:ext>
            </a:extLst>
          </p:cNvPr>
          <p:cNvSpPr/>
          <p:nvPr/>
        </p:nvSpPr>
        <p:spPr>
          <a:xfrm>
            <a:off x="8857889" y="5654641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적용시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가장 높게 나타나 사기 거래를 놓치지 않는다는 프로젝트 목표에 부합함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이후 기반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전처리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방법 채택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3703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533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1676400"/>
            <a:ext cx="5715000" cy="3695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171700"/>
            <a:ext cx="5410200" cy="3048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676400"/>
            <a:ext cx="5715000" cy="3695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077569"/>
            <a:ext cx="5410200" cy="26670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039471"/>
            <a:ext cx="1501527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2327" y="2115671"/>
            <a:ext cx="745034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7361" y="2039471"/>
            <a:ext cx="745034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2394" y="2039471"/>
            <a:ext cx="745034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37428" y="2039471"/>
            <a:ext cx="745034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2039471"/>
            <a:ext cx="928539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2344271"/>
            <a:ext cx="541020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2344271"/>
            <a:ext cx="928539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49071"/>
            <a:ext cx="1501527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2649071"/>
            <a:ext cx="745034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649071"/>
            <a:ext cx="745034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649071"/>
            <a:ext cx="745034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649071"/>
            <a:ext cx="745034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649071"/>
            <a:ext cx="928539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2953871"/>
            <a:ext cx="1501527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2953871"/>
            <a:ext cx="745034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953871"/>
            <a:ext cx="745034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953871"/>
            <a:ext cx="745034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953871"/>
            <a:ext cx="745034" cy="3048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953871"/>
            <a:ext cx="928539" cy="304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258671"/>
            <a:ext cx="1501527" cy="304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3258671"/>
            <a:ext cx="745034" cy="3048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3258671"/>
            <a:ext cx="745034" cy="3048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258671"/>
            <a:ext cx="745034" cy="3048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3258671"/>
            <a:ext cx="745034" cy="3048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3258671"/>
            <a:ext cx="928539" cy="3048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563471"/>
            <a:ext cx="1501527" cy="3048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563471"/>
            <a:ext cx="745034" cy="3048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563471"/>
            <a:ext cx="745034" cy="3048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563471"/>
            <a:ext cx="745034" cy="3048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3563471"/>
            <a:ext cx="745034" cy="3048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3563471"/>
            <a:ext cx="928539" cy="3048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8600" y="5524500"/>
            <a:ext cx="11734800" cy="10287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1000" y="5915025"/>
            <a:ext cx="323850" cy="28575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49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성능</a:t>
            </a:r>
            <a:endParaRPr lang="en-US" sz="2250" dirty="0"/>
          </a:p>
        </p:txBody>
      </p:sp>
      <p:sp>
        <p:nvSpPr>
          <p:cNvPr id="50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8/20</a:t>
            </a:r>
            <a:endParaRPr lang="en-US" sz="1500" dirty="0"/>
          </a:p>
        </p:txBody>
      </p:sp>
      <p:sp>
        <p:nvSpPr>
          <p:cNvPr id="51" name="Text 2"/>
          <p:cNvSpPr/>
          <p:nvPr/>
        </p:nvSpPr>
        <p:spPr>
          <a:xfrm>
            <a:off x="381000" y="1143000"/>
            <a:ext cx="975642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10개의 머신러닝 알고리즘을 비교 평가한 결과, </a:t>
            </a:r>
            <a:r>
              <a:rPr lang="en-US" sz="12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가장 높은 F1-점수(0.884)와 AUC(0.9707)를 달성하며 우수한 성능을 보였습니다.</a:t>
            </a:r>
            <a:endParaRPr lang="en-US" sz="1200" dirty="0"/>
          </a:p>
        </p:txBody>
      </p:sp>
      <p:sp>
        <p:nvSpPr>
          <p:cNvPr id="52" name="Text 3"/>
          <p:cNvSpPr/>
          <p:nvPr/>
        </p:nvSpPr>
        <p:spPr>
          <a:xfrm>
            <a:off x="381000" y="1772771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F1-점수 비교</a:t>
            </a:r>
            <a:endParaRPr lang="en-US" sz="1500" dirty="0"/>
          </a:p>
        </p:txBody>
      </p:sp>
      <p:sp>
        <p:nvSpPr>
          <p:cNvPr id="53" name="Text 4"/>
          <p:cNvSpPr/>
          <p:nvPr/>
        </p:nvSpPr>
        <p:spPr>
          <a:xfrm>
            <a:off x="6438900" y="178958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메트릭</a:t>
            </a:r>
            <a:endParaRPr lang="en-US" sz="1500" dirty="0"/>
          </a:p>
        </p:txBody>
      </p:sp>
      <p:sp>
        <p:nvSpPr>
          <p:cNvPr id="54" name="Text 5"/>
          <p:cNvSpPr/>
          <p:nvPr/>
        </p:nvSpPr>
        <p:spPr>
          <a:xfrm>
            <a:off x="6477000" y="2039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7902327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56" name="Text 7"/>
          <p:cNvSpPr/>
          <p:nvPr/>
        </p:nvSpPr>
        <p:spPr>
          <a:xfrm>
            <a:off x="8647361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57" name="Text 8"/>
          <p:cNvSpPr/>
          <p:nvPr/>
        </p:nvSpPr>
        <p:spPr>
          <a:xfrm>
            <a:off x="9392394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58" name="Text 9"/>
          <p:cNvSpPr/>
          <p:nvPr/>
        </p:nvSpPr>
        <p:spPr>
          <a:xfrm>
            <a:off x="10137428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59" name="Text 10"/>
          <p:cNvSpPr/>
          <p:nvPr/>
        </p:nvSpPr>
        <p:spPr>
          <a:xfrm>
            <a:off x="10696754" y="2039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64770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10696754" y="2344271"/>
            <a:ext cx="1114246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64" name="Text 15"/>
          <p:cNvSpPr/>
          <p:nvPr/>
        </p:nvSpPr>
        <p:spPr>
          <a:xfrm>
            <a:off x="9988421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63" name="Text 14"/>
          <p:cNvSpPr/>
          <p:nvPr/>
        </p:nvSpPr>
        <p:spPr>
          <a:xfrm>
            <a:off x="9243387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62" name="Text 13"/>
          <p:cNvSpPr/>
          <p:nvPr/>
        </p:nvSpPr>
        <p:spPr>
          <a:xfrm>
            <a:off x="8498354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6" name="Text 17"/>
          <p:cNvSpPr/>
          <p:nvPr/>
        </p:nvSpPr>
        <p:spPr>
          <a:xfrm>
            <a:off x="6477000" y="2649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67" name="Text 18"/>
          <p:cNvSpPr/>
          <p:nvPr/>
        </p:nvSpPr>
        <p:spPr>
          <a:xfrm>
            <a:off x="7753320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68" name="Text 19"/>
          <p:cNvSpPr/>
          <p:nvPr/>
        </p:nvSpPr>
        <p:spPr>
          <a:xfrm>
            <a:off x="8498354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9" name="Text 20"/>
          <p:cNvSpPr/>
          <p:nvPr/>
        </p:nvSpPr>
        <p:spPr>
          <a:xfrm>
            <a:off x="9243387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70" name="Text 21"/>
          <p:cNvSpPr/>
          <p:nvPr/>
        </p:nvSpPr>
        <p:spPr>
          <a:xfrm>
            <a:off x="9988421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71" name="Text 22"/>
          <p:cNvSpPr/>
          <p:nvPr/>
        </p:nvSpPr>
        <p:spPr>
          <a:xfrm>
            <a:off x="10696754" y="2649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72" name="Text 23"/>
          <p:cNvSpPr/>
          <p:nvPr/>
        </p:nvSpPr>
        <p:spPr>
          <a:xfrm>
            <a:off x="6477000" y="2953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1200" dirty="0"/>
          </a:p>
        </p:txBody>
      </p:sp>
      <p:sp>
        <p:nvSpPr>
          <p:cNvPr id="73" name="Text 24"/>
          <p:cNvSpPr/>
          <p:nvPr/>
        </p:nvSpPr>
        <p:spPr>
          <a:xfrm>
            <a:off x="7753320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</a:t>
            </a:r>
            <a:endParaRPr lang="en-US" sz="1200" dirty="0"/>
          </a:p>
        </p:txBody>
      </p:sp>
      <p:sp>
        <p:nvSpPr>
          <p:cNvPr id="74" name="Text 25"/>
          <p:cNvSpPr/>
          <p:nvPr/>
        </p:nvSpPr>
        <p:spPr>
          <a:xfrm>
            <a:off x="8498354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75" name="Text 26"/>
          <p:cNvSpPr/>
          <p:nvPr/>
        </p:nvSpPr>
        <p:spPr>
          <a:xfrm>
            <a:off x="9243387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0.8667</a:t>
            </a:r>
            <a:endParaRPr lang="en-US" sz="1200" dirty="0"/>
          </a:p>
        </p:txBody>
      </p:sp>
      <p:sp>
        <p:nvSpPr>
          <p:cNvPr id="76" name="Text 27"/>
          <p:cNvSpPr/>
          <p:nvPr/>
        </p:nvSpPr>
        <p:spPr>
          <a:xfrm>
            <a:off x="9988421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0.7959</a:t>
            </a:r>
            <a:endParaRPr lang="en-US" sz="1200" dirty="0"/>
          </a:p>
        </p:txBody>
      </p:sp>
      <p:sp>
        <p:nvSpPr>
          <p:cNvPr id="77" name="Text 28"/>
          <p:cNvSpPr/>
          <p:nvPr/>
        </p:nvSpPr>
        <p:spPr>
          <a:xfrm>
            <a:off x="10696754" y="2953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0.8298</a:t>
            </a:r>
            <a:endParaRPr lang="en-US" sz="1200" dirty="0"/>
          </a:p>
        </p:txBody>
      </p:sp>
      <p:sp>
        <p:nvSpPr>
          <p:cNvPr id="78" name="Text 29"/>
          <p:cNvSpPr/>
          <p:nvPr/>
        </p:nvSpPr>
        <p:spPr>
          <a:xfrm>
            <a:off x="6477000" y="3258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79" name="Text 30"/>
          <p:cNvSpPr/>
          <p:nvPr/>
        </p:nvSpPr>
        <p:spPr>
          <a:xfrm>
            <a:off x="7753320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80" name="Text 31"/>
          <p:cNvSpPr/>
          <p:nvPr/>
        </p:nvSpPr>
        <p:spPr>
          <a:xfrm>
            <a:off x="8498354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81" name="Text 32"/>
          <p:cNvSpPr/>
          <p:nvPr/>
        </p:nvSpPr>
        <p:spPr>
          <a:xfrm>
            <a:off x="9243387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82" name="Text 33"/>
          <p:cNvSpPr/>
          <p:nvPr/>
        </p:nvSpPr>
        <p:spPr>
          <a:xfrm>
            <a:off x="9988421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83" name="Text 34"/>
          <p:cNvSpPr/>
          <p:nvPr/>
        </p:nvSpPr>
        <p:spPr>
          <a:xfrm>
            <a:off x="10696754" y="3258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84" name="Text 35"/>
          <p:cNvSpPr/>
          <p:nvPr/>
        </p:nvSpPr>
        <p:spPr>
          <a:xfrm>
            <a:off x="6477000" y="3563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SVC</a:t>
            </a:r>
            <a:endParaRPr lang="en-US" sz="1200" dirty="0"/>
          </a:p>
        </p:txBody>
      </p:sp>
      <p:sp>
        <p:nvSpPr>
          <p:cNvPr id="85" name="Text 36"/>
          <p:cNvSpPr/>
          <p:nvPr/>
        </p:nvSpPr>
        <p:spPr>
          <a:xfrm>
            <a:off x="7753320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0.9733</a:t>
            </a:r>
            <a:endParaRPr lang="en-US" sz="1200" dirty="0"/>
          </a:p>
        </p:txBody>
      </p:sp>
      <p:sp>
        <p:nvSpPr>
          <p:cNvPr id="86" name="Text 37"/>
          <p:cNvSpPr/>
          <p:nvPr/>
        </p:nvSpPr>
        <p:spPr>
          <a:xfrm>
            <a:off x="8498354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0.9862</a:t>
            </a:r>
            <a:endParaRPr lang="en-US" sz="1200" dirty="0"/>
          </a:p>
        </p:txBody>
      </p:sp>
      <p:sp>
        <p:nvSpPr>
          <p:cNvPr id="87" name="Text 38"/>
          <p:cNvSpPr/>
          <p:nvPr/>
        </p:nvSpPr>
        <p:spPr>
          <a:xfrm>
            <a:off x="9243387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0.0998</a:t>
            </a:r>
            <a:endParaRPr lang="en-US" sz="1200" dirty="0"/>
          </a:p>
        </p:txBody>
      </p:sp>
      <p:sp>
        <p:nvSpPr>
          <p:cNvPr id="88" name="Text 39"/>
          <p:cNvSpPr/>
          <p:nvPr/>
        </p:nvSpPr>
        <p:spPr>
          <a:xfrm>
            <a:off x="9988421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0.8776</a:t>
            </a:r>
            <a:endParaRPr lang="en-US" sz="1200" dirty="0"/>
          </a:p>
        </p:txBody>
      </p:sp>
      <p:sp>
        <p:nvSpPr>
          <p:cNvPr id="89" name="Text 40"/>
          <p:cNvSpPr/>
          <p:nvPr/>
        </p:nvSpPr>
        <p:spPr>
          <a:xfrm>
            <a:off x="10696754" y="3563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0.1792</a:t>
            </a:r>
            <a:endParaRPr lang="en-US" sz="1200" dirty="0"/>
          </a:p>
        </p:txBody>
      </p:sp>
      <p:sp>
        <p:nvSpPr>
          <p:cNvPr id="90" name="Text 41"/>
          <p:cNvSpPr/>
          <p:nvPr/>
        </p:nvSpPr>
        <p:spPr>
          <a:xfrm>
            <a:off x="857250" y="5676900"/>
            <a:ext cx="10953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CatBoost의 우수성</a:t>
            </a:r>
            <a:endParaRPr lang="en-US" sz="1500" dirty="0"/>
          </a:p>
        </p:txBody>
      </p:sp>
      <p:sp>
        <p:nvSpPr>
          <p:cNvPr id="91" name="Text 42"/>
          <p:cNvSpPr/>
          <p:nvPr/>
        </p:nvSpPr>
        <p:spPr>
          <a:xfrm>
            <a:off x="857250" y="5943600"/>
            <a:ext cx="1077445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모델은 F1-점수와 AUC 모두에서 가장 높은 성능을 보였습니다. 특히 정밀도(0.9639)와 재현율(0.8163)의 균형 잡힌 성능을 보여주어 사기 탐지에 적합한 모델로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판단됩니다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SGD, Decision Tree,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역시 비교적 안정적인 성능을 보여 후보 모델로 고려될 수 있었습니다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92" name="Image 13" descr="preencoded.png">
            <a:extLst>
              <a:ext uri="{FF2B5EF4-FFF2-40B4-BE49-F238E27FC236}">
                <a16:creationId xmlns:a16="http://schemas.microsoft.com/office/drawing/2014/main" id="{C0CB1446-4943-3EBD-1B79-857AAD70AB5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3868271"/>
            <a:ext cx="5410200" cy="304800"/>
          </a:xfrm>
          <a:prstGeom prst="rect">
            <a:avLst/>
          </a:prstGeom>
        </p:spPr>
      </p:pic>
      <p:pic>
        <p:nvPicPr>
          <p:cNvPr id="93" name="Image 14" descr="preencoded.png">
            <a:extLst>
              <a:ext uri="{FF2B5EF4-FFF2-40B4-BE49-F238E27FC236}">
                <a16:creationId xmlns:a16="http://schemas.microsoft.com/office/drawing/2014/main" id="{1B3C0122-8A72-9543-B8F8-01A20D27A7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868271"/>
            <a:ext cx="1501527" cy="304800"/>
          </a:xfrm>
          <a:prstGeom prst="rect">
            <a:avLst/>
          </a:prstGeom>
        </p:spPr>
      </p:pic>
      <p:pic>
        <p:nvPicPr>
          <p:cNvPr id="94" name="Image 15" descr="preencoded.png">
            <a:extLst>
              <a:ext uri="{FF2B5EF4-FFF2-40B4-BE49-F238E27FC236}">
                <a16:creationId xmlns:a16="http://schemas.microsoft.com/office/drawing/2014/main" id="{DABEAE43-C7AD-9D0E-3557-3691CAFAE6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868271"/>
            <a:ext cx="745034" cy="304800"/>
          </a:xfrm>
          <a:prstGeom prst="rect">
            <a:avLst/>
          </a:prstGeom>
        </p:spPr>
      </p:pic>
      <p:pic>
        <p:nvPicPr>
          <p:cNvPr id="95" name="Image 16" descr="preencoded.png">
            <a:extLst>
              <a:ext uri="{FF2B5EF4-FFF2-40B4-BE49-F238E27FC236}">
                <a16:creationId xmlns:a16="http://schemas.microsoft.com/office/drawing/2014/main" id="{7F4E83AA-D280-FFA5-F873-26FDB86EBB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868271"/>
            <a:ext cx="745034" cy="304800"/>
          </a:xfrm>
          <a:prstGeom prst="rect">
            <a:avLst/>
          </a:prstGeom>
        </p:spPr>
      </p:pic>
      <p:pic>
        <p:nvPicPr>
          <p:cNvPr id="96" name="Image 17" descr="preencoded.png">
            <a:extLst>
              <a:ext uri="{FF2B5EF4-FFF2-40B4-BE49-F238E27FC236}">
                <a16:creationId xmlns:a16="http://schemas.microsoft.com/office/drawing/2014/main" id="{ED5DA3FA-D11B-291B-4B40-51A3B56D44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3868271"/>
            <a:ext cx="745034" cy="304800"/>
          </a:xfrm>
          <a:prstGeom prst="rect">
            <a:avLst/>
          </a:prstGeom>
        </p:spPr>
      </p:pic>
      <p:pic>
        <p:nvPicPr>
          <p:cNvPr id="97" name="Image 18" descr="preencoded.png">
            <a:extLst>
              <a:ext uri="{FF2B5EF4-FFF2-40B4-BE49-F238E27FC236}">
                <a16:creationId xmlns:a16="http://schemas.microsoft.com/office/drawing/2014/main" id="{FC0B2B67-1998-DA08-BA2A-0DB9D868A87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3868271"/>
            <a:ext cx="745034" cy="304800"/>
          </a:xfrm>
          <a:prstGeom prst="rect">
            <a:avLst/>
          </a:prstGeom>
        </p:spPr>
      </p:pic>
      <p:pic>
        <p:nvPicPr>
          <p:cNvPr id="98" name="Image 19" descr="preencoded.png">
            <a:extLst>
              <a:ext uri="{FF2B5EF4-FFF2-40B4-BE49-F238E27FC236}">
                <a16:creationId xmlns:a16="http://schemas.microsoft.com/office/drawing/2014/main" id="{71685F0F-0C98-5D24-8084-C79713E36BC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3868271"/>
            <a:ext cx="928539" cy="304800"/>
          </a:xfrm>
          <a:prstGeom prst="rect">
            <a:avLst/>
          </a:prstGeom>
        </p:spPr>
      </p:pic>
      <p:pic>
        <p:nvPicPr>
          <p:cNvPr id="99" name="Image 20" descr="preencoded.png">
            <a:extLst>
              <a:ext uri="{FF2B5EF4-FFF2-40B4-BE49-F238E27FC236}">
                <a16:creationId xmlns:a16="http://schemas.microsoft.com/office/drawing/2014/main" id="{EF52DB94-D70B-DEC6-0CF5-9C04E2BEEA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173071"/>
            <a:ext cx="1501527" cy="304800"/>
          </a:xfrm>
          <a:prstGeom prst="rect">
            <a:avLst/>
          </a:prstGeom>
        </p:spPr>
      </p:pic>
      <p:pic>
        <p:nvPicPr>
          <p:cNvPr id="100" name="Image 21" descr="preencoded.png">
            <a:extLst>
              <a:ext uri="{FF2B5EF4-FFF2-40B4-BE49-F238E27FC236}">
                <a16:creationId xmlns:a16="http://schemas.microsoft.com/office/drawing/2014/main" id="{B9BA1CA6-2986-41B5-44B3-2AF3A8F14A1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4173071"/>
            <a:ext cx="745034" cy="304800"/>
          </a:xfrm>
          <a:prstGeom prst="rect">
            <a:avLst/>
          </a:prstGeom>
        </p:spPr>
      </p:pic>
      <p:pic>
        <p:nvPicPr>
          <p:cNvPr id="101" name="Image 22" descr="preencoded.png">
            <a:extLst>
              <a:ext uri="{FF2B5EF4-FFF2-40B4-BE49-F238E27FC236}">
                <a16:creationId xmlns:a16="http://schemas.microsoft.com/office/drawing/2014/main" id="{C2679954-1EB7-233C-E34F-3266741067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173071"/>
            <a:ext cx="745034" cy="304800"/>
          </a:xfrm>
          <a:prstGeom prst="rect">
            <a:avLst/>
          </a:prstGeom>
        </p:spPr>
      </p:pic>
      <p:pic>
        <p:nvPicPr>
          <p:cNvPr id="102" name="Image 23" descr="preencoded.png">
            <a:extLst>
              <a:ext uri="{FF2B5EF4-FFF2-40B4-BE49-F238E27FC236}">
                <a16:creationId xmlns:a16="http://schemas.microsoft.com/office/drawing/2014/main" id="{53E7A7EF-D905-AA49-DB0C-0062AFCC233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173071"/>
            <a:ext cx="745034" cy="304800"/>
          </a:xfrm>
          <a:prstGeom prst="rect">
            <a:avLst/>
          </a:prstGeom>
        </p:spPr>
      </p:pic>
      <p:pic>
        <p:nvPicPr>
          <p:cNvPr id="103" name="Image 24" descr="preencoded.png">
            <a:extLst>
              <a:ext uri="{FF2B5EF4-FFF2-40B4-BE49-F238E27FC236}">
                <a16:creationId xmlns:a16="http://schemas.microsoft.com/office/drawing/2014/main" id="{7A5E0C35-431C-AE7D-DE56-B5A49F2DDE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173071"/>
            <a:ext cx="745034" cy="304800"/>
          </a:xfrm>
          <a:prstGeom prst="rect">
            <a:avLst/>
          </a:prstGeom>
        </p:spPr>
      </p:pic>
      <p:pic>
        <p:nvPicPr>
          <p:cNvPr id="104" name="Image 25" descr="preencoded.png">
            <a:extLst>
              <a:ext uri="{FF2B5EF4-FFF2-40B4-BE49-F238E27FC236}">
                <a16:creationId xmlns:a16="http://schemas.microsoft.com/office/drawing/2014/main" id="{A575F8D5-7A41-1D07-BD64-43FC57199F0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173071"/>
            <a:ext cx="928539" cy="304800"/>
          </a:xfrm>
          <a:prstGeom prst="rect">
            <a:avLst/>
          </a:prstGeom>
        </p:spPr>
      </p:pic>
      <p:pic>
        <p:nvPicPr>
          <p:cNvPr id="105" name="Image 26" descr="preencoded.png">
            <a:extLst>
              <a:ext uri="{FF2B5EF4-FFF2-40B4-BE49-F238E27FC236}">
                <a16:creationId xmlns:a16="http://schemas.microsoft.com/office/drawing/2014/main" id="{C4237D8D-6EB0-0079-37EF-023063723E0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477871"/>
            <a:ext cx="1501527" cy="304800"/>
          </a:xfrm>
          <a:prstGeom prst="rect">
            <a:avLst/>
          </a:prstGeom>
        </p:spPr>
      </p:pic>
      <p:pic>
        <p:nvPicPr>
          <p:cNvPr id="106" name="Image 27" descr="preencoded.png">
            <a:extLst>
              <a:ext uri="{FF2B5EF4-FFF2-40B4-BE49-F238E27FC236}">
                <a16:creationId xmlns:a16="http://schemas.microsoft.com/office/drawing/2014/main" id="{4BA7C3DF-9D8F-5132-F00D-D22E48A67A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477871"/>
            <a:ext cx="745034" cy="304800"/>
          </a:xfrm>
          <a:prstGeom prst="rect">
            <a:avLst/>
          </a:prstGeom>
        </p:spPr>
      </p:pic>
      <p:pic>
        <p:nvPicPr>
          <p:cNvPr id="107" name="Image 28" descr="preencoded.png">
            <a:extLst>
              <a:ext uri="{FF2B5EF4-FFF2-40B4-BE49-F238E27FC236}">
                <a16:creationId xmlns:a16="http://schemas.microsoft.com/office/drawing/2014/main" id="{C282F1D4-1633-9A78-42C8-2E95B791A33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477871"/>
            <a:ext cx="745034" cy="304800"/>
          </a:xfrm>
          <a:prstGeom prst="rect">
            <a:avLst/>
          </a:prstGeom>
        </p:spPr>
      </p:pic>
      <p:pic>
        <p:nvPicPr>
          <p:cNvPr id="108" name="Image 29" descr="preencoded.png">
            <a:extLst>
              <a:ext uri="{FF2B5EF4-FFF2-40B4-BE49-F238E27FC236}">
                <a16:creationId xmlns:a16="http://schemas.microsoft.com/office/drawing/2014/main" id="{4D0CFE5B-BAD0-B94C-7FE2-A9B520044E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477871"/>
            <a:ext cx="745034" cy="304800"/>
          </a:xfrm>
          <a:prstGeom prst="rect">
            <a:avLst/>
          </a:prstGeom>
        </p:spPr>
      </p:pic>
      <p:pic>
        <p:nvPicPr>
          <p:cNvPr id="109" name="Image 30" descr="preencoded.png">
            <a:extLst>
              <a:ext uri="{FF2B5EF4-FFF2-40B4-BE49-F238E27FC236}">
                <a16:creationId xmlns:a16="http://schemas.microsoft.com/office/drawing/2014/main" id="{E4076445-0FA5-B789-E135-9835B1701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477871"/>
            <a:ext cx="745034" cy="304800"/>
          </a:xfrm>
          <a:prstGeom prst="rect">
            <a:avLst/>
          </a:prstGeom>
        </p:spPr>
      </p:pic>
      <p:pic>
        <p:nvPicPr>
          <p:cNvPr id="110" name="Image 31" descr="preencoded.png">
            <a:extLst>
              <a:ext uri="{FF2B5EF4-FFF2-40B4-BE49-F238E27FC236}">
                <a16:creationId xmlns:a16="http://schemas.microsoft.com/office/drawing/2014/main" id="{BB894620-158B-2428-0422-17D3550833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477871"/>
            <a:ext cx="928539" cy="304800"/>
          </a:xfrm>
          <a:prstGeom prst="rect">
            <a:avLst/>
          </a:prstGeom>
        </p:spPr>
      </p:pic>
      <p:pic>
        <p:nvPicPr>
          <p:cNvPr id="111" name="Image 32" descr="preencoded.png">
            <a:extLst>
              <a:ext uri="{FF2B5EF4-FFF2-40B4-BE49-F238E27FC236}">
                <a16:creationId xmlns:a16="http://schemas.microsoft.com/office/drawing/2014/main" id="{3A7E064B-F77C-3B34-8905-77543FF2F5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782671"/>
            <a:ext cx="1501527" cy="304800"/>
          </a:xfrm>
          <a:prstGeom prst="rect">
            <a:avLst/>
          </a:prstGeom>
        </p:spPr>
      </p:pic>
      <p:pic>
        <p:nvPicPr>
          <p:cNvPr id="112" name="Image 33" descr="preencoded.png">
            <a:extLst>
              <a:ext uri="{FF2B5EF4-FFF2-40B4-BE49-F238E27FC236}">
                <a16:creationId xmlns:a16="http://schemas.microsoft.com/office/drawing/2014/main" id="{43429629-4063-E305-5973-C0AE4091AB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782671"/>
            <a:ext cx="745034" cy="304800"/>
          </a:xfrm>
          <a:prstGeom prst="rect">
            <a:avLst/>
          </a:prstGeom>
        </p:spPr>
      </p:pic>
      <p:pic>
        <p:nvPicPr>
          <p:cNvPr id="113" name="Image 34" descr="preencoded.png">
            <a:extLst>
              <a:ext uri="{FF2B5EF4-FFF2-40B4-BE49-F238E27FC236}">
                <a16:creationId xmlns:a16="http://schemas.microsoft.com/office/drawing/2014/main" id="{8A6327F0-8DE4-AF9C-D202-F713CB820A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782671"/>
            <a:ext cx="745034" cy="304800"/>
          </a:xfrm>
          <a:prstGeom prst="rect">
            <a:avLst/>
          </a:prstGeom>
        </p:spPr>
      </p:pic>
      <p:pic>
        <p:nvPicPr>
          <p:cNvPr id="114" name="Image 35" descr="preencoded.png">
            <a:extLst>
              <a:ext uri="{FF2B5EF4-FFF2-40B4-BE49-F238E27FC236}">
                <a16:creationId xmlns:a16="http://schemas.microsoft.com/office/drawing/2014/main" id="{22D51B29-299F-B084-78FF-E39BBF91784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782671"/>
            <a:ext cx="745034" cy="304800"/>
          </a:xfrm>
          <a:prstGeom prst="rect">
            <a:avLst/>
          </a:prstGeom>
        </p:spPr>
      </p:pic>
      <p:pic>
        <p:nvPicPr>
          <p:cNvPr id="115" name="Image 36" descr="preencoded.png">
            <a:extLst>
              <a:ext uri="{FF2B5EF4-FFF2-40B4-BE49-F238E27FC236}">
                <a16:creationId xmlns:a16="http://schemas.microsoft.com/office/drawing/2014/main" id="{1A168C9B-CCF1-A6CB-06D6-E9BFB67030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782671"/>
            <a:ext cx="745034" cy="304800"/>
          </a:xfrm>
          <a:prstGeom prst="rect">
            <a:avLst/>
          </a:prstGeom>
        </p:spPr>
      </p:pic>
      <p:pic>
        <p:nvPicPr>
          <p:cNvPr id="116" name="Image 37" descr="preencoded.png">
            <a:extLst>
              <a:ext uri="{FF2B5EF4-FFF2-40B4-BE49-F238E27FC236}">
                <a16:creationId xmlns:a16="http://schemas.microsoft.com/office/drawing/2014/main" id="{0A26A275-7F63-7FDA-677C-947E86FB2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782671"/>
            <a:ext cx="928539" cy="304800"/>
          </a:xfrm>
          <a:prstGeom prst="rect">
            <a:avLst/>
          </a:prstGeom>
        </p:spPr>
      </p:pic>
      <p:pic>
        <p:nvPicPr>
          <p:cNvPr id="117" name="Image 38" descr="preencoded.png">
            <a:extLst>
              <a:ext uri="{FF2B5EF4-FFF2-40B4-BE49-F238E27FC236}">
                <a16:creationId xmlns:a16="http://schemas.microsoft.com/office/drawing/2014/main" id="{641CB023-1A3D-6377-0536-C25D78B0B5A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5087471"/>
            <a:ext cx="1501527" cy="304800"/>
          </a:xfrm>
          <a:prstGeom prst="rect">
            <a:avLst/>
          </a:prstGeom>
        </p:spPr>
      </p:pic>
      <p:pic>
        <p:nvPicPr>
          <p:cNvPr id="118" name="Image 39" descr="preencoded.png">
            <a:extLst>
              <a:ext uri="{FF2B5EF4-FFF2-40B4-BE49-F238E27FC236}">
                <a16:creationId xmlns:a16="http://schemas.microsoft.com/office/drawing/2014/main" id="{239AA757-0C50-DD3F-B0B5-87BC8250209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5087471"/>
            <a:ext cx="745034" cy="304800"/>
          </a:xfrm>
          <a:prstGeom prst="rect">
            <a:avLst/>
          </a:prstGeom>
        </p:spPr>
      </p:pic>
      <p:pic>
        <p:nvPicPr>
          <p:cNvPr id="119" name="Image 40" descr="preencoded.png">
            <a:extLst>
              <a:ext uri="{FF2B5EF4-FFF2-40B4-BE49-F238E27FC236}">
                <a16:creationId xmlns:a16="http://schemas.microsoft.com/office/drawing/2014/main" id="{25D8E541-5D68-BF12-C786-70BF67CB0F3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5087471"/>
            <a:ext cx="745034" cy="304800"/>
          </a:xfrm>
          <a:prstGeom prst="rect">
            <a:avLst/>
          </a:prstGeom>
        </p:spPr>
      </p:pic>
      <p:pic>
        <p:nvPicPr>
          <p:cNvPr id="120" name="Image 41" descr="preencoded.png">
            <a:extLst>
              <a:ext uri="{FF2B5EF4-FFF2-40B4-BE49-F238E27FC236}">
                <a16:creationId xmlns:a16="http://schemas.microsoft.com/office/drawing/2014/main" id="{3201B642-04C2-BD7A-3E2D-35A58687364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5087471"/>
            <a:ext cx="745034" cy="304800"/>
          </a:xfrm>
          <a:prstGeom prst="rect">
            <a:avLst/>
          </a:prstGeom>
        </p:spPr>
      </p:pic>
      <p:pic>
        <p:nvPicPr>
          <p:cNvPr id="121" name="Image 42" descr="preencoded.png">
            <a:extLst>
              <a:ext uri="{FF2B5EF4-FFF2-40B4-BE49-F238E27FC236}">
                <a16:creationId xmlns:a16="http://schemas.microsoft.com/office/drawing/2014/main" id="{AC341F5F-3611-89D2-9FC7-86FC0F1113C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5087471"/>
            <a:ext cx="745034" cy="304800"/>
          </a:xfrm>
          <a:prstGeom prst="rect">
            <a:avLst/>
          </a:prstGeom>
        </p:spPr>
      </p:pic>
      <p:pic>
        <p:nvPicPr>
          <p:cNvPr id="122" name="Image 43" descr="preencoded.png">
            <a:extLst>
              <a:ext uri="{FF2B5EF4-FFF2-40B4-BE49-F238E27FC236}">
                <a16:creationId xmlns:a16="http://schemas.microsoft.com/office/drawing/2014/main" id="{55AF6535-617E-F1B2-B7B7-E4CF40AEC35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5087471"/>
            <a:ext cx="928539" cy="304800"/>
          </a:xfrm>
          <a:prstGeom prst="rect">
            <a:avLst/>
          </a:prstGeom>
        </p:spPr>
      </p:pic>
      <p:sp>
        <p:nvSpPr>
          <p:cNvPr id="123" name="Text 11">
            <a:extLst>
              <a:ext uri="{FF2B5EF4-FFF2-40B4-BE49-F238E27FC236}">
                <a16:creationId xmlns:a16="http://schemas.microsoft.com/office/drawing/2014/main" id="{44B40220-D2B1-E5D7-F30A-7747298FA49E}"/>
              </a:ext>
            </a:extLst>
          </p:cNvPr>
          <p:cNvSpPr/>
          <p:nvPr/>
        </p:nvSpPr>
        <p:spPr>
          <a:xfrm>
            <a:off x="6477000" y="38682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altLang="ko-KR" sz="1200" dirty="0"/>
          </a:p>
        </p:txBody>
      </p:sp>
      <p:sp>
        <p:nvSpPr>
          <p:cNvPr id="124" name="Text 12">
            <a:extLst>
              <a:ext uri="{FF2B5EF4-FFF2-40B4-BE49-F238E27FC236}">
                <a16:creationId xmlns:a16="http://schemas.microsoft.com/office/drawing/2014/main" id="{28EE8CF6-8779-DADC-A57E-C276C1D2B6E3}"/>
              </a:ext>
            </a:extLst>
          </p:cNvPr>
          <p:cNvSpPr/>
          <p:nvPr/>
        </p:nvSpPr>
        <p:spPr>
          <a:xfrm>
            <a:off x="7753320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200" dirty="0"/>
          </a:p>
        </p:txBody>
      </p:sp>
      <p:sp>
        <p:nvSpPr>
          <p:cNvPr id="125" name="Text 13">
            <a:extLst>
              <a:ext uri="{FF2B5EF4-FFF2-40B4-BE49-F238E27FC236}">
                <a16:creationId xmlns:a16="http://schemas.microsoft.com/office/drawing/2014/main" id="{82619072-CB4D-5B5C-3959-2814B72BA5C7}"/>
              </a:ext>
            </a:extLst>
          </p:cNvPr>
          <p:cNvSpPr/>
          <p:nvPr/>
        </p:nvSpPr>
        <p:spPr>
          <a:xfrm>
            <a:off x="8498354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200" dirty="0"/>
          </a:p>
        </p:txBody>
      </p:sp>
      <p:sp>
        <p:nvSpPr>
          <p:cNvPr id="126" name="Text 14">
            <a:extLst>
              <a:ext uri="{FF2B5EF4-FFF2-40B4-BE49-F238E27FC236}">
                <a16:creationId xmlns:a16="http://schemas.microsoft.com/office/drawing/2014/main" id="{E1241B11-EA64-180B-9794-C1F565BB5BFA}"/>
              </a:ext>
            </a:extLst>
          </p:cNvPr>
          <p:cNvSpPr/>
          <p:nvPr/>
        </p:nvSpPr>
        <p:spPr>
          <a:xfrm>
            <a:off x="9243387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200" dirty="0"/>
          </a:p>
        </p:txBody>
      </p:sp>
      <p:sp>
        <p:nvSpPr>
          <p:cNvPr id="127" name="Text 15">
            <a:extLst>
              <a:ext uri="{FF2B5EF4-FFF2-40B4-BE49-F238E27FC236}">
                <a16:creationId xmlns:a16="http://schemas.microsoft.com/office/drawing/2014/main" id="{E62701F4-4901-0A0F-8AD1-7A1684702B30}"/>
              </a:ext>
            </a:extLst>
          </p:cNvPr>
          <p:cNvSpPr/>
          <p:nvPr/>
        </p:nvSpPr>
        <p:spPr>
          <a:xfrm>
            <a:off x="9988421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2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CBDA95F-9279-A57F-3FFF-11751F058B50}"/>
              </a:ext>
            </a:extLst>
          </p:cNvPr>
          <p:cNvSpPr/>
          <p:nvPr/>
        </p:nvSpPr>
        <p:spPr>
          <a:xfrm>
            <a:off x="10696754" y="38682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200" dirty="0"/>
          </a:p>
        </p:txBody>
      </p:sp>
      <p:sp>
        <p:nvSpPr>
          <p:cNvPr id="129" name="Text 17">
            <a:extLst>
              <a:ext uri="{FF2B5EF4-FFF2-40B4-BE49-F238E27FC236}">
                <a16:creationId xmlns:a16="http://schemas.microsoft.com/office/drawing/2014/main" id="{4FAB1C12-65E9-AEE7-DED2-89007EFAB78E}"/>
              </a:ext>
            </a:extLst>
          </p:cNvPr>
          <p:cNvSpPr/>
          <p:nvPr/>
        </p:nvSpPr>
        <p:spPr>
          <a:xfrm>
            <a:off x="6477000" y="4173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86B0FB82-B79F-2E99-15F2-7EB3CF9ED3B8}"/>
              </a:ext>
            </a:extLst>
          </p:cNvPr>
          <p:cNvSpPr/>
          <p:nvPr/>
        </p:nvSpPr>
        <p:spPr>
          <a:xfrm>
            <a:off x="7753320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0.9657</a:t>
            </a:r>
            <a:endParaRPr lang="en-US" sz="1200" dirty="0"/>
          </a:p>
        </p:txBody>
      </p:sp>
      <p:sp>
        <p:nvSpPr>
          <p:cNvPr id="131" name="Text 19">
            <a:extLst>
              <a:ext uri="{FF2B5EF4-FFF2-40B4-BE49-F238E27FC236}">
                <a16:creationId xmlns:a16="http://schemas.microsoft.com/office/drawing/2014/main" id="{1BF16A7C-7380-3835-9CC8-A292F3A342BA}"/>
              </a:ext>
            </a:extLst>
          </p:cNvPr>
          <p:cNvSpPr/>
          <p:nvPr/>
        </p:nvSpPr>
        <p:spPr>
          <a:xfrm>
            <a:off x="8498354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</a:t>
            </a:r>
            <a:endParaRPr lang="en-US" sz="1200" dirty="0"/>
          </a:p>
        </p:txBody>
      </p:sp>
      <p:sp>
        <p:nvSpPr>
          <p:cNvPr id="132" name="Text 20">
            <a:extLst>
              <a:ext uri="{FF2B5EF4-FFF2-40B4-BE49-F238E27FC236}">
                <a16:creationId xmlns:a16="http://schemas.microsoft.com/office/drawing/2014/main" id="{09985AC8-092F-0D10-A0FE-06FF219F0340}"/>
              </a:ext>
            </a:extLst>
          </p:cNvPr>
          <p:cNvSpPr/>
          <p:nvPr/>
        </p:nvSpPr>
        <p:spPr>
          <a:xfrm>
            <a:off x="9243387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0.0504</a:t>
            </a:r>
            <a:endParaRPr lang="en-US" sz="1200" dirty="0"/>
          </a:p>
        </p:txBody>
      </p:sp>
      <p:sp>
        <p:nvSpPr>
          <p:cNvPr id="133" name="Text 21">
            <a:extLst>
              <a:ext uri="{FF2B5EF4-FFF2-40B4-BE49-F238E27FC236}">
                <a16:creationId xmlns:a16="http://schemas.microsoft.com/office/drawing/2014/main" id="{5B16198E-3E15-F008-018F-5D0EC07595AD}"/>
              </a:ext>
            </a:extLst>
          </p:cNvPr>
          <p:cNvSpPr/>
          <p:nvPr/>
        </p:nvSpPr>
        <p:spPr>
          <a:xfrm>
            <a:off x="9988421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34" name="Text 22">
            <a:extLst>
              <a:ext uri="{FF2B5EF4-FFF2-40B4-BE49-F238E27FC236}">
                <a16:creationId xmlns:a16="http://schemas.microsoft.com/office/drawing/2014/main" id="{BF637312-C339-11DD-47CA-507346ED01A6}"/>
              </a:ext>
            </a:extLst>
          </p:cNvPr>
          <p:cNvSpPr/>
          <p:nvPr/>
        </p:nvSpPr>
        <p:spPr>
          <a:xfrm>
            <a:off x="10696754" y="4173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0.0954</a:t>
            </a:r>
            <a:endParaRPr lang="en-US" sz="1200" dirty="0"/>
          </a:p>
        </p:txBody>
      </p:sp>
      <p:sp>
        <p:nvSpPr>
          <p:cNvPr id="135" name="Text 23">
            <a:extLst>
              <a:ext uri="{FF2B5EF4-FFF2-40B4-BE49-F238E27FC236}">
                <a16:creationId xmlns:a16="http://schemas.microsoft.com/office/drawing/2014/main" id="{41959359-A46F-4789-FF57-15CC0CFD3123}"/>
              </a:ext>
            </a:extLst>
          </p:cNvPr>
          <p:cNvSpPr/>
          <p:nvPr/>
        </p:nvSpPr>
        <p:spPr>
          <a:xfrm>
            <a:off x="6477000" y="4477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Regression</a:t>
            </a:r>
            <a:endParaRPr lang="en-US" sz="1200" dirty="0"/>
          </a:p>
        </p:txBody>
      </p:sp>
      <p:sp>
        <p:nvSpPr>
          <p:cNvPr id="136" name="Text 24">
            <a:extLst>
              <a:ext uri="{FF2B5EF4-FFF2-40B4-BE49-F238E27FC236}">
                <a16:creationId xmlns:a16="http://schemas.microsoft.com/office/drawing/2014/main" id="{9EF8D823-87DF-A039-8BD9-E319FD55423F}"/>
              </a:ext>
            </a:extLst>
          </p:cNvPr>
          <p:cNvSpPr/>
          <p:nvPr/>
        </p:nvSpPr>
        <p:spPr>
          <a:xfrm>
            <a:off x="7753320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0.9358</a:t>
            </a:r>
            <a:endParaRPr lang="en-US" sz="1200" dirty="0"/>
          </a:p>
        </p:txBody>
      </p:sp>
      <p:sp>
        <p:nvSpPr>
          <p:cNvPr id="137" name="Text 25">
            <a:extLst>
              <a:ext uri="{FF2B5EF4-FFF2-40B4-BE49-F238E27FC236}">
                <a16:creationId xmlns:a16="http://schemas.microsoft.com/office/drawing/2014/main" id="{31AA285A-443B-2427-F5A0-24714159B84A}"/>
              </a:ext>
            </a:extLst>
          </p:cNvPr>
          <p:cNvSpPr/>
          <p:nvPr/>
        </p:nvSpPr>
        <p:spPr>
          <a:xfrm>
            <a:off x="8498354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0.9983</a:t>
            </a:r>
            <a:endParaRPr lang="en-US" sz="1200" dirty="0"/>
          </a:p>
        </p:txBody>
      </p:sp>
      <p:sp>
        <p:nvSpPr>
          <p:cNvPr id="138" name="Text 26">
            <a:extLst>
              <a:ext uri="{FF2B5EF4-FFF2-40B4-BE49-F238E27FC236}">
                <a16:creationId xmlns:a16="http://schemas.microsoft.com/office/drawing/2014/main" id="{50834836-907B-2876-7851-99FFF5F5CB92}"/>
              </a:ext>
            </a:extLst>
          </p:cNvPr>
          <p:cNvSpPr/>
          <p:nvPr/>
        </p:nvSpPr>
        <p:spPr>
          <a:xfrm>
            <a:off x="9243387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39" name="Text 27">
            <a:extLst>
              <a:ext uri="{FF2B5EF4-FFF2-40B4-BE49-F238E27FC236}">
                <a16:creationId xmlns:a16="http://schemas.microsoft.com/office/drawing/2014/main" id="{E081E05A-9BBF-A758-E07C-A6C584B525D0}"/>
              </a:ext>
            </a:extLst>
          </p:cNvPr>
          <p:cNvSpPr/>
          <p:nvPr/>
        </p:nvSpPr>
        <p:spPr>
          <a:xfrm>
            <a:off x="9988421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0" name="Text 28">
            <a:extLst>
              <a:ext uri="{FF2B5EF4-FFF2-40B4-BE49-F238E27FC236}">
                <a16:creationId xmlns:a16="http://schemas.microsoft.com/office/drawing/2014/main" id="{955FD95B-A1D0-BF92-693A-16338B1FE45D}"/>
              </a:ext>
            </a:extLst>
          </p:cNvPr>
          <p:cNvSpPr/>
          <p:nvPr/>
        </p:nvSpPr>
        <p:spPr>
          <a:xfrm>
            <a:off x="10696754" y="4477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1" name="Text 29">
            <a:extLst>
              <a:ext uri="{FF2B5EF4-FFF2-40B4-BE49-F238E27FC236}">
                <a16:creationId xmlns:a16="http://schemas.microsoft.com/office/drawing/2014/main" id="{21057F52-1495-336D-A0FB-DD3C492B78A7}"/>
              </a:ext>
            </a:extLst>
          </p:cNvPr>
          <p:cNvSpPr/>
          <p:nvPr/>
        </p:nvSpPr>
        <p:spPr>
          <a:xfrm>
            <a:off x="6477000" y="4782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Tree</a:t>
            </a:r>
            <a:endParaRPr lang="en-US" sz="1200" dirty="0"/>
          </a:p>
        </p:txBody>
      </p:sp>
      <p:sp>
        <p:nvSpPr>
          <p:cNvPr id="142" name="Text 30">
            <a:extLst>
              <a:ext uri="{FF2B5EF4-FFF2-40B4-BE49-F238E27FC236}">
                <a16:creationId xmlns:a16="http://schemas.microsoft.com/office/drawing/2014/main" id="{3DB3CCDE-5604-6F97-FCE6-8B71DA27F2CA}"/>
              </a:ext>
            </a:extLst>
          </p:cNvPr>
          <p:cNvSpPr/>
          <p:nvPr/>
        </p:nvSpPr>
        <p:spPr>
          <a:xfrm>
            <a:off x="7753320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0.9552</a:t>
            </a:r>
            <a:endParaRPr lang="en-US" sz="1200" dirty="0"/>
          </a:p>
        </p:txBody>
      </p:sp>
      <p:sp>
        <p:nvSpPr>
          <p:cNvPr id="143" name="Text 31">
            <a:extLst>
              <a:ext uri="{FF2B5EF4-FFF2-40B4-BE49-F238E27FC236}">
                <a16:creationId xmlns:a16="http://schemas.microsoft.com/office/drawing/2014/main" id="{2C6CD49D-9692-5418-2595-AD4EE575C629}"/>
              </a:ext>
            </a:extLst>
          </p:cNvPr>
          <p:cNvSpPr/>
          <p:nvPr/>
        </p:nvSpPr>
        <p:spPr>
          <a:xfrm>
            <a:off x="8498354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144" name="Text 32">
            <a:extLst>
              <a:ext uri="{FF2B5EF4-FFF2-40B4-BE49-F238E27FC236}">
                <a16:creationId xmlns:a16="http://schemas.microsoft.com/office/drawing/2014/main" id="{6A57E8A2-B7FC-E6D5-D5BE-925DB99481DF}"/>
              </a:ext>
            </a:extLst>
          </p:cNvPr>
          <p:cNvSpPr/>
          <p:nvPr/>
        </p:nvSpPr>
        <p:spPr>
          <a:xfrm>
            <a:off x="9243387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0.8523</a:t>
            </a:r>
            <a:endParaRPr lang="en-US" sz="1200" dirty="0"/>
          </a:p>
        </p:txBody>
      </p:sp>
      <p:sp>
        <p:nvSpPr>
          <p:cNvPr id="145" name="Text 33">
            <a:extLst>
              <a:ext uri="{FF2B5EF4-FFF2-40B4-BE49-F238E27FC236}">
                <a16:creationId xmlns:a16="http://schemas.microsoft.com/office/drawing/2014/main" id="{160E258B-272A-2D30-4D2F-47122CE627D3}"/>
              </a:ext>
            </a:extLst>
          </p:cNvPr>
          <p:cNvSpPr/>
          <p:nvPr/>
        </p:nvSpPr>
        <p:spPr>
          <a:xfrm>
            <a:off x="9988421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0.7653</a:t>
            </a:r>
            <a:endParaRPr lang="en-US" sz="1200" dirty="0"/>
          </a:p>
        </p:txBody>
      </p:sp>
      <p:sp>
        <p:nvSpPr>
          <p:cNvPr id="146" name="Text 34">
            <a:extLst>
              <a:ext uri="{FF2B5EF4-FFF2-40B4-BE49-F238E27FC236}">
                <a16:creationId xmlns:a16="http://schemas.microsoft.com/office/drawing/2014/main" id="{B4A2E7B3-03AD-0F4C-753E-705E863580D4}"/>
              </a:ext>
            </a:extLst>
          </p:cNvPr>
          <p:cNvSpPr/>
          <p:nvPr/>
        </p:nvSpPr>
        <p:spPr>
          <a:xfrm>
            <a:off x="10696754" y="4782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0.8065</a:t>
            </a:r>
            <a:endParaRPr lang="en-US" sz="1200" dirty="0"/>
          </a:p>
        </p:txBody>
      </p:sp>
      <p:sp>
        <p:nvSpPr>
          <p:cNvPr id="147" name="Text 35">
            <a:extLst>
              <a:ext uri="{FF2B5EF4-FFF2-40B4-BE49-F238E27FC236}">
                <a16:creationId xmlns:a16="http://schemas.microsoft.com/office/drawing/2014/main" id="{28F8DA98-005F-5018-008A-134365975C86}"/>
              </a:ext>
            </a:extLst>
          </p:cNvPr>
          <p:cNvSpPr/>
          <p:nvPr/>
        </p:nvSpPr>
        <p:spPr>
          <a:xfrm>
            <a:off x="6477000" y="5087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LSVC</a:t>
            </a:r>
            <a:endParaRPr lang="en-US" sz="1200" dirty="0"/>
          </a:p>
        </p:txBody>
      </p:sp>
      <p:sp>
        <p:nvSpPr>
          <p:cNvPr id="148" name="Text 36">
            <a:extLst>
              <a:ext uri="{FF2B5EF4-FFF2-40B4-BE49-F238E27FC236}">
                <a16:creationId xmlns:a16="http://schemas.microsoft.com/office/drawing/2014/main" id="{42B217E3-8CC7-E7CE-7522-EB66881FADA6}"/>
              </a:ext>
            </a:extLst>
          </p:cNvPr>
          <p:cNvSpPr/>
          <p:nvPr/>
        </p:nvSpPr>
        <p:spPr>
          <a:xfrm>
            <a:off x="7753320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0.9682</a:t>
            </a:r>
            <a:endParaRPr lang="en-US" sz="1200" dirty="0"/>
          </a:p>
        </p:txBody>
      </p:sp>
      <p:sp>
        <p:nvSpPr>
          <p:cNvPr id="149" name="Text 37">
            <a:extLst>
              <a:ext uri="{FF2B5EF4-FFF2-40B4-BE49-F238E27FC236}">
                <a16:creationId xmlns:a16="http://schemas.microsoft.com/office/drawing/2014/main" id="{12C495E6-1B56-EE6D-A4A3-BF2A4FA5379C}"/>
              </a:ext>
            </a:extLst>
          </p:cNvPr>
          <p:cNvSpPr/>
          <p:nvPr/>
        </p:nvSpPr>
        <p:spPr>
          <a:xfrm>
            <a:off x="8498354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0.9732</a:t>
            </a:r>
            <a:endParaRPr lang="en-US" sz="1200" dirty="0"/>
          </a:p>
        </p:txBody>
      </p:sp>
      <p:sp>
        <p:nvSpPr>
          <p:cNvPr id="150" name="Text 38">
            <a:extLst>
              <a:ext uri="{FF2B5EF4-FFF2-40B4-BE49-F238E27FC236}">
                <a16:creationId xmlns:a16="http://schemas.microsoft.com/office/drawing/2014/main" id="{43FBBE40-EB5F-6125-EBB9-56F4877BBF7C}"/>
              </a:ext>
            </a:extLst>
          </p:cNvPr>
          <p:cNvSpPr/>
          <p:nvPr/>
        </p:nvSpPr>
        <p:spPr>
          <a:xfrm>
            <a:off x="9243387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0.0542</a:t>
            </a:r>
            <a:endParaRPr lang="en-US" sz="1200" dirty="0"/>
          </a:p>
        </p:txBody>
      </p:sp>
      <p:sp>
        <p:nvSpPr>
          <p:cNvPr id="151" name="Text 39">
            <a:extLst>
              <a:ext uri="{FF2B5EF4-FFF2-40B4-BE49-F238E27FC236}">
                <a16:creationId xmlns:a16="http://schemas.microsoft.com/office/drawing/2014/main" id="{4302C250-F724-F4C8-942C-08B1FF9DC8C7}"/>
              </a:ext>
            </a:extLst>
          </p:cNvPr>
          <p:cNvSpPr/>
          <p:nvPr/>
        </p:nvSpPr>
        <p:spPr>
          <a:xfrm>
            <a:off x="9988421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52" name="Text 40">
            <a:extLst>
              <a:ext uri="{FF2B5EF4-FFF2-40B4-BE49-F238E27FC236}">
                <a16:creationId xmlns:a16="http://schemas.microsoft.com/office/drawing/2014/main" id="{1521B6DA-14A3-4A3B-AFEB-D26F82ABE4D2}"/>
              </a:ext>
            </a:extLst>
          </p:cNvPr>
          <p:cNvSpPr/>
          <p:nvPr/>
        </p:nvSpPr>
        <p:spPr>
          <a:xfrm>
            <a:off x="10696754" y="5087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0.1022</a:t>
            </a:r>
            <a:endParaRPr lang="en-US" sz="1200" dirty="0"/>
          </a:p>
        </p:txBody>
      </p:sp>
      <p:sp>
        <p:nvSpPr>
          <p:cNvPr id="61" name="Text 12"/>
          <p:cNvSpPr/>
          <p:nvPr/>
        </p:nvSpPr>
        <p:spPr>
          <a:xfrm>
            <a:off x="7753320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066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286000"/>
            <a:ext cx="5715000" cy="2514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819400"/>
            <a:ext cx="5410200" cy="1485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819400"/>
            <a:ext cx="1123206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0406" y="2819400"/>
            <a:ext cx="836712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118" y="2819400"/>
            <a:ext cx="836712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53829" y="2819400"/>
            <a:ext cx="836712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0541" y="2819400"/>
            <a:ext cx="836712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7253" y="2819400"/>
            <a:ext cx="940147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62300"/>
            <a:ext cx="541020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543300"/>
            <a:ext cx="54102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2286000"/>
            <a:ext cx="5715000" cy="2514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28575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36576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42291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4953000"/>
            <a:ext cx="11582400" cy="1295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5486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5486400"/>
            <a:ext cx="17145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54864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209550"/>
            <a:ext cx="33832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앙상블 </a:t>
            </a: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9/20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895350" y="1219200"/>
            <a:ext cx="108394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(Soft Voting Ensemble)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개요</a:t>
            </a:r>
            <a:endParaRPr lang="en-US" sz="1500" dirty="0"/>
          </a:p>
        </p:txBody>
      </p:sp>
      <p:sp>
        <p:nvSpPr>
          <p:cNvPr id="28" name="Text 3"/>
          <p:cNvSpPr/>
          <p:nvPr/>
        </p:nvSpPr>
        <p:spPr>
          <a:xfrm>
            <a:off x="895350" y="1524000"/>
            <a:ext cx="10839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앙상블은 여러 개의분류 모델이 예측한 클래스별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확률값을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평균하거나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가중합하여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최종 예측 결과를 결정하는 방식입니다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다수결로 투표하는 하드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달리 모델이 예측한 확률 정보를 활용하여 보다 안정적이고 균형 잡힌 예측을 수행합니다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4572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비교</a:t>
            </a:r>
            <a:endParaRPr lang="en-US" sz="1500" dirty="0"/>
          </a:p>
        </p:txBody>
      </p:sp>
      <p:sp>
        <p:nvSpPr>
          <p:cNvPr id="30" name="Text 5"/>
          <p:cNvSpPr/>
          <p:nvPr/>
        </p:nvSpPr>
        <p:spPr>
          <a:xfrm>
            <a:off x="571500" y="2819400"/>
            <a:ext cx="112320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050" dirty="0"/>
          </a:p>
        </p:txBody>
      </p:sp>
      <p:sp>
        <p:nvSpPr>
          <p:cNvPr id="31" name="Text 6"/>
          <p:cNvSpPr/>
          <p:nvPr/>
        </p:nvSpPr>
        <p:spPr>
          <a:xfrm>
            <a:off x="1580406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050" dirty="0"/>
          </a:p>
        </p:txBody>
      </p:sp>
      <p:sp>
        <p:nvSpPr>
          <p:cNvPr id="32" name="Text 7"/>
          <p:cNvSpPr/>
          <p:nvPr/>
        </p:nvSpPr>
        <p:spPr>
          <a:xfrm>
            <a:off x="2417118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050" dirty="0"/>
          </a:p>
        </p:txBody>
      </p:sp>
      <p:sp>
        <p:nvSpPr>
          <p:cNvPr id="33" name="Text 8"/>
          <p:cNvSpPr/>
          <p:nvPr/>
        </p:nvSpPr>
        <p:spPr>
          <a:xfrm>
            <a:off x="3253829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050" dirty="0"/>
          </a:p>
        </p:txBody>
      </p:sp>
      <p:sp>
        <p:nvSpPr>
          <p:cNvPr id="34" name="Text 9"/>
          <p:cNvSpPr/>
          <p:nvPr/>
        </p:nvSpPr>
        <p:spPr>
          <a:xfrm>
            <a:off x="4090541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050" dirty="0"/>
          </a:p>
        </p:txBody>
      </p:sp>
      <p:sp>
        <p:nvSpPr>
          <p:cNvPr id="35" name="Text 10"/>
          <p:cNvSpPr/>
          <p:nvPr/>
        </p:nvSpPr>
        <p:spPr>
          <a:xfrm>
            <a:off x="4833238" y="2819400"/>
            <a:ext cx="11281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050" dirty="0"/>
          </a:p>
        </p:txBody>
      </p:sp>
      <p:sp>
        <p:nvSpPr>
          <p:cNvPr id="36" name="Text 11"/>
          <p:cNvSpPr/>
          <p:nvPr/>
        </p:nvSpPr>
        <p:spPr>
          <a:xfrm>
            <a:off x="571500" y="3162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1496735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  <p:sp>
        <p:nvSpPr>
          <p:cNvPr id="38" name="Text 13"/>
          <p:cNvSpPr/>
          <p:nvPr/>
        </p:nvSpPr>
        <p:spPr>
          <a:xfrm>
            <a:off x="2333446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39" name="Text 14"/>
          <p:cNvSpPr/>
          <p:nvPr/>
        </p:nvSpPr>
        <p:spPr>
          <a:xfrm>
            <a:off x="3170158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4006870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1" name="Text 16"/>
          <p:cNvSpPr/>
          <p:nvPr/>
        </p:nvSpPr>
        <p:spPr>
          <a:xfrm>
            <a:off x="4833238" y="3162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42" name="Text 17"/>
          <p:cNvSpPr/>
          <p:nvPr/>
        </p:nvSpPr>
        <p:spPr>
          <a:xfrm>
            <a:off x="571500" y="3543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1496735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44" name="Text 19"/>
          <p:cNvSpPr/>
          <p:nvPr/>
        </p:nvSpPr>
        <p:spPr>
          <a:xfrm>
            <a:off x="2333446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45" name="Text 20"/>
          <p:cNvSpPr/>
          <p:nvPr/>
        </p:nvSpPr>
        <p:spPr>
          <a:xfrm>
            <a:off x="3170158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4006870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7" name="Text 22"/>
          <p:cNvSpPr/>
          <p:nvPr/>
        </p:nvSpPr>
        <p:spPr>
          <a:xfrm>
            <a:off x="4833238" y="3543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48" name="Text 23"/>
          <p:cNvSpPr/>
          <p:nvPr/>
        </p:nvSpPr>
        <p:spPr>
          <a:xfrm>
            <a:off x="571500" y="3924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49" name="Text 24"/>
          <p:cNvSpPr/>
          <p:nvPr/>
        </p:nvSpPr>
        <p:spPr>
          <a:xfrm>
            <a:off x="1496735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50" name="Text 25"/>
          <p:cNvSpPr/>
          <p:nvPr/>
        </p:nvSpPr>
        <p:spPr>
          <a:xfrm>
            <a:off x="2333446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51" name="Text 26"/>
          <p:cNvSpPr/>
          <p:nvPr/>
        </p:nvSpPr>
        <p:spPr>
          <a:xfrm>
            <a:off x="3170158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4006870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53" name="Text 28"/>
          <p:cNvSpPr/>
          <p:nvPr/>
        </p:nvSpPr>
        <p:spPr>
          <a:xfrm>
            <a:off x="4833238" y="3924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54" name="Text 29"/>
          <p:cNvSpPr/>
          <p:nvPr/>
        </p:nvSpPr>
        <p:spPr>
          <a:xfrm>
            <a:off x="63246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특징 및 최적화</a:t>
            </a:r>
            <a:endParaRPr lang="en-US" sz="1500" dirty="0"/>
          </a:p>
        </p:txBody>
      </p:sp>
      <p:sp>
        <p:nvSpPr>
          <p:cNvPr id="55" name="Text 30"/>
          <p:cNvSpPr/>
          <p:nvPr/>
        </p:nvSpPr>
        <p:spPr>
          <a:xfrm>
            <a:off x="6553200" y="2819400"/>
            <a:ext cx="891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CatBoost:</a:t>
            </a:r>
            <a:endParaRPr lang="en-US" sz="1200" dirty="0"/>
          </a:p>
        </p:txBody>
      </p:sp>
      <p:sp>
        <p:nvSpPr>
          <p:cNvPr id="56" name="Text 31"/>
          <p:cNvSpPr/>
          <p:nvPr/>
        </p:nvSpPr>
        <p:spPr>
          <a:xfrm>
            <a:off x="7334250" y="2819400"/>
            <a:ext cx="40862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최고의 F1-score(0.884)를 보였습니다. 하이퍼파라미터 튜닝 후 정밀도가 향상되었고, SMOTE oversampling과 outlier capping을 통해 성능이 개선되었습니다.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553200" y="3619500"/>
            <a:ext cx="81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XGBoost:</a:t>
            </a:r>
            <a:endParaRPr lang="en-US" sz="1200" dirty="0"/>
          </a:p>
        </p:txBody>
      </p:sp>
      <p:sp>
        <p:nvSpPr>
          <p:cNvPr id="58" name="Text 33"/>
          <p:cNvSpPr/>
          <p:nvPr/>
        </p:nvSpPr>
        <p:spPr>
          <a:xfrm>
            <a:off x="7267575" y="3619500"/>
            <a:ext cx="4152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 성능이 낮았지만, 하이퍼파라미터 튜닝을 통해 재현율은 유지하면서 정밀도를 높일 수 있었습니다.</a:t>
            </a:r>
            <a:endParaRPr lang="en-US" sz="1200" dirty="0"/>
          </a:p>
        </p:txBody>
      </p:sp>
      <p:sp>
        <p:nvSpPr>
          <p:cNvPr id="59" name="Text 34"/>
          <p:cNvSpPr/>
          <p:nvPr/>
        </p:nvSpPr>
        <p:spPr>
          <a:xfrm>
            <a:off x="6553200" y="4191000"/>
            <a:ext cx="9372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LightGBM:</a:t>
            </a:r>
            <a:endParaRPr lang="en-US" sz="1200" dirty="0"/>
          </a:p>
        </p:txBody>
      </p:sp>
      <p:sp>
        <p:nvSpPr>
          <p:cNvPr id="60" name="Text 35"/>
          <p:cNvSpPr/>
          <p:nvPr/>
        </p:nvSpPr>
        <p:spPr>
          <a:xfrm>
            <a:off x="7372350" y="4191000"/>
            <a:ext cx="42824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AUC(0.9664)를 보였지만 정밀도와 재현율의 균형이 CatBoost보다 약했습니다. SMOTE 적용 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성능이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향상되었습니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1" name="Text 36"/>
          <p:cNvSpPr/>
          <p:nvPr/>
        </p:nvSpPr>
        <p:spPr>
          <a:xfrm>
            <a:off x="457200" y="5105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매개변수 최적화</a:t>
            </a:r>
            <a:endParaRPr lang="en-US" sz="1500" dirty="0"/>
          </a:p>
        </p:txBody>
      </p:sp>
      <p:sp>
        <p:nvSpPr>
          <p:cNvPr id="62" name="Text 37"/>
          <p:cNvSpPr/>
          <p:nvPr/>
        </p:nvSpPr>
        <p:spPr>
          <a:xfrm>
            <a:off x="685800" y="5448300"/>
            <a:ext cx="1943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학습률 (Learning Rate)</a:t>
            </a:r>
            <a:endParaRPr lang="en-US" sz="1200" dirty="0"/>
          </a:p>
        </p:txBody>
      </p:sp>
      <p:sp>
        <p:nvSpPr>
          <p:cNvPr id="63" name="Text 38"/>
          <p:cNvSpPr/>
          <p:nvPr/>
        </p:nvSpPr>
        <p:spPr>
          <a:xfrm>
            <a:off x="45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학습률은 더 많은 트리 생성을 필요로 하지만 일반화 성능을 향상시킵니다.</a:t>
            </a:r>
            <a:endParaRPr lang="en-US" sz="1050" dirty="0"/>
          </a:p>
        </p:txBody>
      </p:sp>
      <p:sp>
        <p:nvSpPr>
          <p:cNvPr id="64" name="Text 39"/>
          <p:cNvSpPr/>
          <p:nvPr/>
        </p:nvSpPr>
        <p:spPr>
          <a:xfrm>
            <a:off x="4514850" y="5448300"/>
            <a:ext cx="1874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깊이 (Tree Depth)</a:t>
            </a:r>
            <a:endParaRPr lang="en-US" sz="1200" dirty="0"/>
          </a:p>
        </p:txBody>
      </p:sp>
      <p:sp>
        <p:nvSpPr>
          <p:cNvPr id="65" name="Text 40"/>
          <p:cNvSpPr/>
          <p:nvPr/>
        </p:nvSpPr>
        <p:spPr>
          <a:xfrm>
            <a:off x="426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깊이가 깊을수록 모델은 더 복잡해지고 과적합 위험이 커질 수 있습니다.</a:t>
            </a:r>
            <a:endParaRPr lang="en-US" sz="1050" dirty="0"/>
          </a:p>
        </p:txBody>
      </p:sp>
      <p:sp>
        <p:nvSpPr>
          <p:cNvPr id="66" name="Text 41"/>
          <p:cNvSpPr/>
          <p:nvPr/>
        </p:nvSpPr>
        <p:spPr>
          <a:xfrm>
            <a:off x="8305800" y="5448300"/>
            <a:ext cx="1680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(Subsample)</a:t>
            </a:r>
            <a:endParaRPr lang="en-US" sz="1200" dirty="0"/>
          </a:p>
        </p:txBody>
      </p:sp>
      <p:sp>
        <p:nvSpPr>
          <p:cNvPr id="67" name="Text 42"/>
          <p:cNvSpPr/>
          <p:nvPr/>
        </p:nvSpPr>
        <p:spPr>
          <a:xfrm>
            <a:off x="807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샘플링 비율을 조정하여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성능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높일 수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800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43100"/>
            <a:ext cx="2255490" cy="1660922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1971" y="24098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0946" y="2762250"/>
            <a:ext cx="676275" cy="22086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3421" y="2762250"/>
            <a:ext cx="638175" cy="22086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846" y="3021211"/>
            <a:ext cx="704850" cy="220861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98390" y="1943100"/>
            <a:ext cx="2255490" cy="16609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3186" y="2409825"/>
            <a:ext cx="28575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35473" y="2762250"/>
            <a:ext cx="704850" cy="22086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16523" y="2762250"/>
            <a:ext cx="1000125" cy="22086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30798" y="3021211"/>
            <a:ext cx="390525" cy="22086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68180" y="1943100"/>
            <a:ext cx="2255490" cy="1660922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67264" y="2409825"/>
            <a:ext cx="257175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33826" y="2762250"/>
            <a:ext cx="676275" cy="22086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86301" y="2762250"/>
            <a:ext cx="1171575" cy="220861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752951" y="3021211"/>
            <a:ext cx="685800" cy="220861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37971" y="1943100"/>
            <a:ext cx="2255490" cy="1660922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22766" y="2409825"/>
            <a:ext cx="285750" cy="228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713166" y="2762250"/>
            <a:ext cx="638175" cy="220861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27541" y="2762250"/>
            <a:ext cx="790575" cy="220861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46516" y="3021211"/>
            <a:ext cx="1238250" cy="220861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07761" y="1943100"/>
            <a:ext cx="2255639" cy="1660922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21280" y="2409825"/>
            <a:ext cx="228600" cy="228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864030" y="2762250"/>
            <a:ext cx="1000125" cy="220861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940355" y="2762250"/>
            <a:ext cx="400050" cy="220861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416605" y="2762250"/>
            <a:ext cx="390525" cy="220861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28600" y="3756422"/>
            <a:ext cx="5087983" cy="13716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" y="3956447"/>
            <a:ext cx="285750" cy="228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40366" y="5257800"/>
            <a:ext cx="5076217" cy="1371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92766" y="5457825"/>
            <a:ext cx="228600" cy="228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전략 설계</a:t>
            </a:r>
            <a:endParaRPr lang="en-US" sz="2250" dirty="0"/>
          </a:p>
        </p:txBody>
      </p:sp>
      <p:sp>
        <p:nvSpPr>
          <p:cNvPr id="3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11/20</a:t>
            </a:r>
            <a:endParaRPr lang="en-US" sz="1500" dirty="0"/>
          </a:p>
        </p:txBody>
      </p:sp>
      <p:sp>
        <p:nvSpPr>
          <p:cNvPr id="38" name="Text 2"/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기반 최종 모델 구성</a:t>
            </a:r>
            <a:endParaRPr lang="en-US" sz="1500" dirty="0"/>
          </a:p>
        </p:txBody>
      </p:sp>
      <p:sp>
        <p:nvSpPr>
          <p:cNvPr id="39" name="Text 3"/>
          <p:cNvSpPr/>
          <p:nvPr/>
        </p:nvSpPr>
        <p:spPr>
          <a:xfrm>
            <a:off x="819150" y="1409700"/>
            <a:ext cx="8138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모델의 예측을 가중치를 두어 결합하여 모델의 일반화 능력을 향상시키는 앙상블 전략을 설계했습니다.</a:t>
            </a:r>
            <a:endParaRPr lang="en-US" sz="1200" dirty="0"/>
          </a:p>
        </p:txBody>
      </p:sp>
      <p:sp>
        <p:nvSpPr>
          <p:cNvPr id="40" name="Text 4"/>
          <p:cNvSpPr/>
          <p:nvPr/>
        </p:nvSpPr>
        <p:spPr>
          <a:xfrm>
            <a:off x="98479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050" dirty="0"/>
          </a:p>
        </p:txBody>
      </p:sp>
      <p:sp>
        <p:nvSpPr>
          <p:cNvPr id="41" name="Text 5"/>
          <p:cNvSpPr/>
          <p:nvPr/>
        </p:nvSpPr>
        <p:spPr>
          <a:xfrm>
            <a:off x="593318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42" name="Text 6"/>
          <p:cNvSpPr/>
          <p:nvPr/>
        </p:nvSpPr>
        <p:spPr>
          <a:xfrm>
            <a:off x="1349603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43" name="Text 7"/>
          <p:cNvSpPr/>
          <p:nvPr/>
        </p:nvSpPr>
        <p:spPr>
          <a:xfrm>
            <a:off x="933361" y="3021211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4" name="Text 8"/>
          <p:cNvSpPr/>
          <p:nvPr/>
        </p:nvSpPr>
        <p:spPr>
          <a:xfrm>
            <a:off x="565696" y="3337322"/>
            <a:ext cx="18973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그래디언트 부스팅 계열 최적 조합</a:t>
            </a:r>
            <a:endParaRPr lang="en-US" sz="900" dirty="0"/>
          </a:p>
        </p:txBody>
      </p:sp>
      <p:sp>
        <p:nvSpPr>
          <p:cNvPr id="45" name="Text 9"/>
          <p:cNvSpPr/>
          <p:nvPr/>
        </p:nvSpPr>
        <p:spPr>
          <a:xfrm>
            <a:off x="335458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050" dirty="0"/>
          </a:p>
        </p:txBody>
      </p:sp>
      <p:sp>
        <p:nvSpPr>
          <p:cNvPr id="46" name="Text 10"/>
          <p:cNvSpPr/>
          <p:nvPr/>
        </p:nvSpPr>
        <p:spPr>
          <a:xfrm>
            <a:off x="2764988" y="2762250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7" name="Text 11"/>
          <p:cNvSpPr/>
          <p:nvPr/>
        </p:nvSpPr>
        <p:spPr>
          <a:xfrm>
            <a:off x="3516511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48" name="Text 12"/>
          <p:cNvSpPr/>
          <p:nvPr/>
        </p:nvSpPr>
        <p:spPr>
          <a:xfrm>
            <a:off x="3491746" y="3021211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49" name="Text 13"/>
          <p:cNvSpPr/>
          <p:nvPr/>
        </p:nvSpPr>
        <p:spPr>
          <a:xfrm>
            <a:off x="3045023" y="3337322"/>
            <a:ext cx="16344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900" dirty="0"/>
          </a:p>
        </p:txBody>
      </p:sp>
      <p:sp>
        <p:nvSpPr>
          <p:cNvPr id="50" name="Text 14"/>
          <p:cNvSpPr/>
          <p:nvPr/>
        </p:nvSpPr>
        <p:spPr>
          <a:xfrm>
            <a:off x="572437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050" dirty="0"/>
          </a:p>
        </p:txBody>
      </p:sp>
      <p:sp>
        <p:nvSpPr>
          <p:cNvPr id="51" name="Text 15"/>
          <p:cNvSpPr/>
          <p:nvPr/>
        </p:nvSpPr>
        <p:spPr>
          <a:xfrm>
            <a:off x="5066199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52" name="Text 16"/>
          <p:cNvSpPr/>
          <p:nvPr/>
        </p:nvSpPr>
        <p:spPr>
          <a:xfrm>
            <a:off x="5769144" y="2762250"/>
            <a:ext cx="14058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GradientBoosting</a:t>
            </a:r>
            <a:endParaRPr lang="en-US" sz="960" dirty="0"/>
          </a:p>
        </p:txBody>
      </p:sp>
      <p:sp>
        <p:nvSpPr>
          <p:cNvPr id="53" name="Text 17"/>
          <p:cNvSpPr/>
          <p:nvPr/>
        </p:nvSpPr>
        <p:spPr>
          <a:xfrm>
            <a:off x="5684371" y="3021211"/>
            <a:ext cx="8229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SVM(RBF)</a:t>
            </a:r>
            <a:endParaRPr lang="en-US" sz="960" dirty="0"/>
          </a:p>
        </p:txBody>
      </p:sp>
      <p:sp>
        <p:nvSpPr>
          <p:cNvPr id="54" name="Text 18"/>
          <p:cNvSpPr/>
          <p:nvPr/>
        </p:nvSpPr>
        <p:spPr>
          <a:xfrm>
            <a:off x="5700564" y="3337322"/>
            <a:ext cx="9486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900" dirty="0"/>
          </a:p>
        </p:txBody>
      </p:sp>
      <p:sp>
        <p:nvSpPr>
          <p:cNvPr id="55" name="Text 19"/>
          <p:cNvSpPr/>
          <p:nvPr/>
        </p:nvSpPr>
        <p:spPr>
          <a:xfrm>
            <a:off x="809416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050" dirty="0"/>
          </a:p>
        </p:txBody>
      </p:sp>
      <p:sp>
        <p:nvSpPr>
          <p:cNvPr id="56" name="Text 20"/>
          <p:cNvSpPr/>
          <p:nvPr/>
        </p:nvSpPr>
        <p:spPr>
          <a:xfrm>
            <a:off x="7649349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57" name="Text 21"/>
          <p:cNvSpPr/>
          <p:nvPr/>
        </p:nvSpPr>
        <p:spPr>
          <a:xfrm>
            <a:off x="8348484" y="2762250"/>
            <a:ext cx="9486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SVM</a:t>
            </a:r>
            <a:endParaRPr lang="en-US" sz="960" dirty="0"/>
          </a:p>
        </p:txBody>
      </p:sp>
      <p:sp>
        <p:nvSpPr>
          <p:cNvPr id="58" name="Text 22"/>
          <p:cNvSpPr/>
          <p:nvPr/>
        </p:nvSpPr>
        <p:spPr>
          <a:xfrm>
            <a:off x="7722691" y="3021211"/>
            <a:ext cx="148590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LogisticRegression</a:t>
            </a:r>
            <a:endParaRPr lang="en-US" sz="960" dirty="0"/>
          </a:p>
        </p:txBody>
      </p:sp>
      <p:sp>
        <p:nvSpPr>
          <p:cNvPr id="59" name="Text 23"/>
          <p:cNvSpPr/>
          <p:nvPr/>
        </p:nvSpPr>
        <p:spPr>
          <a:xfrm>
            <a:off x="7956054" y="3337322"/>
            <a:ext cx="122301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900" dirty="0"/>
          </a:p>
        </p:txBody>
      </p:sp>
      <p:sp>
        <p:nvSpPr>
          <p:cNvPr id="60" name="Text 24"/>
          <p:cNvSpPr/>
          <p:nvPr/>
        </p:nvSpPr>
        <p:spPr>
          <a:xfrm>
            <a:off x="10464105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050" dirty="0"/>
          </a:p>
        </p:txBody>
      </p:sp>
      <p:sp>
        <p:nvSpPr>
          <p:cNvPr id="61" name="Text 25"/>
          <p:cNvSpPr/>
          <p:nvPr/>
        </p:nvSpPr>
        <p:spPr>
          <a:xfrm>
            <a:off x="9764018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62" name="Text 26"/>
          <p:cNvSpPr/>
          <p:nvPr/>
        </p:nvSpPr>
        <p:spPr>
          <a:xfrm>
            <a:off x="10900350" y="2762250"/>
            <a:ext cx="4800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960" dirty="0"/>
          </a:p>
        </p:txBody>
      </p:sp>
      <p:sp>
        <p:nvSpPr>
          <p:cNvPr id="63" name="Text 27"/>
          <p:cNvSpPr/>
          <p:nvPr/>
        </p:nvSpPr>
        <p:spPr>
          <a:xfrm>
            <a:off x="11377553" y="2762250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64" name="Text 28"/>
          <p:cNvSpPr/>
          <p:nvPr/>
        </p:nvSpPr>
        <p:spPr>
          <a:xfrm>
            <a:off x="10202168" y="3078361"/>
            <a:ext cx="15201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900" dirty="0"/>
          </a:p>
        </p:txBody>
      </p:sp>
      <p:sp>
        <p:nvSpPr>
          <p:cNvPr id="65" name="Text 29"/>
          <p:cNvSpPr/>
          <p:nvPr/>
        </p:nvSpPr>
        <p:spPr>
          <a:xfrm>
            <a:off x="781050" y="3927872"/>
            <a:ext cx="857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350" dirty="0"/>
          </a:p>
        </p:txBody>
      </p:sp>
      <p:sp>
        <p:nvSpPr>
          <p:cNvPr id="66" name="Text 30"/>
          <p:cNvSpPr/>
          <p:nvPr/>
        </p:nvSpPr>
        <p:spPr>
          <a:xfrm>
            <a:off x="495300" y="42898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스택의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(Logistic Regression) 를 사용</a:t>
            </a:r>
            <a:endParaRPr lang="en-US" sz="1200" dirty="0"/>
          </a:p>
        </p:txBody>
      </p:sp>
      <p:sp>
        <p:nvSpPr>
          <p:cNvPr id="67" name="Text 31"/>
          <p:cNvSpPr/>
          <p:nvPr/>
        </p:nvSpPr>
        <p:spPr>
          <a:xfrm>
            <a:off x="495300" y="45184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안정성과 해석 가능성을 고려</a:t>
            </a:r>
            <a:endParaRPr lang="en-US" sz="1200" dirty="0"/>
          </a:p>
        </p:txBody>
      </p:sp>
      <p:sp>
        <p:nvSpPr>
          <p:cNvPr id="68" name="Text 32"/>
          <p:cNvSpPr/>
          <p:nvPr/>
        </p:nvSpPr>
        <p:spPr>
          <a:xfrm>
            <a:off x="495300" y="47470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(weights=[3,2,2,1,1]) 를 조정하여 성능 최적화</a:t>
            </a:r>
            <a:endParaRPr lang="en-US" sz="1200" dirty="0"/>
          </a:p>
        </p:txBody>
      </p:sp>
      <p:sp>
        <p:nvSpPr>
          <p:cNvPr id="69" name="Text 33"/>
          <p:cNvSpPr/>
          <p:nvPr/>
        </p:nvSpPr>
        <p:spPr>
          <a:xfrm>
            <a:off x="735666" y="5429250"/>
            <a:ext cx="8343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결과</a:t>
            </a:r>
            <a:endParaRPr lang="en-US" sz="1350" dirty="0"/>
          </a:p>
        </p:txBody>
      </p:sp>
      <p:sp>
        <p:nvSpPr>
          <p:cNvPr id="70" name="Text 34"/>
          <p:cNvSpPr/>
          <p:nvPr/>
        </p:nvSpPr>
        <p:spPr>
          <a:xfrm>
            <a:off x="507066" y="5791200"/>
            <a:ext cx="510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2와 Stack 3이 가장 균형 잡힌 성능을 보임</a:t>
            </a:r>
            <a:endParaRPr lang="en-US" sz="1200" dirty="0"/>
          </a:p>
        </p:txBody>
      </p:sp>
      <p:sp>
        <p:nvSpPr>
          <p:cNvPr id="71" name="Text 35"/>
          <p:cNvSpPr/>
          <p:nvPr/>
        </p:nvSpPr>
        <p:spPr>
          <a:xfrm>
            <a:off x="507066" y="6019800"/>
            <a:ext cx="4244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모델의 혼합이 예측 안정성 향상</a:t>
            </a:r>
            <a:endParaRPr lang="en-US" sz="1200" dirty="0"/>
          </a:p>
        </p:txBody>
      </p:sp>
      <p:sp>
        <p:nvSpPr>
          <p:cNvPr id="72" name="Text 36"/>
          <p:cNvSpPr/>
          <p:nvPr/>
        </p:nvSpPr>
        <p:spPr>
          <a:xfrm>
            <a:off x="507066" y="6248400"/>
            <a:ext cx="4939605" cy="2018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접근법은 개별 모델보다 generalization 능력 향상</a:t>
            </a:r>
            <a:endParaRPr lang="en-US" sz="1200" dirty="0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D81C0C8A-442B-2ED6-DCFA-D61F85A6971B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533096" y="3756422"/>
            <a:ext cx="6421040" cy="1738180"/>
          </a:xfrm>
          <a:prstGeom prst="rect">
            <a:avLst/>
          </a:prstGeom>
        </p:spPr>
      </p:pic>
      <p:pic>
        <p:nvPicPr>
          <p:cNvPr id="79" name="Image 7" descr="preencoded.png">
            <a:extLst>
              <a:ext uri="{FF2B5EF4-FFF2-40B4-BE49-F238E27FC236}">
                <a16:creationId xmlns:a16="http://schemas.microsoft.com/office/drawing/2014/main" id="{1B23D2D1-4916-9411-CC8D-4D4E335AD61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533097" y="5636484"/>
            <a:ext cx="6444892" cy="992916"/>
          </a:xfrm>
          <a:prstGeom prst="rect">
            <a:avLst/>
          </a:prstGeom>
        </p:spPr>
      </p:pic>
      <p:pic>
        <p:nvPicPr>
          <p:cNvPr id="80" name="Image 8" descr="preencoded.png">
            <a:extLst>
              <a:ext uri="{FF2B5EF4-FFF2-40B4-BE49-F238E27FC236}">
                <a16:creationId xmlns:a16="http://schemas.microsoft.com/office/drawing/2014/main" id="{7ED8F43E-3590-C14F-711C-B0E5B4005A3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836078" y="6014642"/>
            <a:ext cx="1112980" cy="502722"/>
          </a:xfrm>
          <a:prstGeom prst="rect">
            <a:avLst/>
          </a:prstGeom>
        </p:spPr>
      </p:pic>
      <p:pic>
        <p:nvPicPr>
          <p:cNvPr id="81" name="Image 9" descr="preencoded.png">
            <a:extLst>
              <a:ext uri="{FF2B5EF4-FFF2-40B4-BE49-F238E27FC236}">
                <a16:creationId xmlns:a16="http://schemas.microsoft.com/office/drawing/2014/main" id="{C14A71A3-32CA-6DAA-A70B-99D532D21B11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902878" y="6019800"/>
            <a:ext cx="1112980" cy="497563"/>
          </a:xfrm>
          <a:prstGeom prst="rect">
            <a:avLst/>
          </a:prstGeom>
        </p:spPr>
      </p:pic>
      <p:pic>
        <p:nvPicPr>
          <p:cNvPr id="82" name="Image 10" descr="preencoded.png">
            <a:extLst>
              <a:ext uri="{FF2B5EF4-FFF2-40B4-BE49-F238E27FC236}">
                <a16:creationId xmlns:a16="http://schemas.microsoft.com/office/drawing/2014/main" id="{88653548-930C-C612-A527-296466E74B3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969678" y="6014642"/>
            <a:ext cx="1112980" cy="502722"/>
          </a:xfrm>
          <a:prstGeom prst="rect">
            <a:avLst/>
          </a:prstGeom>
        </p:spPr>
      </p:pic>
      <p:pic>
        <p:nvPicPr>
          <p:cNvPr id="83" name="Image 11" descr="preencoded.png">
            <a:extLst>
              <a:ext uri="{FF2B5EF4-FFF2-40B4-BE49-F238E27FC236}">
                <a16:creationId xmlns:a16="http://schemas.microsoft.com/office/drawing/2014/main" id="{5F5EEAA9-111E-9CB1-A053-A0DB30827E4B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036478" y="6014642"/>
            <a:ext cx="1112980" cy="502722"/>
          </a:xfrm>
          <a:prstGeom prst="rect">
            <a:avLst/>
          </a:prstGeom>
        </p:spPr>
      </p:pic>
      <p:pic>
        <p:nvPicPr>
          <p:cNvPr id="84" name="Image 12" descr="preencoded.png">
            <a:extLst>
              <a:ext uri="{FF2B5EF4-FFF2-40B4-BE49-F238E27FC236}">
                <a16:creationId xmlns:a16="http://schemas.microsoft.com/office/drawing/2014/main" id="{76B5C894-7367-5165-4343-72B83887111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03278" y="6019800"/>
            <a:ext cx="1112980" cy="497563"/>
          </a:xfrm>
          <a:prstGeom prst="rect">
            <a:avLst/>
          </a:prstGeom>
        </p:spPr>
      </p:pic>
      <p:sp>
        <p:nvSpPr>
          <p:cNvPr id="85" name="Text 11">
            <a:extLst>
              <a:ext uri="{FF2B5EF4-FFF2-40B4-BE49-F238E27FC236}">
                <a16:creationId xmlns:a16="http://schemas.microsoft.com/office/drawing/2014/main" id="{77B19D05-4667-D0A5-3441-734E14DD2E87}"/>
              </a:ext>
            </a:extLst>
          </p:cNvPr>
          <p:cNvSpPr/>
          <p:nvPr/>
        </p:nvSpPr>
        <p:spPr>
          <a:xfrm>
            <a:off x="5700564" y="5706682"/>
            <a:ext cx="5907356" cy="16548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 후 최종 모델 성능</a:t>
            </a:r>
            <a:endParaRPr lang="en-US" sz="1500" dirty="0"/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A946057E-DF38-EDDF-3B61-8F3DFEA6612F}"/>
              </a:ext>
            </a:extLst>
          </p:cNvPr>
          <p:cNvSpPr/>
          <p:nvPr/>
        </p:nvSpPr>
        <p:spPr>
          <a:xfrm>
            <a:off x="59524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98049B78-C14B-9C6E-C577-0AA633C0F04B}"/>
              </a:ext>
            </a:extLst>
          </p:cNvPr>
          <p:cNvSpPr/>
          <p:nvPr/>
        </p:nvSpPr>
        <p:spPr>
          <a:xfrm>
            <a:off x="58748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0.9719</a:t>
            </a:r>
            <a:endParaRPr lang="en-US" sz="1800" dirty="0"/>
          </a:p>
        </p:txBody>
      </p:sp>
      <p:sp>
        <p:nvSpPr>
          <p:cNvPr id="88" name="Text 14">
            <a:extLst>
              <a:ext uri="{FF2B5EF4-FFF2-40B4-BE49-F238E27FC236}">
                <a16:creationId xmlns:a16="http://schemas.microsoft.com/office/drawing/2014/main" id="{4F7B9E6A-E5C8-B66F-B055-39DFBB6533F3}"/>
              </a:ext>
            </a:extLst>
          </p:cNvPr>
          <p:cNvSpPr/>
          <p:nvPr/>
        </p:nvSpPr>
        <p:spPr>
          <a:xfrm>
            <a:off x="70192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89" name="Text 15">
            <a:extLst>
              <a:ext uri="{FF2B5EF4-FFF2-40B4-BE49-F238E27FC236}">
                <a16:creationId xmlns:a16="http://schemas.microsoft.com/office/drawing/2014/main" id="{F5998A44-1C92-69AA-030F-CC187D6B6930}"/>
              </a:ext>
            </a:extLst>
          </p:cNvPr>
          <p:cNvSpPr/>
          <p:nvPr/>
        </p:nvSpPr>
        <p:spPr>
          <a:xfrm>
            <a:off x="69416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EE6CC267-DE25-989E-54BE-6355C336F529}"/>
              </a:ext>
            </a:extLst>
          </p:cNvPr>
          <p:cNvSpPr/>
          <p:nvPr/>
        </p:nvSpPr>
        <p:spPr>
          <a:xfrm>
            <a:off x="80860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947226A6-5057-26E2-C3BC-6D0E69099BE4}"/>
              </a:ext>
            </a:extLst>
          </p:cNvPr>
          <p:cNvSpPr/>
          <p:nvPr/>
        </p:nvSpPr>
        <p:spPr>
          <a:xfrm>
            <a:off x="80084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0.2727</a:t>
            </a:r>
            <a:endParaRPr lang="en-US" sz="1800" dirty="0"/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3E3C5CB4-B20B-C525-3AAD-337140DB8398}"/>
              </a:ext>
            </a:extLst>
          </p:cNvPr>
          <p:cNvSpPr/>
          <p:nvPr/>
        </p:nvSpPr>
        <p:spPr>
          <a:xfrm>
            <a:off x="91528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162C5640-B644-6CD2-FB2F-27E8C97D5D08}"/>
              </a:ext>
            </a:extLst>
          </p:cNvPr>
          <p:cNvSpPr/>
          <p:nvPr/>
        </p:nvSpPr>
        <p:spPr>
          <a:xfrm>
            <a:off x="90752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0.8571</a:t>
            </a:r>
            <a:endParaRPr lang="en-US" sz="1800" dirty="0"/>
          </a:p>
        </p:txBody>
      </p:sp>
      <p:sp>
        <p:nvSpPr>
          <p:cNvPr id="94" name="Text 20">
            <a:extLst>
              <a:ext uri="{FF2B5EF4-FFF2-40B4-BE49-F238E27FC236}">
                <a16:creationId xmlns:a16="http://schemas.microsoft.com/office/drawing/2014/main" id="{85525073-9167-3F02-DEA3-965D0221F0F2}"/>
              </a:ext>
            </a:extLst>
          </p:cNvPr>
          <p:cNvSpPr/>
          <p:nvPr/>
        </p:nvSpPr>
        <p:spPr>
          <a:xfrm>
            <a:off x="10142067" y="6014641"/>
            <a:ext cx="1027366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95" name="Text 21">
            <a:extLst>
              <a:ext uri="{FF2B5EF4-FFF2-40B4-BE49-F238E27FC236}">
                <a16:creationId xmlns:a16="http://schemas.microsoft.com/office/drawing/2014/main" id="{6A74F045-CD77-518C-DFA5-5CB76466B277}"/>
              </a:ext>
            </a:extLst>
          </p:cNvPr>
          <p:cNvSpPr/>
          <p:nvPr/>
        </p:nvSpPr>
        <p:spPr>
          <a:xfrm>
            <a:off x="101420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0.4138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762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906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05000"/>
            <a:ext cx="5791200" cy="419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438400"/>
            <a:ext cx="54864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438400"/>
            <a:ext cx="715714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6714" y="2438400"/>
            <a:ext cx="2756892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3607" y="2438400"/>
            <a:ext cx="2013793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2819400"/>
            <a:ext cx="54864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2819400"/>
            <a:ext cx="715714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2819400"/>
            <a:ext cx="2756892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2819400"/>
            <a:ext cx="2013793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3429000"/>
            <a:ext cx="54864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3429000"/>
            <a:ext cx="715714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3429000"/>
            <a:ext cx="2756892" cy="609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3429000"/>
            <a:ext cx="2013793" cy="609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038600"/>
            <a:ext cx="715714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038600"/>
            <a:ext cx="2756892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038600"/>
            <a:ext cx="2013793" cy="609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648200"/>
            <a:ext cx="715714" cy="609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648200"/>
            <a:ext cx="2756892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648200"/>
            <a:ext cx="2013793" cy="6096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1905000"/>
            <a:ext cx="5791200" cy="2552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2400300"/>
            <a:ext cx="4762500" cy="1905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72200" y="4610100"/>
            <a:ext cx="5791200" cy="1485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성능 결과</a:t>
            </a:r>
            <a:endParaRPr lang="en-US" sz="2250" dirty="0"/>
          </a:p>
        </p:txBody>
      </p:sp>
      <p:sp>
        <p:nvSpPr>
          <p:cNvPr id="30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12/20</a:t>
            </a:r>
            <a:endParaRPr lang="en-US" sz="1500" dirty="0"/>
          </a:p>
        </p:txBody>
      </p:sp>
      <p:sp>
        <p:nvSpPr>
          <p:cNvPr id="31" name="Text 2"/>
          <p:cNvSpPr/>
          <p:nvPr/>
        </p:nvSpPr>
        <p:spPr>
          <a:xfrm>
            <a:off x="819150" y="1143000"/>
            <a:ext cx="10991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스태킹은 다양한 모델의 predictions을 결합하여 generalization 성능을 향상시키는 앙상블 기법입니다. 각 스태ック의 메타모델은 로지스틱 회귀로 설정되어 안정성과 해석 가능성을 추구했습니다.</a:t>
            </a:r>
            <a:endParaRPr lang="en-US" sz="1200" dirty="0"/>
          </a:p>
        </p:txBody>
      </p:sp>
      <p:sp>
        <p:nvSpPr>
          <p:cNvPr id="32" name="Text 3"/>
          <p:cNvSpPr/>
          <p:nvPr/>
        </p:nvSpPr>
        <p:spPr>
          <a:xfrm>
            <a:off x="3810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조합별 설계 의도</a:t>
            </a:r>
            <a:endParaRPr lang="en-US" sz="1500" dirty="0"/>
          </a:p>
        </p:txBody>
      </p:sp>
      <p:sp>
        <p:nvSpPr>
          <p:cNvPr id="33" name="Text 4"/>
          <p:cNvSpPr/>
          <p:nvPr/>
        </p:nvSpPr>
        <p:spPr>
          <a:xfrm>
            <a:off x="495300" y="2438400"/>
            <a:ext cx="71571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endParaRPr lang="en-US" sz="1200" dirty="0"/>
          </a:p>
        </p:txBody>
      </p:sp>
      <p:sp>
        <p:nvSpPr>
          <p:cNvPr id="34" name="Text 5"/>
          <p:cNvSpPr/>
          <p:nvPr/>
        </p:nvSpPr>
        <p:spPr>
          <a:xfrm>
            <a:off x="1211014" y="2438400"/>
            <a:ext cx="2756892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 모델</a:t>
            </a:r>
            <a:endParaRPr lang="en-US" sz="1200" dirty="0"/>
          </a:p>
        </p:txBody>
      </p:sp>
      <p:sp>
        <p:nvSpPr>
          <p:cNvPr id="35" name="Text 6"/>
          <p:cNvSpPr/>
          <p:nvPr/>
        </p:nvSpPr>
        <p:spPr>
          <a:xfrm>
            <a:off x="3967907" y="2438400"/>
            <a:ext cx="201379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의도</a:t>
            </a:r>
            <a:endParaRPr lang="en-US" sz="1200" dirty="0"/>
          </a:p>
        </p:txBody>
      </p:sp>
      <p:sp>
        <p:nvSpPr>
          <p:cNvPr id="36" name="Text 7"/>
          <p:cNvSpPr/>
          <p:nvPr/>
        </p:nvSpPr>
        <p:spPr>
          <a:xfrm>
            <a:off x="495300" y="28194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200" dirty="0"/>
          </a:p>
        </p:txBody>
      </p:sp>
      <p:sp>
        <p:nvSpPr>
          <p:cNvPr id="37" name="Text 8"/>
          <p:cNvSpPr/>
          <p:nvPr/>
        </p:nvSpPr>
        <p:spPr>
          <a:xfrm>
            <a:off x="1211014" y="28194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 + RandomForest + MLP</a:t>
            </a:r>
            <a:endParaRPr lang="en-US" sz="1200" dirty="0"/>
          </a:p>
        </p:txBody>
      </p:sp>
      <p:sp>
        <p:nvSpPr>
          <p:cNvPr id="38" name="Text 9"/>
          <p:cNvSpPr/>
          <p:nvPr/>
        </p:nvSpPr>
        <p:spPr>
          <a:xfrm>
            <a:off x="3967907" y="28194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1200" dirty="0"/>
          </a:p>
        </p:txBody>
      </p:sp>
      <p:sp>
        <p:nvSpPr>
          <p:cNvPr id="39" name="Text 10"/>
          <p:cNvSpPr/>
          <p:nvPr/>
        </p:nvSpPr>
        <p:spPr>
          <a:xfrm>
            <a:off x="495300" y="34290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200" dirty="0"/>
          </a:p>
        </p:txBody>
      </p:sp>
      <p:sp>
        <p:nvSpPr>
          <p:cNvPr id="40" name="Text 11"/>
          <p:cNvSpPr/>
          <p:nvPr/>
        </p:nvSpPr>
        <p:spPr>
          <a:xfrm>
            <a:off x="1211014" y="34290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GradientBoosting + SVM(RBF)</a:t>
            </a:r>
            <a:endParaRPr lang="en-US" sz="1200" dirty="0"/>
          </a:p>
        </p:txBody>
      </p:sp>
      <p:sp>
        <p:nvSpPr>
          <p:cNvPr id="41" name="Text 12"/>
          <p:cNvSpPr/>
          <p:nvPr/>
        </p:nvSpPr>
        <p:spPr>
          <a:xfrm>
            <a:off x="3967907" y="34290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1200" dirty="0"/>
          </a:p>
        </p:txBody>
      </p:sp>
      <p:sp>
        <p:nvSpPr>
          <p:cNvPr id="42" name="Text 13"/>
          <p:cNvSpPr/>
          <p:nvPr/>
        </p:nvSpPr>
        <p:spPr>
          <a:xfrm>
            <a:off x="495300" y="40386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200" dirty="0"/>
          </a:p>
        </p:txBody>
      </p:sp>
      <p:sp>
        <p:nvSpPr>
          <p:cNvPr id="43" name="Text 14"/>
          <p:cNvSpPr/>
          <p:nvPr/>
        </p:nvSpPr>
        <p:spPr>
          <a:xfrm>
            <a:off x="1211014" y="40386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XGBoost + LightGBM</a:t>
            </a:r>
            <a:endParaRPr lang="en-US" sz="1200" dirty="0"/>
          </a:p>
        </p:txBody>
      </p:sp>
      <p:sp>
        <p:nvSpPr>
          <p:cNvPr id="44" name="Text 15"/>
          <p:cNvSpPr/>
          <p:nvPr/>
        </p:nvSpPr>
        <p:spPr>
          <a:xfrm>
            <a:off x="3967907" y="40386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 Boosting 계열 최적 조합</a:t>
            </a:r>
            <a:endParaRPr lang="en-US" sz="1200" dirty="0"/>
          </a:p>
        </p:txBody>
      </p:sp>
      <p:sp>
        <p:nvSpPr>
          <p:cNvPr id="45" name="Text 16"/>
          <p:cNvSpPr/>
          <p:nvPr/>
        </p:nvSpPr>
        <p:spPr>
          <a:xfrm>
            <a:off x="495300" y="46482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200" dirty="0"/>
          </a:p>
        </p:txBody>
      </p:sp>
      <p:sp>
        <p:nvSpPr>
          <p:cNvPr id="46" name="Text 17"/>
          <p:cNvSpPr/>
          <p:nvPr/>
        </p:nvSpPr>
        <p:spPr>
          <a:xfrm>
            <a:off x="1211014" y="46482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 + Linear SVM + LogisticRegression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3967907" y="46482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1200" dirty="0"/>
          </a:p>
        </p:txBody>
      </p:sp>
      <p:sp>
        <p:nvSpPr>
          <p:cNvPr id="48" name="Text 19"/>
          <p:cNvSpPr/>
          <p:nvPr/>
        </p:nvSpPr>
        <p:spPr>
          <a:xfrm>
            <a:off x="495300" y="52578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1211014" y="52578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 + SGD + MLP</a:t>
            </a:r>
            <a:endParaRPr lang="en-US" sz="1200" dirty="0"/>
          </a:p>
        </p:txBody>
      </p:sp>
      <p:sp>
        <p:nvSpPr>
          <p:cNvPr id="50" name="Text 21"/>
          <p:cNvSpPr/>
          <p:nvPr/>
        </p:nvSpPr>
        <p:spPr>
          <a:xfrm>
            <a:off x="3967907" y="52578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63246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모델 성능 비교</a:t>
            </a:r>
            <a:endParaRPr lang="en-US" sz="1500" dirty="0"/>
          </a:p>
        </p:txBody>
      </p:sp>
      <p:sp>
        <p:nvSpPr>
          <p:cNvPr id="52" name="Text 23"/>
          <p:cNvSpPr/>
          <p:nvPr/>
        </p:nvSpPr>
        <p:spPr>
          <a:xfrm>
            <a:off x="6324600" y="47625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53" name="Text 24"/>
          <p:cNvSpPr/>
          <p:nvPr/>
        </p:nvSpPr>
        <p:spPr>
          <a:xfrm>
            <a:off x="6324600" y="5105400"/>
            <a:ext cx="429857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균형 잡힌 성능을 보임</a:t>
            </a:r>
            <a:endParaRPr lang="en-US" sz="1200" dirty="0"/>
          </a:p>
        </p:txBody>
      </p:sp>
      <p:sp>
        <p:nvSpPr>
          <p:cNvPr id="54" name="Text 25"/>
          <p:cNvSpPr/>
          <p:nvPr/>
        </p:nvSpPr>
        <p:spPr>
          <a:xfrm>
            <a:off x="6324600" y="5410200"/>
            <a:ext cx="518608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신경망, 비선형 모델의 혼합이 예측 안정성을 높임</a:t>
            </a:r>
            <a:endParaRPr lang="en-US" sz="1200" dirty="0"/>
          </a:p>
        </p:txBody>
      </p:sp>
      <p:sp>
        <p:nvSpPr>
          <p:cNvPr id="55" name="Text 26"/>
          <p:cNvSpPr/>
          <p:nvPr/>
        </p:nvSpPr>
        <p:spPr>
          <a:xfrm>
            <a:off x="6324600" y="5715000"/>
            <a:ext cx="518608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메타모델로 로지스틱 회귀를 사용하여 성능과 해석 가능성을 동시에 추구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A5517-D784-2056-0606-266E47B1A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44E522C-D13A-7F00-31D1-F99882BB0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C5B553B-0193-656A-2C0B-2C6B71005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E58CFB5-D3AA-3B9B-AFA0-D0812BADEE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1112044"/>
          </a:xfrm>
          <a:prstGeom prst="rect">
            <a:avLst/>
          </a:prstGeom>
        </p:spPr>
      </p:pic>
      <p:pic>
        <p:nvPicPr>
          <p:cNvPr id="33" name="Image 31" descr="preencoded.png">
            <a:extLst>
              <a:ext uri="{FF2B5EF4-FFF2-40B4-BE49-F238E27FC236}">
                <a16:creationId xmlns:a16="http://schemas.microsoft.com/office/drawing/2014/main" id="{9EDEBDE1-B75B-84F1-A747-92CC45BD6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44" y="2260777"/>
            <a:ext cx="5684306" cy="1416488"/>
          </a:xfrm>
          <a:prstGeom prst="rect">
            <a:avLst/>
          </a:prstGeom>
        </p:spPr>
      </p:pic>
      <p:pic>
        <p:nvPicPr>
          <p:cNvPr id="35" name="Image 33" descr="preencoded.png">
            <a:extLst>
              <a:ext uri="{FF2B5EF4-FFF2-40B4-BE49-F238E27FC236}">
                <a16:creationId xmlns:a16="http://schemas.microsoft.com/office/drawing/2014/main" id="{5F509434-309A-26DC-F976-E2F8E2CD6B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>
            <a:extLst>
              <a:ext uri="{FF2B5EF4-FFF2-40B4-BE49-F238E27FC236}">
                <a16:creationId xmlns:a16="http://schemas.microsoft.com/office/drawing/2014/main" id="{0D70C464-8337-3FBA-177C-A13D7CE96485}"/>
              </a:ext>
            </a:extLst>
          </p:cNvPr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모델 평가 및 해석</a:t>
            </a:r>
            <a:endParaRPr lang="en-US" sz="22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10A1863D-4E99-6E85-87EA-B0F2660A94FE}"/>
              </a:ext>
            </a:extLst>
          </p:cNvPr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11/20</a:t>
            </a:r>
            <a:endParaRPr lang="en-US" sz="15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2B0D255-CEF4-4F2F-D9F5-E3A6A24DF851}"/>
              </a:ext>
            </a:extLst>
          </p:cNvPr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평가 지표 분석</a:t>
            </a:r>
            <a:endParaRPr lang="en-US" sz="15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DFB41CD7-96EB-5DA7-69C4-CBFDD4B5EA43}"/>
              </a:ext>
            </a:extLst>
          </p:cNvPr>
          <p:cNvSpPr/>
          <p:nvPr/>
        </p:nvSpPr>
        <p:spPr>
          <a:xfrm>
            <a:off x="819150" y="1467118"/>
            <a:ext cx="10333954" cy="44063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거래 탐지 모델을 다각도로 평가하고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 모델을 해석했습니다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Over-sampling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전략을 적용해 약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 실험을 진행했고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개를 선별해 평가했습니다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Text 31">
            <a:extLst>
              <a:ext uri="{FF2B5EF4-FFF2-40B4-BE49-F238E27FC236}">
                <a16:creationId xmlns:a16="http://schemas.microsoft.com/office/drawing/2014/main" id="{9A819A50-F5D3-2DCA-0BEC-3EBF92C9EFFF}"/>
              </a:ext>
            </a:extLst>
          </p:cNvPr>
          <p:cNvSpPr/>
          <p:nvPr/>
        </p:nvSpPr>
        <p:spPr>
          <a:xfrm>
            <a:off x="485744" y="3018365"/>
            <a:ext cx="4704442" cy="17524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모델의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하락 이유는 주로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(Recall)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</a:t>
            </a:r>
            <a:endParaRPr lang="en-US" sz="1200" dirty="0"/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D6D980B7-59D0-6944-3CE8-C3BDFD6FF2CD}"/>
              </a:ext>
            </a:extLst>
          </p:cNvPr>
          <p:cNvSpPr/>
          <p:nvPr/>
        </p:nvSpPr>
        <p:spPr>
          <a:xfrm>
            <a:off x="485744" y="3250381"/>
            <a:ext cx="5193839" cy="20633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언더샘플링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모델은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Top10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내에서도 성능이 가장 낮음</a:t>
            </a:r>
            <a:endParaRPr lang="en-US" sz="1200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831E1665-6909-E09C-3361-B24BA44F92FC}"/>
              </a:ext>
            </a:extLst>
          </p:cNvPr>
          <p:cNvSpPr/>
          <p:nvPr/>
        </p:nvSpPr>
        <p:spPr>
          <a:xfrm>
            <a:off x="473978" y="2402475"/>
            <a:ext cx="1228765" cy="2957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발견점</a:t>
            </a:r>
            <a:endParaRPr lang="en-US" sz="1500" dirty="0"/>
          </a:p>
        </p:txBody>
      </p:sp>
      <p:sp>
        <p:nvSpPr>
          <p:cNvPr id="70" name="Text 34">
            <a:extLst>
              <a:ext uri="{FF2B5EF4-FFF2-40B4-BE49-F238E27FC236}">
                <a16:creationId xmlns:a16="http://schemas.microsoft.com/office/drawing/2014/main" id="{26776AAC-A79D-EB50-5F7E-4C2A47F738AE}"/>
              </a:ext>
            </a:extLst>
          </p:cNvPr>
          <p:cNvSpPr/>
          <p:nvPr/>
        </p:nvSpPr>
        <p:spPr>
          <a:xfrm>
            <a:off x="485744" y="2777728"/>
            <a:ext cx="5417606" cy="2063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모델들이 전반 성능이 가장 높음</a:t>
            </a:r>
            <a:endParaRPr lang="en-US" sz="1200" dirty="0"/>
          </a:p>
        </p:txBody>
      </p:sp>
      <p:pic>
        <p:nvPicPr>
          <p:cNvPr id="75" name="Image 3" descr="preencoded.png">
            <a:extLst>
              <a:ext uri="{FF2B5EF4-FFF2-40B4-BE49-F238E27FC236}">
                <a16:creationId xmlns:a16="http://schemas.microsoft.com/office/drawing/2014/main" id="{844F08D9-678E-15E1-50DC-4022A0AF25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66" y="1236464"/>
            <a:ext cx="285750" cy="285750"/>
          </a:xfrm>
          <a:prstGeom prst="rect">
            <a:avLst/>
          </a:prstGeom>
        </p:spPr>
      </p:pic>
      <p:pic>
        <p:nvPicPr>
          <p:cNvPr id="97" name="그림 96">
            <a:extLst>
              <a:ext uri="{FF2B5EF4-FFF2-40B4-BE49-F238E27FC236}">
                <a16:creationId xmlns:a16="http://schemas.microsoft.com/office/drawing/2014/main" id="{7EC83088-9E21-DA9C-9125-F4D84974A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1291" y="3886815"/>
            <a:ext cx="5692059" cy="2628900"/>
          </a:xfrm>
          <a:prstGeom prst="rect">
            <a:avLst/>
          </a:prstGeom>
        </p:spPr>
      </p:pic>
      <p:pic>
        <p:nvPicPr>
          <p:cNvPr id="99" name="그림 98">
            <a:extLst>
              <a:ext uri="{FF2B5EF4-FFF2-40B4-BE49-F238E27FC236}">
                <a16:creationId xmlns:a16="http://schemas.microsoft.com/office/drawing/2014/main" id="{3A3C8D81-A000-B627-194E-B28ECB6E2CF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269433"/>
            <a:ext cx="5814060" cy="424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49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124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4495800" cy="5676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33500"/>
            <a:ext cx="22860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066800"/>
            <a:ext cx="6858000" cy="3352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1752600"/>
            <a:ext cx="6400800" cy="2438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572000"/>
            <a:ext cx="6858000" cy="2171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5305425"/>
            <a:ext cx="19050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5305425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6143625"/>
            <a:ext cx="190500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6143625"/>
            <a:ext cx="19050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7048500"/>
            <a:ext cx="12192000" cy="762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20955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향상 결과</a:t>
            </a:r>
            <a:endParaRPr lang="en-US" sz="2250" dirty="0"/>
          </a:p>
        </p:txBody>
      </p:sp>
      <p:sp>
        <p:nvSpPr>
          <p:cNvPr id="19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13/20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876300" y="1295400"/>
            <a:ext cx="4038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기법</a:t>
            </a:r>
            <a:endParaRPr lang="en-US" sz="1800" dirty="0"/>
          </a:p>
        </p:txBody>
      </p:sp>
      <p:sp>
        <p:nvSpPr>
          <p:cNvPr id="21" name="Text 3"/>
          <p:cNvSpPr/>
          <p:nvPr/>
        </p:nvSpPr>
        <p:spPr>
          <a:xfrm>
            <a:off x="533400" y="1752600"/>
            <a:ext cx="4038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합성 소수 과대표본추출 기법(SMOTE)은 균형 잡히지 않은 클래스 분포를 해결하기 위해 생성된 데이터 증식 기법입니다.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571500" y="2324100"/>
            <a:ext cx="480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소수 클래스(사기 거래)의 과대표본 추출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571500" y="26289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인공적인 데이터 포인트 생성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571500" y="29337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사기 거래 감지 능력 향상</a:t>
            </a:r>
            <a:endParaRPr lang="en-US" sz="1200" dirty="0"/>
          </a:p>
        </p:txBody>
      </p:sp>
      <p:sp>
        <p:nvSpPr>
          <p:cNvPr id="32" name="Text 14"/>
          <p:cNvSpPr/>
          <p:nvPr/>
        </p:nvSpPr>
        <p:spPr>
          <a:xfrm>
            <a:off x="5257800" y="12954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적용 효과</a:t>
            </a:r>
            <a:endParaRPr lang="en-US" sz="1800" dirty="0"/>
          </a:p>
        </p:txBody>
      </p:sp>
      <p:sp>
        <p:nvSpPr>
          <p:cNvPr id="33" name="Text 15"/>
          <p:cNvSpPr/>
          <p:nvPr/>
        </p:nvSpPr>
        <p:spPr>
          <a:xfrm>
            <a:off x="5257800" y="48006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800" dirty="0"/>
          </a:p>
        </p:txBody>
      </p:sp>
      <p:sp>
        <p:nvSpPr>
          <p:cNvPr id="34" name="Text 16"/>
          <p:cNvSpPr/>
          <p:nvPr/>
        </p:nvSpPr>
        <p:spPr>
          <a:xfrm>
            <a:off x="5562600" y="5219700"/>
            <a:ext cx="2819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SMOTE를 적용한 MLP 모델은 사기 거래를 완벽하게 탐지하며 높은 정밀도를 유지합니다.</a:t>
            </a:r>
            <a:endParaRPr lang="en-US" sz="1200" dirty="0"/>
          </a:p>
        </p:txBody>
      </p:sp>
      <p:sp>
        <p:nvSpPr>
          <p:cNvPr id="35" name="Text 17"/>
          <p:cNvSpPr/>
          <p:nvPr/>
        </p:nvSpPr>
        <p:spPr>
          <a:xfrm>
            <a:off x="8839200" y="52197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SMOTE는 균형 잡히지 않은 데이터셋에 대한 모델의 학습을 향상시킵니다.</a:t>
            </a:r>
            <a:endParaRPr lang="en-US" sz="1200" dirty="0"/>
          </a:p>
        </p:txBody>
      </p:sp>
      <p:sp>
        <p:nvSpPr>
          <p:cNvPr id="36" name="Text 18"/>
          <p:cNvSpPr/>
          <p:nvPr/>
        </p:nvSpPr>
        <p:spPr>
          <a:xfrm>
            <a:off x="55626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성능은 SMOTE 파라미터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조정에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감하게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영향을 받습니다.</a:t>
            </a:r>
            <a:endParaRPr lang="en-US" sz="1200" dirty="0"/>
          </a:p>
        </p:txBody>
      </p:sp>
      <p:sp>
        <p:nvSpPr>
          <p:cNvPr id="37" name="Text 19"/>
          <p:cNvSpPr/>
          <p:nvPr/>
        </p:nvSpPr>
        <p:spPr>
          <a:xfrm>
            <a:off x="88392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모델은 SMOTE와 이상치 처리를 결합한 것이 성능이 가장 좋습니다.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990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05100"/>
            <a:ext cx="3657600" cy="1752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6925" y="2943225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581400"/>
            <a:ext cx="3276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3581400"/>
            <a:ext cx="3276600" cy="285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2705100"/>
            <a:ext cx="3657600" cy="1752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3125" y="2943225"/>
            <a:ext cx="285750" cy="2857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57700" y="3581400"/>
            <a:ext cx="3276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81400"/>
            <a:ext cx="3274516" cy="285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2705100"/>
            <a:ext cx="3657600" cy="1752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0275" y="2943225"/>
            <a:ext cx="323850" cy="2857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3900" y="3581400"/>
            <a:ext cx="3276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3900" y="3581400"/>
            <a:ext cx="3275558" cy="2857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" y="4686300"/>
            <a:ext cx="11430000" cy="990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4947231"/>
            <a:ext cx="190500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5267325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 선택</a:t>
            </a:r>
            <a:endParaRPr lang="en-US" sz="2250" dirty="0"/>
          </a:p>
        </p:txBody>
      </p:sp>
      <p:sp>
        <p:nvSpPr>
          <p:cNvPr id="23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14/20</a:t>
            </a:r>
            <a:endParaRPr lang="en-US" sz="1500" dirty="0"/>
          </a:p>
        </p:txBody>
      </p:sp>
      <p:sp>
        <p:nvSpPr>
          <p:cNvPr id="24" name="Text 2"/>
          <p:cNvSpPr/>
          <p:nvPr/>
        </p:nvSpPr>
        <p:spPr>
          <a:xfrm>
            <a:off x="1066800" y="1333500"/>
            <a:ext cx="9906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모델: </a:t>
            </a:r>
            <a:r>
              <a:rPr 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Oversampling </a:t>
            </a:r>
            <a:r>
              <a:rPr lang="ko-KR" alt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altLang="ko-KR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oversample_capped_mlp</a:t>
            </a:r>
            <a:r>
              <a:rPr 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800" dirty="0"/>
          </a:p>
        </p:txBody>
      </p:sp>
      <p:sp>
        <p:nvSpPr>
          <p:cNvPr id="25" name="Text 3"/>
          <p:cNvSpPr/>
          <p:nvPr/>
        </p:nvSpPr>
        <p:spPr>
          <a:xfrm>
            <a:off x="1066800" y="1676400"/>
            <a:ext cx="1008888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'oversample_capped_mlp' 모델은 MLP 모델에 SMOTE 오버샘플링과 아웃라이어 캡핑 결합한 하이브리드 모델로, 사기 탐지에 최적화.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381000" y="22860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지표</a:t>
            </a:r>
            <a:endParaRPr lang="en-US" sz="1800" dirty="0"/>
          </a:p>
        </p:txBody>
      </p:sp>
      <p:sp>
        <p:nvSpPr>
          <p:cNvPr id="27" name="Text 5"/>
          <p:cNvSpPr/>
          <p:nvPr/>
        </p:nvSpPr>
        <p:spPr>
          <a:xfrm>
            <a:off x="1557338" y="3276600"/>
            <a:ext cx="15659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8" name="Text 6"/>
          <p:cNvSpPr/>
          <p:nvPr/>
        </p:nvSpPr>
        <p:spPr>
          <a:xfrm>
            <a:off x="17335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1.0000</a:t>
            </a:r>
            <a:endParaRPr lang="en-US" sz="2250" dirty="0"/>
          </a:p>
        </p:txBody>
      </p:sp>
      <p:sp>
        <p:nvSpPr>
          <p:cNvPr id="29" name="Text 7"/>
          <p:cNvSpPr/>
          <p:nvPr/>
        </p:nvSpPr>
        <p:spPr>
          <a:xfrm>
            <a:off x="5291138" y="3276600"/>
            <a:ext cx="19316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30" name="Text 8"/>
          <p:cNvSpPr/>
          <p:nvPr/>
        </p:nvSpPr>
        <p:spPr>
          <a:xfrm>
            <a:off x="56197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2250" dirty="0"/>
          </a:p>
        </p:txBody>
      </p:sp>
      <p:sp>
        <p:nvSpPr>
          <p:cNvPr id="31" name="Text 9"/>
          <p:cNvSpPr/>
          <p:nvPr/>
        </p:nvSpPr>
        <p:spPr>
          <a:xfrm>
            <a:off x="9144000" y="3276600"/>
            <a:ext cx="2011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F1-점수 (F1-Score)</a:t>
            </a:r>
            <a:endParaRPr lang="en-US" sz="1500" dirty="0"/>
          </a:p>
        </p:txBody>
      </p:sp>
      <p:sp>
        <p:nvSpPr>
          <p:cNvPr id="32" name="Text 10"/>
          <p:cNvSpPr/>
          <p:nvPr/>
        </p:nvSpPr>
        <p:spPr>
          <a:xfrm>
            <a:off x="95059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0.9997</a:t>
            </a:r>
            <a:endParaRPr lang="en-US" sz="2250" dirty="0"/>
          </a:p>
        </p:txBody>
      </p:sp>
      <p:sp>
        <p:nvSpPr>
          <p:cNvPr id="33" name="Text 11"/>
          <p:cNvSpPr/>
          <p:nvPr/>
        </p:nvSpPr>
        <p:spPr>
          <a:xfrm>
            <a:off x="583373" y="4785306"/>
            <a:ext cx="288003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 이유</a:t>
            </a:r>
            <a:endParaRPr lang="en-US" sz="1500" dirty="0"/>
          </a:p>
        </p:txBody>
      </p:sp>
      <p:sp>
        <p:nvSpPr>
          <p:cNvPr id="34" name="Text 12"/>
          <p:cNvSpPr/>
          <p:nvPr/>
        </p:nvSpPr>
        <p:spPr>
          <a:xfrm>
            <a:off x="6477000" y="4899606"/>
            <a:ext cx="3646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완벽한 재현율(1.0)으로 사기 거래를 100% 탐지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477000" y="5219700"/>
            <a:ext cx="4377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정밀도(0.9994)로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거래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최소화</a:t>
            </a:r>
            <a:endParaRPr lang="en-US" sz="12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5F10EE5A-FC2E-9DB3-8862-AB76395DD633}"/>
              </a:ext>
            </a:extLst>
          </p:cNvPr>
          <p:cNvSpPr/>
          <p:nvPr/>
        </p:nvSpPr>
        <p:spPr>
          <a:xfrm>
            <a:off x="571500" y="5086350"/>
            <a:ext cx="51435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(Capping)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구조의 조합이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불균형 데이터에서의 분류 경계를 효과적으로 학습한 결과로 해석 되었습니다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5715000" cy="1676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57300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4362450"/>
            <a:ext cx="57150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990600"/>
            <a:ext cx="5715000" cy="381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198" y="2047875"/>
            <a:ext cx="6554433" cy="2314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4953000"/>
            <a:ext cx="5715000" cy="1600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562600"/>
            <a:ext cx="9906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5562600"/>
            <a:ext cx="9906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0600" y="5562600"/>
            <a:ext cx="9906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7400" y="5562600"/>
            <a:ext cx="990600" cy="762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200" y="5562600"/>
            <a:ext cx="99060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10/20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800100" y="1219200"/>
            <a:ext cx="293477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다층 퍼셉트론 (MLP)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457200" y="1638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접근법은 복잡한 비선형 패턴을 포착하는 데 효과적이며, 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데이터의 숨겨진 패턴을 학습할 수 있습니다.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457200" y="22098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사기 거래의 복잡한 패턴을 포착하는 데 유리합니다.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457200" y="459105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457200" y="4972050"/>
            <a:ext cx="353525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모델은 높은 AUC 값을 보임 (0.9528)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457200" y="5276850"/>
            <a:ext cx="47973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 (0.8514)를 보이지만, 재현율은 상대적으로 낮음 (0.6429)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457200" y="558165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SMOTE와 결합된 MLP 모델 (oversample_capped_mlp)이 가장 우수한 성능을 보임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457200" y="6115050"/>
            <a:ext cx="499056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 거래를 포착하는 데에는 효과적이지만, 완벽한 모델은 아님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6477000" y="12192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아키텍처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6477000" y="51816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메트릭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5913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65151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800" dirty="0"/>
          </a:p>
        </p:txBody>
      </p:sp>
      <p:sp>
        <p:nvSpPr>
          <p:cNvPr id="30" name="Text 14"/>
          <p:cNvSpPr/>
          <p:nvPr/>
        </p:nvSpPr>
        <p:spPr>
          <a:xfrm>
            <a:off x="76581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75819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32" name="Text 16"/>
          <p:cNvSpPr/>
          <p:nvPr/>
        </p:nvSpPr>
        <p:spPr>
          <a:xfrm>
            <a:off x="87249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33" name="Text 17"/>
          <p:cNvSpPr/>
          <p:nvPr/>
        </p:nvSpPr>
        <p:spPr>
          <a:xfrm>
            <a:off x="86487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800" dirty="0"/>
          </a:p>
        </p:txBody>
      </p:sp>
      <p:sp>
        <p:nvSpPr>
          <p:cNvPr id="34" name="Text 18"/>
          <p:cNvSpPr/>
          <p:nvPr/>
        </p:nvSpPr>
        <p:spPr>
          <a:xfrm>
            <a:off x="97917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35" name="Text 19"/>
          <p:cNvSpPr/>
          <p:nvPr/>
        </p:nvSpPr>
        <p:spPr>
          <a:xfrm>
            <a:off x="97155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800" dirty="0"/>
          </a:p>
        </p:txBody>
      </p:sp>
      <p:sp>
        <p:nvSpPr>
          <p:cNvPr id="36" name="Text 20"/>
          <p:cNvSpPr/>
          <p:nvPr/>
        </p:nvSpPr>
        <p:spPr>
          <a:xfrm>
            <a:off x="10782300" y="5676900"/>
            <a:ext cx="91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37" name="Text 21"/>
          <p:cNvSpPr/>
          <p:nvPr/>
        </p:nvSpPr>
        <p:spPr>
          <a:xfrm>
            <a:off x="107823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800" dirty="0"/>
          </a:p>
        </p:txBody>
      </p:sp>
      <p:pic>
        <p:nvPicPr>
          <p:cNvPr id="38" name="Image 2" descr="preencoded.png">
            <a:extLst>
              <a:ext uri="{FF2B5EF4-FFF2-40B4-BE49-F238E27FC236}">
                <a16:creationId xmlns:a16="http://schemas.microsoft.com/office/drawing/2014/main" id="{114E7C14-E4D3-36B5-5E87-AC552B6FDD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781300"/>
            <a:ext cx="5715000" cy="1466850"/>
          </a:xfrm>
          <a:prstGeom prst="rect">
            <a:avLst/>
          </a:prstGeom>
        </p:spPr>
      </p:pic>
      <p:sp>
        <p:nvSpPr>
          <p:cNvPr id="40" name="Text 7">
            <a:extLst>
              <a:ext uri="{FF2B5EF4-FFF2-40B4-BE49-F238E27FC236}">
                <a16:creationId xmlns:a16="http://schemas.microsoft.com/office/drawing/2014/main" id="{2C8F4D9D-3FEF-2A96-87D4-D143EE6BC251}"/>
              </a:ext>
            </a:extLst>
          </p:cNvPr>
          <p:cNvSpPr/>
          <p:nvPr/>
        </p:nvSpPr>
        <p:spPr>
          <a:xfrm>
            <a:off x="555938" y="3220121"/>
            <a:ext cx="4797380" cy="2088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 변수의 비선형적 관계를 잘 표현합니다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A7BB7BCB-201B-01B9-5383-C3D9C1BF3AB3}"/>
              </a:ext>
            </a:extLst>
          </p:cNvPr>
          <p:cNvSpPr/>
          <p:nvPr/>
        </p:nvSpPr>
        <p:spPr>
          <a:xfrm>
            <a:off x="457200" y="287655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장단점</a:t>
            </a:r>
            <a:endParaRPr lang="en-US" sz="150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E33A5720-470D-4134-AAF9-00D213CBFBEB}"/>
              </a:ext>
            </a:extLst>
          </p:cNvPr>
          <p:cNvSpPr/>
          <p:nvPr/>
        </p:nvSpPr>
        <p:spPr>
          <a:xfrm>
            <a:off x="6736616" y="1957623"/>
            <a:ext cx="1385767" cy="4078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입력층</a:t>
            </a:r>
            <a:endParaRPr lang="en-US" sz="1500" b="1" dirty="0">
              <a:solidFill>
                <a:srgbClr val="4A0E4E"/>
              </a:solidFill>
            </a:endParaRPr>
          </a:p>
        </p:txBody>
      </p:sp>
      <p:sp>
        <p:nvSpPr>
          <p:cNvPr id="43" name="Text 5">
            <a:extLst>
              <a:ext uri="{FF2B5EF4-FFF2-40B4-BE49-F238E27FC236}">
                <a16:creationId xmlns:a16="http://schemas.microsoft.com/office/drawing/2014/main" id="{561F77CC-80A4-8265-09D4-DAFCB566D160}"/>
              </a:ext>
            </a:extLst>
          </p:cNvPr>
          <p:cNvSpPr/>
          <p:nvPr/>
        </p:nvSpPr>
        <p:spPr>
          <a:xfrm>
            <a:off x="8724900" y="1957623"/>
            <a:ext cx="1385767" cy="4420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은닉층</a:t>
            </a:r>
            <a:endParaRPr lang="en-US" altLang="ko-KR" sz="1500" b="1" dirty="0">
              <a:solidFill>
                <a:srgbClr val="4A0E4E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>
              <a:solidFill>
                <a:srgbClr val="4A0E4E"/>
              </a:solidFill>
            </a:endParaRPr>
          </a:p>
        </p:txBody>
      </p:sp>
      <p:sp>
        <p:nvSpPr>
          <p:cNvPr id="44" name="Text 5">
            <a:extLst>
              <a:ext uri="{FF2B5EF4-FFF2-40B4-BE49-F238E27FC236}">
                <a16:creationId xmlns:a16="http://schemas.microsoft.com/office/drawing/2014/main" id="{4C63ACBA-6D41-2040-27E5-B4A573C3E9AA}"/>
              </a:ext>
            </a:extLst>
          </p:cNvPr>
          <p:cNvSpPr/>
          <p:nvPr/>
        </p:nvSpPr>
        <p:spPr>
          <a:xfrm>
            <a:off x="10668000" y="1957623"/>
            <a:ext cx="1385767" cy="4078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출력층</a:t>
            </a:r>
            <a:endParaRPr lang="en-US" altLang="ko-KR" sz="1500" b="1" dirty="0">
              <a:solidFill>
                <a:srgbClr val="4A0E4E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>
              <a:solidFill>
                <a:srgbClr val="4A0E4E"/>
              </a:solidFill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3A7CBCB8-644C-7625-93BB-46A0DA4001DB}"/>
              </a:ext>
            </a:extLst>
          </p:cNvPr>
          <p:cNvSpPr/>
          <p:nvPr/>
        </p:nvSpPr>
        <p:spPr>
          <a:xfrm>
            <a:off x="555938" y="3468442"/>
            <a:ext cx="4797380" cy="2082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데이터가 많아도 메타모델을 생성할 수 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560F8589-B8F8-B6C3-1552-E22A69657FE1}"/>
              </a:ext>
            </a:extLst>
          </p:cNvPr>
          <p:cNvSpPr/>
          <p:nvPr/>
        </p:nvSpPr>
        <p:spPr>
          <a:xfrm>
            <a:off x="553790" y="3705224"/>
            <a:ext cx="5257799" cy="2082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Hidden Layer / Neuron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활성함수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형태등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의존변수를 주의해야 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9E26592F-14A7-C32C-D3CB-360E249A111A}"/>
              </a:ext>
            </a:extLst>
          </p:cNvPr>
          <p:cNvSpPr/>
          <p:nvPr/>
        </p:nvSpPr>
        <p:spPr>
          <a:xfrm>
            <a:off x="555938" y="3943350"/>
            <a:ext cx="47973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생성을 위한 학습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(training)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많이 소요됩니다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181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" y="1304925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25700"/>
            <a:ext cx="5638800" cy="2019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4648200"/>
            <a:ext cx="56388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380999" y="209550"/>
            <a:ext cx="701147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중요도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(Feature Importance) 분석</a:t>
            </a:r>
            <a:endParaRPr lang="en-US" sz="2250" dirty="0"/>
          </a:p>
        </p:txBody>
      </p:sp>
      <p:sp>
        <p:nvSpPr>
          <p:cNvPr id="12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15/20</a:t>
            </a:r>
            <a:endParaRPr lang="en-US" sz="1500" dirty="0"/>
          </a:p>
        </p:txBody>
      </p:sp>
      <p:sp>
        <p:nvSpPr>
          <p:cNvPr id="13" name="Text 2"/>
          <p:cNvSpPr/>
          <p:nvPr/>
        </p:nvSpPr>
        <p:spPr>
          <a:xfrm>
            <a:off x="933450" y="1257300"/>
            <a:ext cx="10763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중요도란?</a:t>
            </a:r>
            <a:endParaRPr lang="en-US" sz="1500" dirty="0"/>
          </a:p>
        </p:txBody>
      </p:sp>
      <p:sp>
        <p:nvSpPr>
          <p:cNvPr id="14" name="Text 3"/>
          <p:cNvSpPr/>
          <p:nvPr/>
        </p:nvSpPr>
        <p:spPr>
          <a:xfrm>
            <a:off x="933450" y="1600200"/>
            <a:ext cx="10763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Permutation Importance와 SHAP 분석을 통해 모델의 예측에 가장 큰 영향을 미친 특징을 식별했습니다. 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선정된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결정트리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계열 모델처럼 명시적인 분기 규칙을 제공하지 않기 때문에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분석은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결정 과정을 이해하는 데 도움이 됩니다.</a:t>
            </a:r>
            <a:endParaRPr lang="en-US" sz="1200" dirty="0"/>
          </a:p>
        </p:txBody>
      </p:sp>
      <p:sp>
        <p:nvSpPr>
          <p:cNvPr id="16" name="Text 5"/>
          <p:cNvSpPr/>
          <p:nvPr/>
        </p:nvSpPr>
        <p:spPr>
          <a:xfrm>
            <a:off x="6438900" y="26162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 사항</a:t>
            </a:r>
            <a:endParaRPr lang="en-US" sz="1500" dirty="0"/>
          </a:p>
        </p:txBody>
      </p:sp>
      <p:sp>
        <p:nvSpPr>
          <p:cNvPr id="17" name="Text 6"/>
          <p:cNvSpPr/>
          <p:nvPr/>
        </p:nvSpPr>
        <p:spPr>
          <a:xfrm>
            <a:off x="6438900" y="2959100"/>
            <a:ext cx="4876800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V4, V3, V10이 가장 영향력 있는 PCA 변환 특징으로 식별되었습니다</a:t>
            </a:r>
            <a:endParaRPr lang="en-US" sz="1200" dirty="0"/>
          </a:p>
        </p:txBody>
      </p:sp>
      <p:sp>
        <p:nvSpPr>
          <p:cNvPr id="18" name="Text 7"/>
          <p:cNvSpPr/>
          <p:nvPr/>
        </p:nvSpPr>
        <p:spPr>
          <a:xfrm>
            <a:off x="6438900" y="32639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이러한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변수들은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사기 거래를 합법적 거래와 구별하는 데 핵심적인 패턴을 캡처합니다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6438900" y="3797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반복적으로 나타내는 이상 패턴은 사기 활동에서 공통적으로 관찰되는 특성입니다</a:t>
            </a:r>
            <a:endParaRPr lang="en-US" sz="1200" dirty="0"/>
          </a:p>
        </p:txBody>
      </p:sp>
      <p:sp>
        <p:nvSpPr>
          <p:cNvPr id="20" name="Text 9"/>
          <p:cNvSpPr/>
          <p:nvPr/>
        </p:nvSpPr>
        <p:spPr>
          <a:xfrm>
            <a:off x="6438900" y="48387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영향</a:t>
            </a:r>
            <a:endParaRPr lang="en-US" sz="1500" dirty="0"/>
          </a:p>
        </p:txBody>
      </p:sp>
      <p:sp>
        <p:nvSpPr>
          <p:cNvPr id="21" name="Text 10"/>
          <p:cNvSpPr/>
          <p:nvPr/>
        </p:nvSpPr>
        <p:spPr>
          <a:xfrm>
            <a:off x="6438900" y="5181600"/>
            <a:ext cx="5257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가능한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변수로 변환될 경우, 해당 변수들의 이상값은 사기 탐지 시 중요한 신호로 작용할 수 있습니다. 또한, 이 변수들이 나타내는 패턴은 새로운 사기 기법에 대한 인식에 기여할 수 있습니다.</a:t>
            </a:r>
            <a:endParaRPr lang="en-US" sz="1200" dirty="0"/>
          </a:p>
        </p:txBody>
      </p:sp>
      <p:pic>
        <p:nvPicPr>
          <p:cNvPr id="22" name="Picture 7">
            <a:extLst>
              <a:ext uri="{FF2B5EF4-FFF2-40B4-BE49-F238E27FC236}">
                <a16:creationId xmlns:a16="http://schemas.microsoft.com/office/drawing/2014/main" id="{491EB056-E179-FCE7-15AC-3B1FD113F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2425700"/>
            <a:ext cx="5753100" cy="416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571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866900"/>
            <a:ext cx="5676900" cy="140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" y="2105025"/>
            <a:ext cx="247650" cy="285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866900"/>
            <a:ext cx="5676900" cy="1409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105025"/>
            <a:ext cx="2857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3505200"/>
            <a:ext cx="56769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" y="3743325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505200"/>
            <a:ext cx="5676900" cy="1409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43325"/>
            <a:ext cx="285750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209550"/>
            <a:ext cx="16916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한계점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16/20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457200" y="1219199"/>
            <a:ext cx="11239500" cy="295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신용카드 사기 탐지 모델 개발에 있어 중요한 한계점을 가지고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350" dirty="0"/>
          </a:p>
        </p:txBody>
      </p:sp>
      <p:sp>
        <p:nvSpPr>
          <p:cNvPr id="17" name="Text 3"/>
          <p:cNvSpPr/>
          <p:nvPr/>
        </p:nvSpPr>
        <p:spPr>
          <a:xfrm>
            <a:off x="895350" y="2057400"/>
            <a:ext cx="4895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익명화 제약</a:t>
            </a:r>
            <a:endParaRPr lang="en-US" sz="1500" dirty="0"/>
          </a:p>
        </p:txBody>
      </p:sp>
      <p:sp>
        <p:nvSpPr>
          <p:cNvPr id="18" name="Text 4"/>
          <p:cNvSpPr/>
          <p:nvPr/>
        </p:nvSpPr>
        <p:spPr>
          <a:xfrm>
            <a:off x="895350" y="2400300"/>
            <a:ext cx="48958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변수(V1-V28)는 개인정보 보호를 위해 익명화되었지만, 비즈니스 해석이 어렵습니다. 이로 인해 왜 특정 거래가 사기로 신호될지 설명하기 어려워 rule-based 시스템과의 통합이 필요합니다.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6838950" y="20574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분할 문제</a:t>
            </a:r>
            <a:endParaRPr lang="en-US" sz="1500" dirty="0"/>
          </a:p>
        </p:txBody>
      </p:sp>
      <p:sp>
        <p:nvSpPr>
          <p:cNvPr id="20" name="Text 6"/>
          <p:cNvSpPr/>
          <p:nvPr/>
        </p:nvSpPr>
        <p:spPr>
          <a:xfrm>
            <a:off x="6838950" y="24003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랜덤 분할을 사용한 반면, 실제 월드 시나리오에서는 과거 데이터를 기반으로 향후 사기 패턴을 예측해야 합니다. 시간 기반 분할이나 rolling window 교차 검증이 필요합니다.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9334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과적합 우려</a:t>
            </a:r>
            <a:endParaRPr lang="en-US" sz="1500" dirty="0"/>
          </a:p>
        </p:txBody>
      </p:sp>
      <p:sp>
        <p:nvSpPr>
          <p:cNvPr id="22" name="Text 8"/>
          <p:cNvSpPr/>
          <p:nvPr/>
        </p:nvSpPr>
        <p:spPr>
          <a:xfrm>
            <a:off x="933450" y="40386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near-perfect 성능 지표(AUC=1.0)는 실제 월드 금융 데이터에서는 드물습니다. SMOTE 오버샘플링과의 상호작용으로 인해 모델이 훈련 데이터에 과적합되었을 가능성이 있습니다.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68389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설명 가능성 과제</a:t>
            </a:r>
            <a:endParaRPr lang="en-US" sz="1500" dirty="0"/>
          </a:p>
        </p:txBody>
      </p:sp>
      <p:sp>
        <p:nvSpPr>
          <p:cNvPr id="24" name="Text 10"/>
          <p:cNvSpPr/>
          <p:nvPr/>
        </p:nvSpPr>
        <p:spPr>
          <a:xfrm>
            <a:off x="6838950" y="40386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MLPClassifier는 "블랙박스" 모델로, 개별 피처의 기여도를 직관적으로 설명하기 어렵습니다. 이는 규제 요구사항과 신뢰 구축을 위해 문제가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3708350" cy="3771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95400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" y="142875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0574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5908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31242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695700"/>
            <a:ext cx="3251150" cy="914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1750" y="1066800"/>
            <a:ext cx="3708350" cy="3771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350" y="1295400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41800" y="142875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0574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8194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0350" y="3924300"/>
            <a:ext cx="3251150" cy="685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8701" y="1066800"/>
            <a:ext cx="3708499" cy="3771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07301" y="1295400"/>
            <a:ext cx="571500" cy="571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78751" y="1428750"/>
            <a:ext cx="2286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0574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819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07301" y="3924300"/>
            <a:ext cx="3251299" cy="685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향상 전략</a:t>
            </a:r>
            <a:endParaRPr lang="en-US" sz="2250" dirty="0"/>
          </a:p>
        </p:txBody>
      </p:sp>
      <p:sp>
        <p:nvSpPr>
          <p:cNvPr id="2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18/20</a:t>
            </a:r>
            <a:endParaRPr lang="en-US" sz="1500" dirty="0"/>
          </a:p>
        </p:txBody>
      </p:sp>
      <p:sp>
        <p:nvSpPr>
          <p:cNvPr id="26" name="Text 2"/>
          <p:cNvSpPr/>
          <p:nvPr/>
        </p:nvSpPr>
        <p:spPr>
          <a:xfrm>
            <a:off x="1257300" y="1447800"/>
            <a:ext cx="24688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조합의 체계적 비교</a:t>
            </a:r>
            <a:endParaRPr lang="en-US" sz="1500" dirty="0"/>
          </a:p>
        </p:txBody>
      </p:sp>
      <p:sp>
        <p:nvSpPr>
          <p:cNvPr id="27" name="Text 3"/>
          <p:cNvSpPr/>
          <p:nvPr/>
        </p:nvSpPr>
        <p:spPr>
          <a:xfrm>
            <a:off x="762000" y="2019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(원본, 이상치 캡핑, 표준화, 로버스트 스케일링)</a:t>
            </a:r>
            <a:endParaRPr lang="en-US" sz="1200" dirty="0"/>
          </a:p>
        </p:txBody>
      </p:sp>
      <p:sp>
        <p:nvSpPr>
          <p:cNvPr id="28" name="Text 4"/>
          <p:cNvSpPr/>
          <p:nvPr/>
        </p:nvSpPr>
        <p:spPr>
          <a:xfrm>
            <a:off x="762000" y="25527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(없음, 언더샘플링, SMOTE, SMOTE+언더샘플링)</a:t>
            </a:r>
            <a:endParaRPr lang="en-US" sz="1200" dirty="0"/>
          </a:p>
        </p:txBody>
      </p:sp>
      <p:sp>
        <p:nvSpPr>
          <p:cNvPr id="29" name="Text 5"/>
          <p:cNvSpPr/>
          <p:nvPr/>
        </p:nvSpPr>
        <p:spPr>
          <a:xfrm>
            <a:off x="762000" y="30861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(로지스틱 회귀, 랜덤 포레스트, XGBoost, LightGBM, CatBoost, MLP, SVM)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647700" y="38100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HyperOpt 기반 시스템 구축 및 Recall, Precision, F1, F2, ROC-AUC 메트릭 기준 비교 대시보드 개발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5194250" y="1447800"/>
            <a:ext cx="19888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임계값 조정</a:t>
            </a:r>
            <a:endParaRPr lang="en-US" sz="1500" dirty="0"/>
          </a:p>
        </p:txBody>
      </p:sp>
      <p:sp>
        <p:nvSpPr>
          <p:cNvPr id="32" name="Text 8"/>
          <p:cNvSpPr/>
          <p:nvPr/>
        </p:nvSpPr>
        <p:spPr>
          <a:xfrm>
            <a:off x="4698950" y="20193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F2-score 최적화 또는 사기 감지 vs 합법적 거래 차단의 금융 영향을 반영한 비용 민감 목적 함수 설계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4698950" y="2781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그리드 서치 또는 베이esian 최적화를 사용한 하이퍼파라미터 및 임계값 연합 최적화</a:t>
            </a:r>
            <a:endParaRPr lang="en-US" sz="1200" dirty="0"/>
          </a:p>
        </p:txBody>
      </p:sp>
      <p:sp>
        <p:nvSpPr>
          <p:cNvPr id="34" name="Text 10"/>
          <p:cNvSpPr/>
          <p:nvPr/>
        </p:nvSpPr>
        <p:spPr>
          <a:xfrm>
            <a:off x="4584650" y="40386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성능과 실제 비즈니스 영향을 동시에 고려한 적절한 임계값 자동 조정 시스템 개발</a:t>
            </a:r>
            <a:endParaRPr lang="en-US" sz="1200" dirty="0"/>
          </a:p>
        </p:txBody>
      </p:sp>
      <p:sp>
        <p:nvSpPr>
          <p:cNvPr id="35" name="Text 11"/>
          <p:cNvSpPr/>
          <p:nvPr/>
        </p:nvSpPr>
        <p:spPr>
          <a:xfrm>
            <a:off x="9131201" y="1447800"/>
            <a:ext cx="1577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 딥러닝 기법</a:t>
            </a:r>
            <a:endParaRPr lang="en-US" sz="1500" dirty="0"/>
          </a:p>
        </p:txBody>
      </p:sp>
      <p:sp>
        <p:nvSpPr>
          <p:cNvPr id="36" name="Text 12"/>
          <p:cNvSpPr/>
          <p:nvPr/>
        </p:nvSpPr>
        <p:spPr>
          <a:xfrm>
            <a:off x="8635901" y="2019300"/>
            <a:ext cx="3022699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RNN/LSTM, Temporal CNN, Transformer 기반 모델, Graph Neural Networks(GNN) 등 시계열 거래 패턴 고려</a:t>
            </a:r>
            <a:endParaRPr lang="en-US" sz="1200" dirty="0"/>
          </a:p>
        </p:txBody>
      </p:sp>
      <p:sp>
        <p:nvSpPr>
          <p:cNvPr id="37" name="Text 13"/>
          <p:cNvSpPr/>
          <p:nvPr/>
        </p:nvSpPr>
        <p:spPr>
          <a:xfrm>
            <a:off x="8635901" y="2781300"/>
            <a:ext cx="3022699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Voting/Stacking을 넘어 Blending, Weighted Ensemble, Stacked Generalization with calibrated probabilities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8521601" y="4038600"/>
            <a:ext cx="302269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의존성과 복잡한 패턴을 포착할 수 있는 고급 딥러닝 모델 및 앙상블 기법 도입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5638800" cy="5010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33500"/>
            <a:ext cx="1714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828800"/>
            <a:ext cx="2514600" cy="1933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4950" y="1981200"/>
            <a:ext cx="571500" cy="571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0688" y="2114550"/>
            <a:ext cx="200025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1828800"/>
            <a:ext cx="2514600" cy="19335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71950" y="1981200"/>
            <a:ext cx="571500" cy="571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43400" y="211455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914775"/>
            <a:ext cx="2514600" cy="193357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04950" y="4067175"/>
            <a:ext cx="571500" cy="571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62113" y="42005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3914775"/>
            <a:ext cx="2514600" cy="193357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1950" y="4067175"/>
            <a:ext cx="571500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4825" y="4200525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066800"/>
            <a:ext cx="5638800" cy="50101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1333500"/>
            <a:ext cx="285750" cy="228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1828800"/>
            <a:ext cx="2514600" cy="1933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8550" y="19812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20000" y="2114550"/>
            <a:ext cx="228600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1828800"/>
            <a:ext cx="2514600" cy="1933575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15550" y="1981200"/>
            <a:ext cx="571500" cy="571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87000" y="2114550"/>
            <a:ext cx="22860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914775"/>
            <a:ext cx="2514600" cy="1933575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48550" y="4067175"/>
            <a:ext cx="571500" cy="5715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4200525"/>
            <a:ext cx="228600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3914775"/>
            <a:ext cx="2514600" cy="1933575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15550" y="4067175"/>
            <a:ext cx="571500" cy="5715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287000" y="4200525"/>
            <a:ext cx="228600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381000" y="209550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구현 고려사항</a:t>
            </a:r>
            <a:endParaRPr lang="en-US" sz="2250" dirty="0"/>
          </a:p>
        </p:txBody>
      </p:sp>
      <p:sp>
        <p:nvSpPr>
          <p:cNvPr id="34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19/20</a:t>
            </a:r>
            <a:endParaRPr lang="en-US" sz="1500" dirty="0"/>
          </a:p>
        </p:txBody>
      </p:sp>
      <p:sp>
        <p:nvSpPr>
          <p:cNvPr id="35" name="Text 2"/>
          <p:cNvSpPr/>
          <p:nvPr/>
        </p:nvSpPr>
        <p:spPr>
          <a:xfrm>
            <a:off x="819150" y="1295400"/>
            <a:ext cx="6217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탐지를 위한 경량 모델 개발</a:t>
            </a:r>
            <a:endParaRPr lang="en-US" sz="1800" dirty="0"/>
          </a:p>
        </p:txBody>
      </p:sp>
      <p:sp>
        <p:nvSpPr>
          <p:cNvPr id="36" name="Text 3"/>
          <p:cNvSpPr/>
          <p:nvPr/>
        </p:nvSpPr>
        <p:spPr>
          <a:xfrm>
            <a:off x="464820" y="2695575"/>
            <a:ext cx="2651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모델 최적화</a:t>
            </a:r>
            <a:endParaRPr lang="en-US" sz="1350" dirty="0"/>
          </a:p>
        </p:txBody>
      </p:sp>
      <p:sp>
        <p:nvSpPr>
          <p:cNvPr id="37" name="Text 4"/>
          <p:cNvSpPr/>
          <p:nvPr/>
        </p:nvSpPr>
        <p:spPr>
          <a:xfrm>
            <a:off x="6858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CatBoost, XGBoost와 같은 복잡한 모델의 경우 feature reduction, 얕은 트리, 양자화 기법을 적용</a:t>
            </a:r>
            <a:endParaRPr lang="en-US" sz="1050" dirty="0"/>
          </a:p>
        </p:txBody>
      </p:sp>
      <p:sp>
        <p:nvSpPr>
          <p:cNvPr id="38" name="Text 5"/>
          <p:cNvSpPr/>
          <p:nvPr/>
        </p:nvSpPr>
        <p:spPr>
          <a:xfrm>
            <a:off x="33528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축소</a:t>
            </a:r>
            <a:endParaRPr lang="en-US" sz="1350" dirty="0"/>
          </a:p>
        </p:txBody>
      </p:sp>
      <p:sp>
        <p:nvSpPr>
          <p:cNvPr id="39" name="Text 6"/>
          <p:cNvSpPr/>
          <p:nvPr/>
        </p:nvSpPr>
        <p:spPr>
          <a:xfrm>
            <a:off x="33528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모델의 레이어와 뉴런 수를 줄이고, ONNX 포맷으로 변환하여 서버/클라우드 환경에서 효율적으로 배포</a:t>
            </a:r>
            <a:endParaRPr lang="en-US" sz="1050" dirty="0"/>
          </a:p>
        </p:txBody>
      </p:sp>
      <p:sp>
        <p:nvSpPr>
          <p:cNvPr id="40" name="Text 7"/>
          <p:cNvSpPr/>
          <p:nvPr/>
        </p:nvSpPr>
        <p:spPr>
          <a:xfrm>
            <a:off x="6858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속도 향상</a:t>
            </a:r>
            <a:endParaRPr lang="en-US" sz="1350" dirty="0"/>
          </a:p>
        </p:txBody>
      </p:sp>
      <p:sp>
        <p:nvSpPr>
          <p:cNvPr id="41" name="Text 8"/>
          <p:cNvSpPr/>
          <p:nvPr/>
        </p:nvSpPr>
        <p:spPr>
          <a:xfrm>
            <a:off x="6858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압축 및 최적화를 통해 추론 시간을 최소화하여 실시간 거래 처리 가능하도록 함</a:t>
            </a:r>
            <a:endParaRPr lang="en-US" sz="1050" dirty="0"/>
          </a:p>
        </p:txBody>
      </p:sp>
      <p:sp>
        <p:nvSpPr>
          <p:cNvPr id="42" name="Text 9"/>
          <p:cNvSpPr/>
          <p:nvPr/>
        </p:nvSpPr>
        <p:spPr>
          <a:xfrm>
            <a:off x="33528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교체 전략</a:t>
            </a:r>
            <a:endParaRPr lang="en-US" sz="1350" dirty="0"/>
          </a:p>
        </p:txBody>
      </p:sp>
      <p:sp>
        <p:nvSpPr>
          <p:cNvPr id="43" name="Text 10"/>
          <p:cNvSpPr/>
          <p:nvPr/>
        </p:nvSpPr>
        <p:spPr>
          <a:xfrm>
            <a:off x="33528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원활한 모델 업데이트를 위해 새로운 버전 모델과의 호환성 유지 및 점진적 전환 전략 수립</a:t>
            </a:r>
            <a:endParaRPr lang="en-US" sz="1050" dirty="0"/>
          </a:p>
        </p:txBody>
      </p:sp>
      <p:sp>
        <p:nvSpPr>
          <p:cNvPr id="44" name="Text 11"/>
          <p:cNvSpPr/>
          <p:nvPr/>
        </p:nvSpPr>
        <p:spPr>
          <a:xfrm>
            <a:off x="6877050" y="1295400"/>
            <a:ext cx="518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 및 재훈련 파이프라인</a:t>
            </a:r>
            <a:endParaRPr lang="en-US" sz="1800" dirty="0"/>
          </a:p>
        </p:txBody>
      </p:sp>
      <p:sp>
        <p:nvSpPr>
          <p:cNvPr id="45" name="Text 12"/>
          <p:cNvSpPr/>
          <p:nvPr/>
        </p:nvSpPr>
        <p:spPr>
          <a:xfrm>
            <a:off x="66294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모니터링</a:t>
            </a:r>
            <a:endParaRPr lang="en-US" sz="1350" dirty="0"/>
          </a:p>
        </p:txBody>
      </p:sp>
      <p:sp>
        <p:nvSpPr>
          <p:cNvPr id="46" name="Text 13"/>
          <p:cNvSpPr/>
          <p:nvPr/>
        </p:nvSpPr>
        <p:spPr>
          <a:xfrm>
            <a:off x="66294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일간/주간/월간 정기적 Recall, Precision, F1/F2 점수 모니터링 및 알림 시스템 구축</a:t>
            </a:r>
            <a:endParaRPr lang="en-US" sz="1050" dirty="0"/>
          </a:p>
        </p:txBody>
      </p:sp>
      <p:sp>
        <p:nvSpPr>
          <p:cNvPr id="47" name="Text 14"/>
          <p:cNvSpPr/>
          <p:nvPr/>
        </p:nvSpPr>
        <p:spPr>
          <a:xfrm>
            <a:off x="92964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드리프트 감지</a:t>
            </a:r>
            <a:endParaRPr lang="en-US" sz="1350" dirty="0"/>
          </a:p>
        </p:txBody>
      </p:sp>
      <p:sp>
        <p:nvSpPr>
          <p:cNvPr id="48" name="Text 15"/>
          <p:cNvSpPr/>
          <p:nvPr/>
        </p:nvSpPr>
        <p:spPr>
          <a:xfrm>
            <a:off x="92964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금액, 시간 패턴 등의 입력 분포 변화 및 사기 패턴 진화 감지 알고리즘 개발</a:t>
            </a:r>
            <a:endParaRPr lang="en-US" sz="1050" dirty="0"/>
          </a:p>
        </p:txBody>
      </p:sp>
      <p:sp>
        <p:nvSpPr>
          <p:cNvPr id="49" name="Text 16"/>
          <p:cNvSpPr/>
          <p:nvPr/>
        </p:nvSpPr>
        <p:spPr>
          <a:xfrm>
            <a:off x="66294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재훈련</a:t>
            </a:r>
            <a:endParaRPr lang="en-US" sz="1350" dirty="0"/>
          </a:p>
        </p:txBody>
      </p:sp>
      <p:sp>
        <p:nvSpPr>
          <p:cNvPr id="50" name="Text 17"/>
          <p:cNvSpPr/>
          <p:nvPr/>
        </p:nvSpPr>
        <p:spPr>
          <a:xfrm>
            <a:off x="66294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저하 감지 시 자동으로 재훈련 파이프라인 실행 및 모델 버전 관리 시스템 구축</a:t>
            </a:r>
            <a:endParaRPr lang="en-US" sz="1050" dirty="0"/>
          </a:p>
        </p:txBody>
      </p:sp>
      <p:sp>
        <p:nvSpPr>
          <p:cNvPr id="51" name="Text 18"/>
          <p:cNvSpPr/>
          <p:nvPr/>
        </p:nvSpPr>
        <p:spPr>
          <a:xfrm>
            <a:off x="92964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롤백 전략</a:t>
            </a:r>
            <a:endParaRPr lang="en-US" sz="1350" dirty="0"/>
          </a:p>
        </p:txBody>
      </p:sp>
      <p:sp>
        <p:nvSpPr>
          <p:cNvPr id="52" name="Text 19"/>
          <p:cNvSpPr/>
          <p:nvPr/>
        </p:nvSpPr>
        <p:spPr>
          <a:xfrm>
            <a:off x="92964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안정적인 모델 운영을 위해 이전 버전으로의 빠른 롤백 가능하도록 복구 지점 관리 체계 수립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43200"/>
            <a:ext cx="560070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0194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4290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7338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038600"/>
            <a:ext cx="762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743200"/>
            <a:ext cx="5600700" cy="1714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3019425"/>
            <a:ext cx="22860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429000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733800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4038600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비즈니스 영향</a:t>
            </a:r>
            <a:endParaRPr lang="en-US" sz="2250" dirty="0"/>
          </a:p>
        </p:txBody>
      </p:sp>
      <p:sp>
        <p:nvSpPr>
          <p:cNvPr id="18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20/20</a:t>
            </a:r>
            <a:endParaRPr lang="en-US" sz="1500" dirty="0"/>
          </a:p>
        </p:txBody>
      </p:sp>
      <p:sp>
        <p:nvSpPr>
          <p:cNvPr id="19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ML 모델 개발</a:t>
            </a:r>
            <a:endParaRPr lang="en-US" sz="1800" dirty="0"/>
          </a:p>
        </p:txBody>
      </p:sp>
      <p:sp>
        <p:nvSpPr>
          <p:cNvPr id="20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머신러닝을 이용한 신용카드 사기 탐지 모델의 효과성을 입증했습니다. SMOTE oversampling과 MLP 모델 조합으로 높은 재현율(1.0000), 정밀도(0.9994), F1-score(0.9997)를 달성하며 사기 거래를 효과적으로 탐지할 수 있음을 보여주었습니다.</a:t>
            </a:r>
            <a:endParaRPr lang="en-US" sz="1350" dirty="0"/>
          </a:p>
        </p:txBody>
      </p:sp>
      <p:sp>
        <p:nvSpPr>
          <p:cNvPr id="21" name="Text 4"/>
          <p:cNvSpPr/>
          <p:nvPr/>
        </p:nvSpPr>
        <p:spPr>
          <a:xfrm>
            <a:off x="9525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영향</a:t>
            </a:r>
            <a:endParaRPr lang="en-US" sz="1500" dirty="0"/>
          </a:p>
        </p:txBody>
      </p:sp>
      <p:sp>
        <p:nvSpPr>
          <p:cNvPr id="22" name="Text 5"/>
          <p:cNvSpPr/>
          <p:nvPr/>
        </p:nvSpPr>
        <p:spPr>
          <a:xfrm>
            <a:off x="762000" y="3390900"/>
            <a:ext cx="2503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손실 감소 및 고객 신뢰 향상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762000" y="3695700"/>
            <a:ext cx="3143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탐지 시스템을 통한 운영 효율성</a:t>
            </a:r>
            <a:endParaRPr lang="en-US" sz="1200" dirty="0"/>
          </a:p>
        </p:txBody>
      </p:sp>
      <p:sp>
        <p:nvSpPr>
          <p:cNvPr id="24" name="Text 7"/>
          <p:cNvSpPr/>
          <p:nvPr/>
        </p:nvSpPr>
        <p:spPr>
          <a:xfrm>
            <a:off x="762000" y="4000500"/>
            <a:ext cx="3531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전통적인 규칙 기반 시스템보다 더 높은 적응성</a:t>
            </a:r>
            <a:endParaRPr lang="en-US" sz="1200" dirty="0"/>
          </a:p>
        </p:txBody>
      </p:sp>
      <p:sp>
        <p:nvSpPr>
          <p:cNvPr id="25" name="Text 8"/>
          <p:cNvSpPr/>
          <p:nvPr/>
        </p:nvSpPr>
        <p:spPr>
          <a:xfrm>
            <a:off x="67818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구현 고려사항</a:t>
            </a:r>
            <a:endParaRPr lang="en-US" sz="1500" dirty="0"/>
          </a:p>
        </p:txBody>
      </p:sp>
      <p:sp>
        <p:nvSpPr>
          <p:cNvPr id="26" name="Text 9"/>
          <p:cNvSpPr/>
          <p:nvPr/>
        </p:nvSpPr>
        <p:spPr>
          <a:xfrm>
            <a:off x="6591300" y="3390900"/>
            <a:ext cx="28460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데이터 분할 및 모델 재검증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6591300" y="3695700"/>
            <a:ext cx="2800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처리 능력과 시스템 통합 고려</a:t>
            </a:r>
            <a:endParaRPr lang="en-US" sz="1200" dirty="0"/>
          </a:p>
        </p:txBody>
      </p:sp>
      <p:sp>
        <p:nvSpPr>
          <p:cNvPr id="28" name="Text 11"/>
          <p:cNvSpPr/>
          <p:nvPr/>
        </p:nvSpPr>
        <p:spPr>
          <a:xfrm>
            <a:off x="6591300" y="4000500"/>
            <a:ext cx="3314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지속적 모니터링 및 재학습 파이프라인 구축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2B901-9A35-628F-3F1A-94DADB24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7E41198-884A-2538-0CB7-187575CB0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67FFF48-C9A0-A2C0-1327-97D346598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84179F9-80A9-5E30-0BC5-B782704E0D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4265" y="3086100"/>
            <a:ext cx="5267460" cy="13716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637A46FC-B58D-BAB8-E315-F794D7C2F5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7" name="Text 0">
            <a:extLst>
              <a:ext uri="{FF2B5EF4-FFF2-40B4-BE49-F238E27FC236}">
                <a16:creationId xmlns:a16="http://schemas.microsoft.com/office/drawing/2014/main" id="{E5265D86-68FB-AD03-1916-3C2C23033CD4}"/>
              </a:ext>
            </a:extLst>
          </p:cNvPr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endParaRPr lang="en-US" sz="22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00C31D4-5C23-5295-89B5-B47907F1CEE6}"/>
              </a:ext>
            </a:extLst>
          </p:cNvPr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20/20</a:t>
            </a:r>
            <a:endParaRPr lang="en-US" sz="15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93A9A53D-DB65-E42B-3E92-C1F05E0FD28D}"/>
              </a:ext>
            </a:extLst>
          </p:cNvPr>
          <p:cNvSpPr/>
          <p:nvPr/>
        </p:nvSpPr>
        <p:spPr>
          <a:xfrm>
            <a:off x="4778063" y="3770290"/>
            <a:ext cx="4033771" cy="9321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40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r>
              <a:rPr lang="en-US" altLang="ko-KR" sz="40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6234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2834</Words>
  <Application>Microsoft Office PowerPoint</Application>
  <PresentationFormat>와이드스크린</PresentationFormat>
  <Paragraphs>486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TJ</cp:lastModifiedBy>
  <cp:revision>70</cp:revision>
  <dcterms:created xsi:type="dcterms:W3CDTF">2025-12-15T07:12:45Z</dcterms:created>
  <dcterms:modified xsi:type="dcterms:W3CDTF">2025-12-16T04:41:00Z</dcterms:modified>
</cp:coreProperties>
</file>