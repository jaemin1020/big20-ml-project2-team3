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B43E7-806F-6711-5867-B3780A45A635}" v="70" dt="2025-12-09T15:09:55.712"/>
    <p1510:client id="{2803BE5B-E151-BF0B-92F4-A883FF4E3022}" v="2268" dt="2025-12-09T17:13:18.536"/>
    <p1510:client id="{A91FF97B-E5A1-6D04-0298-6624C3ED8A30}" v="54" dt="2025-12-09T14:55:11.599"/>
    <p1510:client id="{FBEA7BE1-B0F2-D090-03DA-E366EFE3C461}" v="26" dt="2025-12-09T14:58:34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66" d="100"/>
          <a:sy n="66" d="100"/>
        </p:scale>
        <p:origin x="139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ntander Private Banking Expands Global Presence with First Regional  Headquarters in DIFC - Asian Wealth Management and Asian Private Banking">
            <a:extLst>
              <a:ext uri="{FF2B5EF4-FFF2-40B4-BE49-F238E27FC236}">
                <a16:creationId xmlns:a16="http://schemas.microsoft.com/office/drawing/2014/main" id="{A9EEAF66-5B4F-E0DA-BAEB-9F2744C63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4404" y="-297031"/>
            <a:ext cx="13354762" cy="7333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9C6A870-9967-7F6C-BEA8-7B48715326F8}"/>
              </a:ext>
            </a:extLst>
          </p:cNvPr>
          <p:cNvSpPr/>
          <p:nvPr/>
        </p:nvSpPr>
        <p:spPr>
          <a:xfrm>
            <a:off x="-554404" y="351690"/>
            <a:ext cx="13297551" cy="1783701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901464" y="2335010"/>
            <a:ext cx="9072359" cy="2387600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Kaggle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Santander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Bank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Customer</a:t>
            </a:r>
            <a:r>
              <a:rPr lang="ko-KR" altLang="en-US" sz="5800" dirty="0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5800" dirty="0" err="1">
                <a:solidFill>
                  <a:srgbClr val="EC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Satisfaction</a:t>
            </a:r>
            <a:endParaRPr lang="ko-KR" sz="5800" dirty="0">
              <a:solidFill>
                <a:srgbClr val="EC0000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61E11C-6716-B069-88B6-4A028656BDF5}"/>
              </a:ext>
            </a:extLst>
          </p:cNvPr>
          <p:cNvSpPr txBox="1">
            <a:spLocks/>
          </p:cNvSpPr>
          <p:nvPr/>
        </p:nvSpPr>
        <p:spPr>
          <a:xfrm>
            <a:off x="-2116610" y="-686727"/>
            <a:ext cx="4239846" cy="27002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9600" dirty="0">
                <a:solidFill>
                  <a:srgbClr val="FFFFFF"/>
                </a:solidFill>
                <a:latin typeface="Arial"/>
                <a:ea typeface="Microsoft GothicNeo"/>
                <a:cs typeface="Arial"/>
              </a:rPr>
              <a:t>02</a:t>
            </a:r>
            <a:endParaRPr lang="ko-KR" altLang="en-US" sz="9600">
              <a:solidFill>
                <a:srgbClr val="FFFFFF"/>
              </a:solidFill>
              <a:latin typeface="Arial"/>
              <a:ea typeface="Microsoft GothicNeo"/>
              <a:cs typeface="Arial"/>
            </a:endParaRPr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00A8B6D8-5747-6FC0-5FD3-938355DD7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6462E84C-D5DC-CF91-A1D4-96D735F28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1344FED-B355-D522-EB2F-276379F0C44F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3901-4860-FDEE-6F85-6B63241BFBDE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02-1 프로젝트 배경 및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12DDD-70D9-C415-FD84-073D521F6F7C}"/>
              </a:ext>
            </a:extLst>
          </p:cNvPr>
          <p:cNvSpPr txBox="1"/>
          <p:nvPr/>
        </p:nvSpPr>
        <p:spPr>
          <a:xfrm>
            <a:off x="613833" y="941917"/>
            <a:ext cx="7725833" cy="1372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불만족 고객 조기 파악 및 맞춤형 서비스 제공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sz="1300" dirty="0">
                <a:latin typeface="Microsoft GothicNeo"/>
                <a:ea typeface="Microsoft GothicNeo"/>
                <a:cs typeface="Microsoft GothicNeo"/>
              </a:rPr>
              <a:t>고객 만족을 전략적 핵심 지표로 설정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NPS 기반 고객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경혐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혁신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충성 고객 확대, 디지털 전환 가속화, 글로벌 다각화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0F1AD-A929-533A-4E7A-DACA1C0BA9B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8" descr="Our business strategy - Santander Annual Report 2020">
            <a:extLst>
              <a:ext uri="{FF2B5EF4-FFF2-40B4-BE49-F238E27FC236}">
                <a16:creationId xmlns:a16="http://schemas.microsoft.com/office/drawing/2014/main" id="{63EF137A-760C-267E-42D1-E291D344B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7492" y="2763975"/>
            <a:ext cx="6817783" cy="3528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51F10C-8BE0-24C5-C412-693E68B7FA1D}"/>
              </a:ext>
            </a:extLst>
          </p:cNvPr>
          <p:cNvSpPr txBox="1"/>
          <p:nvPr/>
        </p:nvSpPr>
        <p:spPr>
          <a:xfrm>
            <a:off x="1904186" y="250236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1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고객 만족 중심 경영 전략 ]</a:t>
            </a:r>
          </a:p>
        </p:txBody>
      </p:sp>
    </p:spTree>
    <p:extLst>
      <p:ext uri="{BB962C8B-B14F-4D97-AF65-F5344CB8AC3E}">
        <p14:creationId xmlns:p14="http://schemas.microsoft.com/office/powerpoint/2010/main" val="157225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FD183E-6EE8-A470-1148-E5E6087232C0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6036B6-C51E-BC8E-8382-B95EBC7B66C3}"/>
              </a:ext>
            </a:extLst>
          </p:cNvPr>
          <p:cNvSpPr/>
          <p:nvPr/>
        </p:nvSpPr>
        <p:spPr>
          <a:xfrm>
            <a:off x="-878417" y="2455334"/>
            <a:ext cx="13853583" cy="3460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4E252-00AD-10FC-4B8B-570B1BF818FE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02-2 NPS 개요</a:t>
            </a:r>
          </a:p>
        </p:txBody>
      </p:sp>
      <p:pic>
        <p:nvPicPr>
          <p:cNvPr id="3" name="그림 2" descr="File:Santander Logo.PNG - Wikimedia Commons">
            <a:extLst>
              <a:ext uri="{FF2B5EF4-FFF2-40B4-BE49-F238E27FC236}">
                <a16:creationId xmlns:a16="http://schemas.microsoft.com/office/drawing/2014/main" id="{66E04D3B-A8D7-9D80-F5DB-97BE418C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4" name="그림 3" descr="Santander Bank NPS &amp; Customer Reviews | Comparably">
            <a:extLst>
              <a:ext uri="{FF2B5EF4-FFF2-40B4-BE49-F238E27FC236}">
                <a16:creationId xmlns:a16="http://schemas.microsoft.com/office/drawing/2014/main" id="{A635F761-2B5D-E9B9-8506-5B00D840E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83" y="3010960"/>
            <a:ext cx="5037667" cy="26564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95F65B-45D6-D04A-7832-36CDA62909DD}"/>
              </a:ext>
            </a:extLst>
          </p:cNvPr>
          <p:cNvSpPr txBox="1"/>
          <p:nvPr/>
        </p:nvSpPr>
        <p:spPr>
          <a:xfrm>
            <a:off x="613833" y="941917"/>
            <a:ext cx="7725833" cy="12080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NPS(Net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Promoter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Score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)</a:t>
            </a:r>
            <a:endParaRPr lang="ko-KR" dirty="0"/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추천 의향 지표</a:t>
            </a:r>
          </a:p>
          <a:p>
            <a:pPr marL="400050" lvl="2" indent="228600"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계산 : 추천 고객 비율 -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비추천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비율</a:t>
            </a:r>
          </a:p>
          <a:p>
            <a:pPr marL="400050" lvl="2" indent="228600"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금융업계 활용 : 충성도 및 장기 수익성 예측</a:t>
            </a:r>
          </a:p>
        </p:txBody>
      </p:sp>
      <p:pic>
        <p:nvPicPr>
          <p:cNvPr id="10" name="그림 9" descr="Santander Bank NPS &amp; Customer Reviews | Comparably">
            <a:extLst>
              <a:ext uri="{FF2B5EF4-FFF2-40B4-BE49-F238E27FC236}">
                <a16:creationId xmlns:a16="http://schemas.microsoft.com/office/drawing/2014/main" id="{0374E877-A9DC-C142-AC11-91614F6A2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3010960"/>
            <a:ext cx="5037667" cy="26564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C1F296-D1E0-4147-2CA8-2833855BCDDD}"/>
              </a:ext>
            </a:extLst>
          </p:cNvPr>
          <p:cNvSpPr txBox="1"/>
          <p:nvPr/>
        </p:nvSpPr>
        <p:spPr>
          <a:xfrm>
            <a:off x="2063749" y="2589660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NPS 성과 지표 (24' - 25') 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81C41-F979-D112-2770-676D608DF07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04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C40141B-E6E7-0BB7-4E05-1296C08798EC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3C51C-6190-A0A9-2187-5BED896BA52A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02-3 현황 분석 및 전략 설정 배경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59493-DD81-0497-C0D6-FED321D7F03B}"/>
              </a:ext>
            </a:extLst>
          </p:cNvPr>
          <p:cNvSpPr txBox="1"/>
          <p:nvPr/>
        </p:nvSpPr>
        <p:spPr>
          <a:xfrm>
            <a:off x="613833" y="941917"/>
            <a:ext cx="10002506" cy="1372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2016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년도 업계 현황 및 배경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08’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금융위기 이후 은행들은 신뢰회복과 건전성 강화에 집중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디지털 뱅킹 확산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경험 경쟁 심화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규제 강화 ▶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충성 고객 확대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디지털 전환 가속화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“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경험을 혁신하고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NPS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개선을 위해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어떤 요인이 만족도에 영향을 주는지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데이터 분석을 통해 규명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5AB578-2066-2FF2-2668-3D174838F1D7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3CB014-9220-ACE3-CECB-B169544FB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13" y="2873736"/>
            <a:ext cx="6007344" cy="320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8BC14684-08B8-2619-DCA8-A9B4256E5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F1738E2-904A-E240-DFE4-0FB282C55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584" y="3429000"/>
            <a:ext cx="3239229" cy="245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D6E624-D34C-83A9-2B1E-3F3EDC2E51C8}"/>
              </a:ext>
            </a:extLst>
          </p:cNvPr>
          <p:cNvSpPr/>
          <p:nvPr/>
        </p:nvSpPr>
        <p:spPr>
          <a:xfrm flipV="1">
            <a:off x="6925257" y="3368528"/>
            <a:ext cx="463334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12614-7320-98C1-4E61-F2F3F9301AEB}"/>
              </a:ext>
            </a:extLst>
          </p:cNvPr>
          <p:cNvSpPr txBox="1"/>
          <p:nvPr/>
        </p:nvSpPr>
        <p:spPr>
          <a:xfrm>
            <a:off x="1904186" y="2636288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3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디지털 전환 및 고객중심 경영 만족도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NPS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조사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(2019)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DD9B2-1CA4-2CB2-3E4C-9C795853DBF0}"/>
              </a:ext>
            </a:extLst>
          </p:cNvPr>
          <p:cNvSpPr txBox="1"/>
          <p:nvPr/>
        </p:nvSpPr>
        <p:spPr>
          <a:xfrm>
            <a:off x="8163915" y="5894751"/>
            <a:ext cx="33946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자료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: NPS – Customer</a:t>
            </a:r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Satisfaction by </a:t>
            </a:r>
            <a:r>
              <a:rPr lang="en-US" altLang="ko-KR" sz="1000" dirty="0" err="1">
                <a:latin typeface="Microsoft GothicNeo"/>
                <a:ea typeface="Microsoft GothicNeo"/>
                <a:cs typeface="Microsoft GothicNeo"/>
              </a:rPr>
              <a:t>Stiga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/ Deloitte</a:t>
            </a:r>
            <a:endParaRPr lang="ko-KR" altLang="en-US" sz="1000" dirty="0">
              <a:latin typeface="Microsoft GothicNeo"/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12653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3A31-F41A-524E-DDD0-C30019B8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DAB63CC-B169-1B96-D538-2C47D1B5E86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18873-2D0B-93E2-7877-C7AF3190EC3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D2C1DC-C386-0764-A702-8028D39D9792}"/>
              </a:ext>
            </a:extLst>
          </p:cNvPr>
          <p:cNvSpPr txBox="1"/>
          <p:nvPr/>
        </p:nvSpPr>
        <p:spPr>
          <a:xfrm>
            <a:off x="613833" y="941917"/>
            <a:ext cx="10002506" cy="1972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및 불균형 문제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7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천여명 고객과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371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변수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(0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1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모든 변수명이 개인정보 보호를 위해 암호화 되어있음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고객은 소수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4%)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데이터 불균형 존재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ID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고유 식별 번호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var3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나이 또는 계좌개설 후 경과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개월수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var15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연령대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는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명시적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ko-KR" altLang="en-US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AC4970-946B-8EB6-1F15-E2FB74A2DE69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C4E4E96E-79EB-B89C-DB5F-158D886E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2EF3BDC-A822-2C49-8226-A58AF1A13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230" y="3350170"/>
            <a:ext cx="6543712" cy="2869122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2466F-BBC6-478A-096F-8529197E97E3}"/>
              </a:ext>
            </a:extLst>
          </p:cNvPr>
          <p:cNvSpPr txBox="1"/>
          <p:nvPr/>
        </p:nvSpPr>
        <p:spPr>
          <a:xfrm>
            <a:off x="1904186" y="3054427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4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TARGET(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레이블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분포 시각화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6605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1A01-40C2-C4D8-D629-D6E4963A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9E6ADF1-65A3-E327-34E1-0A73447C99F1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E2589-F7B1-0900-39C1-27CE30704AA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3CC56-F51A-E070-9090-7C55394FA1B1}"/>
              </a:ext>
            </a:extLst>
          </p:cNvPr>
          <p:cNvSpPr txBox="1"/>
          <p:nvPr/>
        </p:nvSpPr>
        <p:spPr>
          <a:xfrm>
            <a:off x="613833" y="941917"/>
            <a:ext cx="10002506" cy="2183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불균형 데이터셋 에서의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ROC-AUC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극심한 불균형 데이터셋에서의 정확도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(Accuracy)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의 한계점 존재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모델의 분류 성능을 시각적으로 확인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X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(FPR)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만족 고객인데 불만족으로 잘못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Y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(TPR)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불만족 고객을 올바르게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AUC : ROC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곡선 아래 면적 →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1.0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완벽한 분류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0.5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랜덤 추측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자체의 내재적 변별 능력 평가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비교에 유용한 지표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8A7507-D763-9764-1402-00E18AC59E4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DE803BBA-9474-B96F-A4E8-A957E3CBD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CC8161-30EE-738A-E02E-257B4688F0FC}"/>
              </a:ext>
            </a:extLst>
          </p:cNvPr>
          <p:cNvSpPr txBox="1"/>
          <p:nvPr/>
        </p:nvSpPr>
        <p:spPr>
          <a:xfrm>
            <a:off x="1904186" y="3178826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5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ROC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곡선 시각화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트리계열 알고리즘 사용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4F8811-9BF3-5B63-4385-45B61BBFC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105" y="3443288"/>
            <a:ext cx="3810314" cy="3056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778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DF74-63CF-1CC9-FB84-CE5C6A92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B68EC9-CA0F-AA07-03E7-0DF664E6DAA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78D01-734D-34AB-5593-E35EF7071E1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5F028-7EB1-4402-A373-8792FB4C79BB}"/>
              </a:ext>
            </a:extLst>
          </p:cNvPr>
          <p:cNvSpPr txBox="1"/>
          <p:nvPr/>
        </p:nvSpPr>
        <p:spPr>
          <a:xfrm>
            <a:off x="613833" y="941917"/>
            <a:ext cx="10002506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describe()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각 피처들의 평균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표준편차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최댓값 기본 통계치 출력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데이터 구조적 특성 및 모델링 전략 힌트 파악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의미가 없어 직접적 해석 불가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▶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EDA(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탐색적 데이터 분석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), Feature Selection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분포와 스케일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및 이상치 탐지 및 클래스 불균형 확인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중요도 추정 및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Feature Engineering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방향성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EA82C2-4A28-7DA2-B136-E179F60ACD3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8AE0399A-81FA-07E1-9197-9AB70F85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2BDD05-0482-0B31-D115-E24704A8D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20" y="3593971"/>
            <a:ext cx="3678480" cy="2523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5C3847-BA9F-9409-EA9E-E6CD3D431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91661"/>
            <a:ext cx="2305050" cy="25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3926D3-F67E-7F16-7DFA-9BC796E94E6D}"/>
              </a:ext>
            </a:extLst>
          </p:cNvPr>
          <p:cNvSpPr txBox="1"/>
          <p:nvPr/>
        </p:nvSpPr>
        <p:spPr>
          <a:xfrm>
            <a:off x="2062935" y="329819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로드된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 데이터프레임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describe()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9507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FA4D-BA72-A3BD-32DF-0DB64826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01807A1-E39D-D47C-5094-C9AF9AC19804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C2F57-4D3C-E717-B885-8E0DB037E8F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8FDB7-5001-8E22-C062-E24A02DC9754}"/>
              </a:ext>
            </a:extLst>
          </p:cNvPr>
          <p:cNvSpPr txBox="1"/>
          <p:nvPr/>
        </p:nvSpPr>
        <p:spPr>
          <a:xfrm>
            <a:off x="613833" y="941917"/>
            <a:ext cx="10002506" cy="1606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고객불만족을 가장 잘 설명하는 피처를 찾아내는 과정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해당 과정을 통해 모델 성능을 높이고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고객 이탈을 예방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불균형 클래스 문제를 통해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Accuracy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보다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ROC-AUC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지표가 더 적합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피처중요도를 계산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및 상관관계를 계산하여 시각화 → 주요 피처들의 히스토그램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/ Heatmap</a:t>
            </a:r>
            <a:endParaRPr lang="ko-KR" altLang="en-US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80EB27-2051-AE72-8154-D878A9EE3676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20B2D0BD-D63A-2507-FA26-F66EFA12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60E3F1-BD9F-4C8C-67FC-A9E7CB859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" y="3801615"/>
            <a:ext cx="57340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1BA830-9F25-1B60-FE95-E58A169EC0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276" y="2547998"/>
            <a:ext cx="3897845" cy="35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24960B-2760-B965-B26B-5104341A156F}"/>
              </a:ext>
            </a:extLst>
          </p:cNvPr>
          <p:cNvSpPr txBox="1"/>
          <p:nvPr/>
        </p:nvSpPr>
        <p:spPr>
          <a:xfrm>
            <a:off x="397799" y="342900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2.7 ‘var38(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자산 규모 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)’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히스토그램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 변환 전후 비교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3616D-342F-1035-A85C-FC19BA27CDAE}"/>
              </a:ext>
            </a:extLst>
          </p:cNvPr>
          <p:cNvSpPr txBox="1"/>
          <p:nvPr/>
        </p:nvSpPr>
        <p:spPr>
          <a:xfrm>
            <a:off x="6034083" y="6185002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중요도가 큰 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피처들의 상관관계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Heatmap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7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B1F3-7FDB-F66A-09C6-2FF7B458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CA24538-9D04-57C0-6109-9092EAC1EF9E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7D94F-F4FA-F999-FFC5-C97C8DF26B4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1F592-D378-3A13-8A9B-192387619C89}"/>
              </a:ext>
            </a:extLst>
          </p:cNvPr>
          <p:cNvSpPr txBox="1"/>
          <p:nvPr/>
        </p:nvSpPr>
        <p:spPr>
          <a:xfrm>
            <a:off x="613833" y="941917"/>
            <a:ext cx="10002506" cy="2506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분석을 통한 시사점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일부는 불만족 고객을 강하게 구분하는 경향을 보였음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PCA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분석을 통해 피처 간 상관관계를 줄이고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고객을 설명하는 주요 축 도출 가능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SMOTE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기법을 활용하여 학습 데이터 균형을 맞추되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어떤 피처가 잘 작동하는지 확인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은행의 실무적 인사이트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주요 피처를 중심으로 불만족 고객 조기 탐지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모델이 강조하는 피처들을 실제 서비스 개선지표로 활용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단순히 모델이 불만족 고객이라고 예측했다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’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가 아니라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어떤 요인 때문에 불만족 가능성이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높은지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설명이 되어야 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0EE109-6E83-1216-F2C0-FECAA7FD5BF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4C516A5A-D44C-F4A2-C65C-7879755F0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2052" name="Picture 4" descr="Santander Customer Satisfaction">
            <a:extLst>
              <a:ext uri="{FF2B5EF4-FFF2-40B4-BE49-F238E27FC236}">
                <a16:creationId xmlns:a16="http://schemas.microsoft.com/office/drawing/2014/main" id="{7AE59B84-069F-2FA8-1C28-BCDD32D9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610" y="4042639"/>
            <a:ext cx="3621352" cy="108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AE22E3FF-6E49-EC4B-C996-A0B581D6735B}"/>
              </a:ext>
            </a:extLst>
          </p:cNvPr>
          <p:cNvSpPr/>
          <p:nvPr/>
        </p:nvSpPr>
        <p:spPr>
          <a:xfrm>
            <a:off x="1282771" y="3908461"/>
            <a:ext cx="2829464" cy="1449238"/>
          </a:xfrm>
          <a:prstGeom prst="homePlate">
            <a:avLst>
              <a:gd name="adj" fmla="val 237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E8F47056-9D03-9274-FB14-623279A1B72A}"/>
              </a:ext>
            </a:extLst>
          </p:cNvPr>
          <p:cNvSpPr/>
          <p:nvPr/>
        </p:nvSpPr>
        <p:spPr>
          <a:xfrm rot="10800000">
            <a:off x="8032337" y="3862186"/>
            <a:ext cx="2829464" cy="1449238"/>
          </a:xfrm>
          <a:prstGeom prst="homePlate">
            <a:avLst>
              <a:gd name="adj" fmla="val 3738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04F51-872E-A260-6AF5-E713486E5576}"/>
              </a:ext>
            </a:extLst>
          </p:cNvPr>
          <p:cNvSpPr txBox="1"/>
          <p:nvPr/>
        </p:nvSpPr>
        <p:spPr>
          <a:xfrm>
            <a:off x="1615085" y="4131446"/>
            <a:ext cx="3489960" cy="95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고객 이탈 예방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 포인트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설명 가능성 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65A75-D052-F995-609A-4F536588C94F}"/>
              </a:ext>
            </a:extLst>
          </p:cNvPr>
          <p:cNvSpPr txBox="1"/>
          <p:nvPr/>
        </p:nvSpPr>
        <p:spPr>
          <a:xfrm>
            <a:off x="8702040" y="4108308"/>
            <a:ext cx="3489960" cy="95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맞춤형 대응 전략 수립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개선지표 활용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불만족 가능성 요인 설명 </a:t>
            </a:r>
          </a:p>
        </p:txBody>
      </p:sp>
    </p:spTree>
    <p:extLst>
      <p:ext uri="{BB962C8B-B14F-4D97-AF65-F5344CB8AC3E}">
        <p14:creationId xmlns:p14="http://schemas.microsoft.com/office/powerpoint/2010/main" val="121545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02C4F1-33A1-D42B-B70C-CE7C460299F7}"/>
              </a:ext>
            </a:extLst>
          </p:cNvPr>
          <p:cNvSpPr/>
          <p:nvPr/>
        </p:nvSpPr>
        <p:spPr>
          <a:xfrm>
            <a:off x="-169334" y="-105030"/>
            <a:ext cx="12848166" cy="761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31C3C2E4-48FF-628C-2CC7-2A93CF79C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45391"/>
              </p:ext>
            </p:extLst>
          </p:nvPr>
        </p:nvGraphicFramePr>
        <p:xfrm>
          <a:off x="848783" y="2710554"/>
          <a:ext cx="105155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5776">
                  <a:extLst>
                    <a:ext uri="{9D8B030D-6E8A-4147-A177-3AD203B41FA5}">
                      <a16:colId xmlns:a16="http://schemas.microsoft.com/office/drawing/2014/main" val="2092996912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109184465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35360250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175381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31250876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69982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Arial Nova"/>
                        </a:rPr>
                        <a:t>구  분</a:t>
                      </a:r>
                    </a:p>
                  </a:txBody>
                  <a:tcPr anchor="ctr"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D4</a:t>
                      </a: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D8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D12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D16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D20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프로젝트 전략 및 계획 수립 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7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조원별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업무 배분 및 업무 범위 명확화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주제별 데이터셋 파악,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전처리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과정 진행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8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1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산탄데르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은행 고객 만족 분석</a:t>
                      </a:r>
                      <a:endParaRPr lang="ko-KR">
                        <a:latin typeface="Microsoft GothicNeo"/>
                        <a:ea typeface="Microsoft GothicNeo"/>
                      </a:endParaRP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2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신용카드 사기 검출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5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3 : UCI 감성 리뷰 분석 및 문서 유사도 분석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2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4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Mercari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가격 예측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74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모델 학습 및 성능 고도화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리포트 작성 및 발표자료 준비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84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28F976E-6F09-1951-48FB-DD5FF628C876}"/>
              </a:ext>
            </a:extLst>
          </p:cNvPr>
          <p:cNvSpPr txBox="1"/>
          <p:nvPr/>
        </p:nvSpPr>
        <p:spPr>
          <a:xfrm>
            <a:off x="1915583" y="2293109"/>
            <a:ext cx="8383627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&lt; </a:t>
            </a:r>
            <a:r>
              <a:rPr lang="ko-KR" altLang="en-US" sz="1500" dirty="0" err="1">
                <a:latin typeface="Microsoft GothicNeo"/>
                <a:ea typeface="Microsoft GothicNeo"/>
                <a:cs typeface="Microsoft GothicNeo"/>
              </a:rPr>
              <a:t>Semi</a:t>
            </a:r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-Project 추진 일정 (11월 18일 ~ 12월 15일) 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301CD-E511-4F1A-B0EB-19C33374F319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-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 프로젝트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E701-172E-695B-5D08-F88F211CB872}"/>
              </a:ext>
            </a:extLst>
          </p:cNvPr>
          <p:cNvSpPr txBox="1"/>
          <p:nvPr/>
        </p:nvSpPr>
        <p:spPr>
          <a:xfrm>
            <a:off x="613833" y="941917"/>
            <a:ext cx="7725833" cy="1072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세미프로젝트 로드맵 구성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마감 및 프로젝트 일정이 촉박하여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조원별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업무 및 작업을 배분하여 프로젝트 진행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주제별로 차례대로 진행하였으며, 수업 시간의 모델 성능을 타겟으로 고도화 작업에 집중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436550-25B1-BB35-4B5D-1CDD191B02A0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73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763</Words>
  <Application>Microsoft Office PowerPoint</Application>
  <PresentationFormat>와이드스크린</PresentationFormat>
  <Paragraphs>90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Microsoft GothicNeo</vt:lpstr>
      <vt:lpstr>Wingdings,Sans-Serif</vt:lpstr>
      <vt:lpstr>맑은 고딕</vt:lpstr>
      <vt:lpstr>Arial</vt:lpstr>
      <vt:lpstr>Arial Nova</vt:lpstr>
      <vt:lpstr>Calibri</vt:lpstr>
      <vt:lpstr>Courier New</vt:lpstr>
      <vt:lpstr>Wingdings</vt:lpstr>
      <vt:lpstr>Office 테마</vt:lpstr>
      <vt:lpstr>Kaggle Santander Bank Customer Satisfaction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tj</cp:lastModifiedBy>
  <cp:revision>544</cp:revision>
  <dcterms:created xsi:type="dcterms:W3CDTF">2025-12-09T14:30:12Z</dcterms:created>
  <dcterms:modified xsi:type="dcterms:W3CDTF">2025-12-12T09:56:27Z</dcterms:modified>
</cp:coreProperties>
</file>