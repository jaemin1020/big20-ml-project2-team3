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58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AB43E7-806F-6711-5867-B3780A45A635}" v="70" dt="2025-12-09T15:09:55.712"/>
    <p1510:client id="{2803BE5B-E151-BF0B-92F4-A883FF4E3022}" v="2268" dt="2025-12-09T17:13:18.536"/>
    <p1510:client id="{A91FF97B-E5A1-6D04-0298-6624C3ED8A30}" v="54" dt="2025-12-09T14:55:11.599"/>
    <p1510:client id="{FBEA7BE1-B0F2-D090-03DA-E366EFE3C461}" v="26" dt="2025-12-09T14:58:34.3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44" autoAdjust="0"/>
    <p:restoredTop sz="94660"/>
  </p:normalViewPr>
  <p:slideViewPr>
    <p:cSldViewPr snapToGrid="0">
      <p:cViewPr>
        <p:scale>
          <a:sx n="66" d="100"/>
          <a:sy n="66" d="100"/>
        </p:scale>
        <p:origin x="120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antander Private Banking Expands Global Presence with First Regional  Headquarters in DIFC - Asian Wealth Management and Asian Private Banking">
            <a:extLst>
              <a:ext uri="{FF2B5EF4-FFF2-40B4-BE49-F238E27FC236}">
                <a16:creationId xmlns:a16="http://schemas.microsoft.com/office/drawing/2014/main" id="{A9EEAF66-5B4F-E0DA-BAEB-9F2744C63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4404" y="-288239"/>
            <a:ext cx="13354762" cy="7333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9C6A870-9967-7F6C-BEA8-7B48715326F8}"/>
              </a:ext>
            </a:extLst>
          </p:cNvPr>
          <p:cNvSpPr/>
          <p:nvPr/>
        </p:nvSpPr>
        <p:spPr>
          <a:xfrm>
            <a:off x="-554404" y="351690"/>
            <a:ext cx="13297551" cy="1783701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901464" y="2335010"/>
            <a:ext cx="9072359" cy="2387600"/>
          </a:xfrm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ko-KR" altLang="en-US" sz="5800" dirty="0" err="1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Kaggle</a:t>
            </a:r>
            <a:r>
              <a:rPr lang="ko-KR" altLang="en-US" sz="5800" dirty="0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5800" dirty="0" err="1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Santander</a:t>
            </a:r>
            <a:r>
              <a:rPr lang="ko-KR" altLang="en-US" sz="5800" dirty="0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Bank </a:t>
            </a:r>
            <a:r>
              <a:rPr lang="ko-KR" altLang="en-US" sz="5800" dirty="0" err="1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Customer</a:t>
            </a:r>
            <a:r>
              <a:rPr lang="ko-KR" altLang="en-US" sz="5800" dirty="0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5800" dirty="0" err="1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Satisfaction</a:t>
            </a:r>
            <a:endParaRPr lang="ko-KR" sz="5800" dirty="0">
              <a:solidFill>
                <a:srgbClr val="EC0000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E661E11C-6716-B069-88B6-4A028656BDF5}"/>
              </a:ext>
            </a:extLst>
          </p:cNvPr>
          <p:cNvSpPr txBox="1">
            <a:spLocks/>
          </p:cNvSpPr>
          <p:nvPr/>
        </p:nvSpPr>
        <p:spPr>
          <a:xfrm>
            <a:off x="-2116610" y="-686727"/>
            <a:ext cx="4239846" cy="27002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9600" dirty="0">
                <a:solidFill>
                  <a:srgbClr val="FFFFFF"/>
                </a:solidFill>
                <a:latin typeface="Arial"/>
                <a:ea typeface="Microsoft GothicNeo"/>
                <a:cs typeface="Arial"/>
              </a:rPr>
              <a:t>02</a:t>
            </a:r>
            <a:endParaRPr lang="ko-KR" altLang="en-US" sz="9600">
              <a:solidFill>
                <a:srgbClr val="FFFFFF"/>
              </a:solidFill>
              <a:latin typeface="Arial"/>
              <a:ea typeface="Microsoft GothicNeo"/>
              <a:cs typeface="Arial"/>
            </a:endParaRPr>
          </a:p>
        </p:txBody>
      </p:sp>
      <p:pic>
        <p:nvPicPr>
          <p:cNvPr id="6" name="그림 5" descr="File:Santander Logo.PNG - Wikimedia Commons">
            <a:extLst>
              <a:ext uri="{FF2B5EF4-FFF2-40B4-BE49-F238E27FC236}">
                <a16:creationId xmlns:a16="http://schemas.microsoft.com/office/drawing/2014/main" id="{00A8B6D8-5747-6FC0-5FD3-938355DD7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1344FED-B355-D522-EB2F-276379F0C44F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43901-4860-FDEE-6F85-6B63241BFBDE}"/>
              </a:ext>
            </a:extLst>
          </p:cNvPr>
          <p:cNvSpPr txBox="1"/>
          <p:nvPr/>
        </p:nvSpPr>
        <p:spPr>
          <a:xfrm>
            <a:off x="52914" y="179916"/>
            <a:ext cx="5704416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02-1 프로젝트 배경 및 목표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E12DDD-70D9-C415-FD84-073D521F6F7C}"/>
              </a:ext>
            </a:extLst>
          </p:cNvPr>
          <p:cNvSpPr txBox="1"/>
          <p:nvPr/>
        </p:nvSpPr>
        <p:spPr>
          <a:xfrm>
            <a:off x="613833" y="941917"/>
            <a:ext cx="7725833" cy="14475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불만족 고객 조기 파악 및 맞춤형 서비스 제공</a:t>
            </a:r>
          </a:p>
          <a:p>
            <a:pPr marL="400050" lvl="2" indent="228600">
              <a:lnSpc>
                <a:spcPct val="120000"/>
              </a:lnSpc>
              <a:buFont typeface="Wingdings,Sans-Serif"/>
              <a:buChar char="§"/>
            </a:pPr>
            <a:r>
              <a:rPr 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고객 만족</a:t>
            </a:r>
            <a:r>
              <a:rPr lang="ko-KR" sz="1300" dirty="0">
                <a:latin typeface="Microsoft GothicNeo"/>
                <a:ea typeface="Microsoft GothicNeo"/>
                <a:cs typeface="Microsoft GothicNeo"/>
              </a:rPr>
              <a:t>을 전략적 핵심 지표로 설정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2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데이터 기반 접근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머신러닝을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통해 어떤 특성이 불만족을 유발하는지 파악</a:t>
            </a:r>
            <a:endParaRPr 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20000"/>
              </a:lnSpc>
              <a:buFont typeface="Wingdings"/>
              <a:buChar char="§"/>
            </a:pP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NPS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기반 고객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경혐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혁신</a:t>
            </a:r>
          </a:p>
          <a:p>
            <a:pPr marL="800100" lvl="3" indent="-228600">
              <a:lnSpc>
                <a:spcPct val="12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충성 고객 확대, 디지털 전환 가속화, 글로벌 다각화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020F1AD-A929-533A-4E7A-DACA1C0BA9BE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8" descr="Our business strategy - Santander Annual Report 2020">
            <a:extLst>
              <a:ext uri="{FF2B5EF4-FFF2-40B4-BE49-F238E27FC236}">
                <a16:creationId xmlns:a16="http://schemas.microsoft.com/office/drawing/2014/main" id="{63EF137A-760C-267E-42D1-E291D344B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7492" y="2763975"/>
            <a:ext cx="6817783" cy="35284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51F10C-8BE0-24C5-C412-693E68B7FA1D}"/>
              </a:ext>
            </a:extLst>
          </p:cNvPr>
          <p:cNvSpPr txBox="1"/>
          <p:nvPr/>
        </p:nvSpPr>
        <p:spPr>
          <a:xfrm>
            <a:off x="1904186" y="2502365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1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은행 고객 만족 중심 경영 전략 ]</a:t>
            </a:r>
          </a:p>
        </p:txBody>
      </p:sp>
      <p:pic>
        <p:nvPicPr>
          <p:cNvPr id="4" name="그림 3" descr="File:Santander Logo.PNG - Wikimedia Commons">
            <a:extLst>
              <a:ext uri="{FF2B5EF4-FFF2-40B4-BE49-F238E27FC236}">
                <a16:creationId xmlns:a16="http://schemas.microsoft.com/office/drawing/2014/main" id="{2A59AD8A-652F-571D-3D4D-6A5EE8C88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256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25FD183E-6EE8-A470-1148-E5E6087232C0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6036B6-C51E-BC8E-8382-B95EBC7B66C3}"/>
              </a:ext>
            </a:extLst>
          </p:cNvPr>
          <p:cNvSpPr/>
          <p:nvPr/>
        </p:nvSpPr>
        <p:spPr>
          <a:xfrm>
            <a:off x="-878417" y="2768600"/>
            <a:ext cx="13853583" cy="34014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4E252-00AD-10FC-4B8B-570B1BF818FE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02-2 NPS 개요</a:t>
            </a:r>
          </a:p>
        </p:txBody>
      </p:sp>
      <p:pic>
        <p:nvPicPr>
          <p:cNvPr id="4" name="그림 3" descr="Santander Bank NPS &amp; Customer Reviews | Comparably">
            <a:extLst>
              <a:ext uri="{FF2B5EF4-FFF2-40B4-BE49-F238E27FC236}">
                <a16:creationId xmlns:a16="http://schemas.microsoft.com/office/drawing/2014/main" id="{A635F761-2B5D-E9B9-8506-5B00D840E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083" y="3264960"/>
            <a:ext cx="5037667" cy="26564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95F65B-45D6-D04A-7832-36CDA62909DD}"/>
              </a:ext>
            </a:extLst>
          </p:cNvPr>
          <p:cNvSpPr txBox="1"/>
          <p:nvPr/>
        </p:nvSpPr>
        <p:spPr>
          <a:xfrm>
            <a:off x="613833" y="941917"/>
            <a:ext cx="7725833" cy="16691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NPS(Net </a:t>
            </a: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Promoter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Score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)</a:t>
            </a:r>
            <a:endParaRPr lang="ko-KR" dirty="0"/>
          </a:p>
          <a:p>
            <a:pPr marL="400050" lvl="2" indent="228600">
              <a:lnSpc>
                <a:spcPct val="12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추천 의향 지표</a:t>
            </a:r>
          </a:p>
          <a:p>
            <a:pPr marL="400050" lvl="2" indent="228600">
              <a:lnSpc>
                <a:spcPct val="120000"/>
              </a:lnSpc>
              <a:buFont typeface="Wingdings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계산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추천 고객 비율 -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비추천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고객 비율</a:t>
            </a:r>
          </a:p>
          <a:p>
            <a:pPr marL="400050" lvl="2" indent="228600">
              <a:lnSpc>
                <a:spcPct val="120000"/>
              </a:lnSpc>
              <a:buFont typeface="Wingdings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금융업계 활용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충성도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및 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장기 수익성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예측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marR="0" lvl="3" indent="-22860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GothicNeo"/>
                <a:ea typeface="Microsoft GothicNeo"/>
                <a:cs typeface="Microsoft GothicNeo"/>
              </a:rPr>
              <a:t>전략적 지표</a:t>
            </a:r>
            <a:r>
              <a:rPr lang="en-US" altLang="ko-KR" sz="1200" dirty="0">
                <a:solidFill>
                  <a:prstClr val="black"/>
                </a:solidFill>
                <a:latin typeface="Microsoft GothicNeo"/>
                <a:ea typeface="Microsoft GothicNeo"/>
                <a:cs typeface="Microsoft GothicNeo"/>
              </a:rPr>
              <a:t>(NPS)</a:t>
            </a:r>
            <a:r>
              <a:rPr lang="ko-KR" altLang="en-US" sz="1200" dirty="0">
                <a:solidFill>
                  <a:prstClr val="black"/>
                </a:solidFill>
                <a:latin typeface="Microsoft GothicNeo"/>
                <a:ea typeface="Microsoft GothicNeo"/>
                <a:cs typeface="Microsoft GothicNeo"/>
              </a:rPr>
              <a:t>와 데이터 기반 </a:t>
            </a:r>
            <a:r>
              <a:rPr lang="ko-KR" altLang="en-US" sz="1200" dirty="0" err="1">
                <a:solidFill>
                  <a:prstClr val="black"/>
                </a:solidFill>
                <a:latin typeface="Microsoft GothicNeo"/>
                <a:ea typeface="Microsoft GothicNeo"/>
                <a:cs typeface="Microsoft GothicNeo"/>
              </a:rPr>
              <a:t>머신러닝</a:t>
            </a:r>
            <a:r>
              <a:rPr lang="ko-KR" altLang="en-US" sz="1200" dirty="0">
                <a:solidFill>
                  <a:prstClr val="black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latin typeface="Microsoft GothicNeo"/>
                <a:ea typeface="Microsoft GothicNeo"/>
                <a:cs typeface="Microsoft GothicNeo"/>
              </a:rPr>
              <a:t>에측을</a:t>
            </a:r>
            <a:r>
              <a:rPr lang="ko-KR" altLang="en-US" sz="1200" dirty="0">
                <a:solidFill>
                  <a:prstClr val="black"/>
                </a:solidFill>
                <a:latin typeface="Microsoft GothicNeo"/>
                <a:ea typeface="Microsoft GothicNeo"/>
                <a:cs typeface="Microsoft GothicNeo"/>
              </a:rPr>
              <a:t> 결합하여</a:t>
            </a:r>
            <a:r>
              <a:rPr lang="en-US" altLang="ko-KR" sz="1200" dirty="0">
                <a:solidFill>
                  <a:prstClr val="black"/>
                </a:solidFill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Microsoft GothicNeo"/>
                <a:ea typeface="Microsoft GothicNeo"/>
                <a:cs typeface="Microsoft GothicNeo"/>
              </a:rPr>
              <a:t>고객 충성도와 불만족 관리 집중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20000"/>
              </a:lnSpc>
              <a:buFont typeface="Wingdings"/>
              <a:buChar char="§"/>
            </a:pPr>
            <a:endParaRPr lang="ko-KR" altLang="en-US" sz="1300" dirty="0">
              <a:latin typeface="Microsoft GothicNeo"/>
              <a:ea typeface="Microsoft GothicNeo"/>
              <a:cs typeface="Microsoft GothicNeo"/>
            </a:endParaRPr>
          </a:p>
        </p:txBody>
      </p:sp>
      <p:pic>
        <p:nvPicPr>
          <p:cNvPr id="10" name="그림 9" descr="Santander Bank NPS &amp; Customer Reviews | Comparably">
            <a:extLst>
              <a:ext uri="{FF2B5EF4-FFF2-40B4-BE49-F238E27FC236}">
                <a16:creationId xmlns:a16="http://schemas.microsoft.com/office/drawing/2014/main" id="{0374E877-A9DC-C142-AC11-91614F6A2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3264960"/>
            <a:ext cx="5037667" cy="26564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C1F296-D1E0-4147-2CA8-2833855BCDDD}"/>
              </a:ext>
            </a:extLst>
          </p:cNvPr>
          <p:cNvSpPr txBox="1"/>
          <p:nvPr/>
        </p:nvSpPr>
        <p:spPr>
          <a:xfrm>
            <a:off x="2063749" y="2843660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2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은행 NPS 성과 지표 (24' - 25') ]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081C41-F979-D112-2770-676D608DF071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0D545AE0-B16F-6CD5-238A-9E0DB00A6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040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C40141B-E6E7-0BB7-4E05-1296C08798EC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33C51C-6190-A0A9-2187-5BED896BA52A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02-3 현황 분석 및 전략 설정 배경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259493-DD81-0497-C0D6-FED321D7F03B}"/>
              </a:ext>
            </a:extLst>
          </p:cNvPr>
          <p:cNvSpPr txBox="1"/>
          <p:nvPr/>
        </p:nvSpPr>
        <p:spPr>
          <a:xfrm>
            <a:off x="613833" y="941917"/>
            <a:ext cx="10002506" cy="13724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2016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년도 업계 현황 및 배경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08’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금융위기 이후 은행들은 신뢰회복과 건전성 강화에 집중</a:t>
            </a:r>
            <a:endParaRPr 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디지털 뱅킹 확산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경험 경쟁 심화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규제 강화 ▶ 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충성 고객 확대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디지털 전환 가속화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“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산탄데르가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고객 경험을 혁신하고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NPS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개선을 위해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어떤 요인이 만족도에 영향을 주는지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데이터 분석을 통해 규명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5AB578-2066-2FF2-2668-3D174838F1D7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3CB014-9220-ACE3-CECB-B169544FB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13" y="2873736"/>
            <a:ext cx="6007344" cy="320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F1738E2-904A-E240-DFE4-0FB282C55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584" y="3429000"/>
            <a:ext cx="3239229" cy="245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4D6E624-D34C-83A9-2B1E-3F3EDC2E51C8}"/>
              </a:ext>
            </a:extLst>
          </p:cNvPr>
          <p:cNvSpPr/>
          <p:nvPr/>
        </p:nvSpPr>
        <p:spPr>
          <a:xfrm flipV="1">
            <a:off x="6925257" y="3368528"/>
            <a:ext cx="4633344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112614-7320-98C1-4E61-F2F3F9301AEB}"/>
              </a:ext>
            </a:extLst>
          </p:cNvPr>
          <p:cNvSpPr txBox="1"/>
          <p:nvPr/>
        </p:nvSpPr>
        <p:spPr>
          <a:xfrm>
            <a:off x="1904186" y="2636288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3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은행 디지털 전환 및 고객중심 경영 만족도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NPS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조사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(2019)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BDD9B2-1CA4-2CB2-3E4C-9C795853DBF0}"/>
              </a:ext>
            </a:extLst>
          </p:cNvPr>
          <p:cNvSpPr txBox="1"/>
          <p:nvPr/>
        </p:nvSpPr>
        <p:spPr>
          <a:xfrm>
            <a:off x="8163915" y="5894751"/>
            <a:ext cx="339468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dirty="0">
                <a:latin typeface="Microsoft GothicNeo"/>
                <a:ea typeface="Microsoft GothicNeo"/>
                <a:cs typeface="Microsoft GothicNeo"/>
              </a:rPr>
              <a:t>자료</a:t>
            </a:r>
            <a:r>
              <a:rPr lang="en-US" altLang="ko-KR" sz="1000" dirty="0">
                <a:latin typeface="Microsoft GothicNeo"/>
                <a:ea typeface="Microsoft GothicNeo"/>
                <a:cs typeface="Microsoft GothicNeo"/>
              </a:rPr>
              <a:t> : NPS – Customer</a:t>
            </a:r>
            <a:r>
              <a:rPr lang="ko-KR" altLang="en-US" sz="1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000" dirty="0">
                <a:latin typeface="Microsoft GothicNeo"/>
                <a:ea typeface="Microsoft GothicNeo"/>
                <a:cs typeface="Microsoft GothicNeo"/>
              </a:rPr>
              <a:t>Satisfaction by </a:t>
            </a:r>
            <a:r>
              <a:rPr lang="en-US" altLang="ko-KR" sz="1000" dirty="0" err="1">
                <a:latin typeface="Microsoft GothicNeo"/>
                <a:ea typeface="Microsoft GothicNeo"/>
                <a:cs typeface="Microsoft GothicNeo"/>
              </a:rPr>
              <a:t>Stiga</a:t>
            </a:r>
            <a:r>
              <a:rPr lang="en-US" altLang="ko-KR" sz="1000" dirty="0">
                <a:latin typeface="Microsoft GothicNeo"/>
                <a:ea typeface="Microsoft GothicNeo"/>
                <a:cs typeface="Microsoft GothicNeo"/>
              </a:rPr>
              <a:t> / Deloitte</a:t>
            </a:r>
            <a:endParaRPr lang="ko-KR" altLang="en-US" sz="1000" dirty="0">
              <a:latin typeface="Microsoft GothicNeo"/>
              <a:ea typeface="Microsoft GothicNeo"/>
              <a:cs typeface="Microsoft GothicNeo"/>
            </a:endParaRPr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A298582E-BCA7-7624-9953-8C7F04535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30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D3A31-F41A-524E-DDD0-C30019B8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DAB63CC-B169-1B96-D538-2C47D1B5E861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318873-2D0B-93E2-7877-C7AF3190EC31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(1)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D2C1DC-C386-0764-A702-8028D39D9792}"/>
              </a:ext>
            </a:extLst>
          </p:cNvPr>
          <p:cNvSpPr txBox="1"/>
          <p:nvPr/>
        </p:nvSpPr>
        <p:spPr>
          <a:xfrm>
            <a:off x="613833" y="941917"/>
            <a:ext cx="10002506" cy="1972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데이터셋 및 불균형 문제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데이터셋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약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7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만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6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천여명 고객과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371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개 변수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(0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만족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1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불만족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모든 변수명이 개인정보 보호를 위해 암호화 되어있음</a:t>
            </a:r>
            <a:endParaRPr 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불만족 고객은 소수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약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4%)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로 데이터 불균형 존재</a:t>
            </a:r>
            <a:endParaRPr lang="ko-KR" altLang="en-US" sz="1300" b="1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피처명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ID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고유 식별 번호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var3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나이 또는 계좌개설 후 경과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개월수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var15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연령대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var3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중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-99999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는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명시적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결측치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endParaRPr lang="ko-KR" altLang="en-US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AC4970-946B-8EB6-1F15-E2FB74A2DE69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EF3BDC-A822-2C49-8226-A58AF1A13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230" y="3350170"/>
            <a:ext cx="6543712" cy="2869122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92466F-BBC6-478A-096F-8529197E97E3}"/>
              </a:ext>
            </a:extLst>
          </p:cNvPr>
          <p:cNvSpPr txBox="1"/>
          <p:nvPr/>
        </p:nvSpPr>
        <p:spPr>
          <a:xfrm>
            <a:off x="1904186" y="3054427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4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데이터셋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 TARGET(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레이블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분포 시각화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]</a:t>
            </a:r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099A0853-234C-76E5-D79C-D0083CDB8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050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91A01-40C2-C4D8-D629-D6E4963A6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9E6ADF1-65A3-E327-34E1-0A73447C99F1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EE2589-F7B1-0900-39C1-27CE30704AA8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(2)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3CC56-F51A-E070-9090-7C55394FA1B1}"/>
              </a:ext>
            </a:extLst>
          </p:cNvPr>
          <p:cNvSpPr txBox="1"/>
          <p:nvPr/>
        </p:nvSpPr>
        <p:spPr>
          <a:xfrm>
            <a:off x="613833" y="941917"/>
            <a:ext cx="10002506" cy="21831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불균형 데이터셋 에서의 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ROC-AUC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극심한 불균형 데이터셋에서의 정확도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(Accuracy)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의 한계점 존재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모델의 분류 성능을 시각적으로 확인</a:t>
            </a:r>
            <a:endParaRPr lang="ko-KR" altLang="en-US" sz="1300" b="1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X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축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: (FPR)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실제 만족 고객인데 불만족으로 잘못 분류한 비율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Y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축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: (TPR)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실제 불만족 고객을 올바르게 분류한 비율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AUC : ROC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곡선 아래 면적 →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1.0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에 가까울수록 완벽한 분류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, 0.5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에 가까울수록 랜덤 추측</a:t>
            </a:r>
            <a:endParaRPr lang="en-US" altLang="ko-KR" sz="12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모델 자체의 내재적 변별 능력 평가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비교에 유용한 지표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8A7507-D763-9764-1402-00E18AC59E4E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CC8161-30EE-738A-E02E-257B4688F0FC}"/>
              </a:ext>
            </a:extLst>
          </p:cNvPr>
          <p:cNvSpPr txBox="1"/>
          <p:nvPr/>
        </p:nvSpPr>
        <p:spPr>
          <a:xfrm>
            <a:off x="1904186" y="3178826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5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ROC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곡선 시각화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트리계열 알고리즘 사용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]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4F8811-9BF3-5B63-4385-45B61BBFC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5105" y="3443288"/>
            <a:ext cx="3810314" cy="3056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A9A186A0-5C9E-7202-BB36-D72316091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782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ADF74-63CF-1CC9-FB84-CE5C6A924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B68EC9-CA0F-AA07-03E7-0DF664E6DAA7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B78D01-734D-34AB-5593-E35EF7071E18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(3)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35F028-7EB1-4402-A373-8792FB4C79BB}"/>
              </a:ext>
            </a:extLst>
          </p:cNvPr>
          <p:cNvSpPr txBox="1"/>
          <p:nvPr/>
        </p:nvSpPr>
        <p:spPr>
          <a:xfrm>
            <a:off x="613833" y="941917"/>
            <a:ext cx="10002506" cy="22062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데이터셋 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describe()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각 피처들의 평균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표준편차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최소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/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최댓값 기본 통계치 출력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데이터 구조적 특성 및 모델링 전략 힌트 파악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endParaRPr lang="en-US" altLang="ko-KR" sz="1300" b="1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피처명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의미가 없어 직접적 해석 불가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▶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EDA(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탐색적 데이터 분석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), Feature Selection 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중요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 분포와 스케일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결측치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및 이상치 탐지 및 클래스 불균형 확인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 중요도 추정 및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Feature Engineering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방향성 확인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EA82C2-4A28-7DA2-B136-E179F60ACD31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2BDD05-0482-0B31-D115-E24704A8D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520" y="3593971"/>
            <a:ext cx="3678480" cy="2523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75C3847-BA9F-9409-EA9E-E6CD3D431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591661"/>
            <a:ext cx="2305050" cy="252380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3926D3-F67E-7F16-7DFA-9BC796E94E6D}"/>
              </a:ext>
            </a:extLst>
          </p:cNvPr>
          <p:cNvSpPr txBox="1"/>
          <p:nvPr/>
        </p:nvSpPr>
        <p:spPr>
          <a:xfrm>
            <a:off x="2062935" y="3298195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6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로드된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데이터셋 데이터프레임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describe()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]</a:t>
            </a:r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EAF1CC3A-3417-CCEA-3D8D-4E14D67DA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072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EFA4D-BA72-A3BD-32DF-0DB64826A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01807A1-E39D-D47C-5094-C9AF9AC19804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C2F57-4D3C-E717-B885-8E0DB037E8F9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(4)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B8FDB7-5001-8E22-C062-E24A02DC9754}"/>
              </a:ext>
            </a:extLst>
          </p:cNvPr>
          <p:cNvSpPr txBox="1"/>
          <p:nvPr/>
        </p:nvSpPr>
        <p:spPr>
          <a:xfrm>
            <a:off x="613833" y="941917"/>
            <a:ext cx="10002506" cy="1606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주요 피처 분석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익명화된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피처 중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고객불만족을 가장 잘 설명하는 피처를 찾아내는 과정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해당 과정을 통해 모델 성능을 높이고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고객 이탈을 예방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불균형 클래스 문제를 통해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Accuracy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보다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ROC-AUC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지표가 더 적합</a:t>
            </a:r>
            <a:endParaRPr lang="en-US" altLang="ko-KR" sz="12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피처중요도를 계산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및 상관관계를 계산하여 시각화 → 주요 피처들의 히스토그램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/ Heatmap</a:t>
            </a:r>
            <a:endParaRPr lang="ko-KR" altLang="en-US" sz="1200" dirty="0">
              <a:latin typeface="Microsoft GothicNeo"/>
              <a:ea typeface="Microsoft GothicNeo"/>
              <a:cs typeface="Microsoft Gothic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80EB27-2051-AE72-8154-D878A9EE3676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B60E3F1-BD9F-4C8C-67FC-A9E7CB859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49" y="3801615"/>
            <a:ext cx="573405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C24960B-2760-B965-B26B-5104341A156F}"/>
              </a:ext>
            </a:extLst>
          </p:cNvPr>
          <p:cNvSpPr txBox="1"/>
          <p:nvPr/>
        </p:nvSpPr>
        <p:spPr>
          <a:xfrm>
            <a:off x="397799" y="3429000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2.7 ‘var38(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자산 규모 추정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)’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히스토그램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로그 변환 전후 비교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13616D-342F-1035-A85C-FC19BA27CDAE}"/>
              </a:ext>
            </a:extLst>
          </p:cNvPr>
          <p:cNvSpPr txBox="1"/>
          <p:nvPr/>
        </p:nvSpPr>
        <p:spPr>
          <a:xfrm>
            <a:off x="6034083" y="6185002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2.8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일부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20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개 피처들의 상관관계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Heatmap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시각화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528082A3-09AC-4965-CAE1-26AB71783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3A260AF-B02A-3CF2-285F-DC0E42B7E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734" y="2567096"/>
            <a:ext cx="3840928" cy="359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7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6B1F3-7FDB-F66A-09C6-2FF7B4589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CA24538-9D04-57C0-6109-9092EAC1EF9E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7D94F-F4FA-F999-FFC5-C97C8DF26B45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(5)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31F592-D378-3A13-8A9B-192387619C89}"/>
              </a:ext>
            </a:extLst>
          </p:cNvPr>
          <p:cNvSpPr txBox="1"/>
          <p:nvPr/>
        </p:nvSpPr>
        <p:spPr>
          <a:xfrm>
            <a:off x="613833" y="941917"/>
            <a:ext cx="10002506" cy="28064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주요 피처 분석을 통한 시사점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익명화된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피처 중 일부는 불만족 고객을 강하게 구분하는 경향을 보였음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상관계수가 높은 컬럼들을 삭제하여 </a:t>
            </a:r>
            <a:r>
              <a:rPr lang="ko-KR" altLang="en-US" sz="1300" dirty="0" err="1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다중공선성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문제 해결 필요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로그변환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을 이용하여 데이터의 비대칭적 분포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왜도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완화하여 이상치 영향력 감소 필요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SMOTE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또는 </a:t>
            </a:r>
            <a:r>
              <a:rPr lang="ko-KR" altLang="en-US" sz="13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스케일링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을 활용하여 학습 데이터 균형을 맞추되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어떤 피처가 잘 작동하는지 확인 필요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은행의 실무적 인사이트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: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주요 피처를 중심으로 불만족 고객 조기 탐지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모델이 강조하는 피처들을 실제 </a:t>
            </a:r>
            <a:r>
              <a:rPr lang="ko-KR" altLang="en-US" sz="1200" b="1" dirty="0">
                <a:latin typeface="Microsoft GothicNeo"/>
                <a:ea typeface="Microsoft GothicNeo"/>
                <a:cs typeface="Microsoft GothicNeo"/>
              </a:rPr>
              <a:t>서비스 개선지표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로 활용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‘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단순히 모델이 불만족 고객이라고 예측했다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’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가 아니라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b="1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어떤 요인 때문에 불만족 가능성이 </a:t>
            </a:r>
            <a:r>
              <a:rPr lang="ko-KR" altLang="en-US" sz="1200" b="1" dirty="0" err="1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높은지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설명이 되어야 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0EE109-6E83-1216-F2C0-FECAA7FD5BFE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2" name="Picture 4" descr="Santander Customer Satisfaction">
            <a:extLst>
              <a:ext uri="{FF2B5EF4-FFF2-40B4-BE49-F238E27FC236}">
                <a16:creationId xmlns:a16="http://schemas.microsoft.com/office/drawing/2014/main" id="{7AE59B84-069F-2FA8-1C28-BCDD32D96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610" y="4042639"/>
            <a:ext cx="3621352" cy="108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AE22E3FF-6E49-EC4B-C996-A0B581D6735B}"/>
              </a:ext>
            </a:extLst>
          </p:cNvPr>
          <p:cNvSpPr/>
          <p:nvPr/>
        </p:nvSpPr>
        <p:spPr>
          <a:xfrm>
            <a:off x="1282771" y="3908461"/>
            <a:ext cx="2829464" cy="1449238"/>
          </a:xfrm>
          <a:prstGeom prst="homePlate">
            <a:avLst>
              <a:gd name="adj" fmla="val 2371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화살표: 오각형 9">
            <a:extLst>
              <a:ext uri="{FF2B5EF4-FFF2-40B4-BE49-F238E27FC236}">
                <a16:creationId xmlns:a16="http://schemas.microsoft.com/office/drawing/2014/main" id="{E8F47056-9D03-9274-FB14-623279A1B72A}"/>
              </a:ext>
            </a:extLst>
          </p:cNvPr>
          <p:cNvSpPr/>
          <p:nvPr/>
        </p:nvSpPr>
        <p:spPr>
          <a:xfrm rot="10800000">
            <a:off x="8032337" y="3862186"/>
            <a:ext cx="2829464" cy="1449238"/>
          </a:xfrm>
          <a:prstGeom prst="homePlate">
            <a:avLst>
              <a:gd name="adj" fmla="val 2726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604F51-872E-A260-6AF5-E713486E5576}"/>
              </a:ext>
            </a:extLst>
          </p:cNvPr>
          <p:cNvSpPr txBox="1"/>
          <p:nvPr/>
        </p:nvSpPr>
        <p:spPr>
          <a:xfrm>
            <a:off x="1563327" y="4058684"/>
            <a:ext cx="3489960" cy="1090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고객 이탈 예방</a:t>
            </a:r>
            <a:endParaRPr lang="en-US" altLang="ko-KR" sz="1500" b="1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서비스 개선 포인트</a:t>
            </a:r>
            <a:endParaRPr lang="en-US" altLang="ko-KR" sz="1500" b="1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설명 가능성 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665A75-D052-F995-609A-4F536588C94F}"/>
              </a:ext>
            </a:extLst>
          </p:cNvPr>
          <p:cNvSpPr txBox="1"/>
          <p:nvPr/>
        </p:nvSpPr>
        <p:spPr>
          <a:xfrm>
            <a:off x="8443248" y="4042639"/>
            <a:ext cx="3489960" cy="1090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500" b="1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맞춤형 대응 전략 수립</a:t>
            </a:r>
            <a:endParaRPr lang="en-US" altLang="ko-KR" sz="1500" b="1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500" b="1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서비스 개선지표 활용</a:t>
            </a:r>
            <a:endParaRPr lang="en-US" altLang="ko-KR" sz="1500" b="1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500" b="1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불만족 가능성 요인 설명 </a:t>
            </a:r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71422560-752D-71A6-A26E-0DC8878FB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456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E77D5-6A38-89D0-18D5-18F3DEB4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62A20D2-728F-46BE-02DE-716E95A8EC36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C681D2-E0E0-B280-9B4D-4E20577D58A5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5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탐색적 데이터 분석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(EDA)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AA04DB-E208-B07A-CADD-F450DF4B8E8E}"/>
              </a:ext>
            </a:extLst>
          </p:cNvPr>
          <p:cNvSpPr txBox="1"/>
          <p:nvPr/>
        </p:nvSpPr>
        <p:spPr>
          <a:xfrm>
            <a:off x="613833" y="941917"/>
            <a:ext cx="10002506" cy="16522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피처들의 성격파악 및 시각화 분석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데이터 특성 파악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고유값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개수 확인을 통한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범주형 또는 연속형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컬럼 구분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데이터 이상치 탐지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전체 컬럼 분포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이상치 분포도 시각화 ▶ </a:t>
            </a:r>
            <a:r>
              <a:rPr lang="ko-KR" altLang="en-US" sz="1300" b="1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데이터 </a:t>
            </a:r>
            <a:r>
              <a:rPr lang="ko-KR" altLang="en-US" sz="1300" b="1" dirty="0" err="1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전처리</a:t>
            </a:r>
            <a:r>
              <a:rPr lang="ko-KR" altLang="en-US" sz="1300" b="1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 및 피처선택 전략 수립</a:t>
            </a:r>
            <a:endParaRPr lang="en-US" altLang="ko-KR" sz="1300" b="1" dirty="0">
              <a:solidFill>
                <a:srgbClr val="EC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 분포 시각화를 통한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고유값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확인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: </a:t>
            </a:r>
            <a:r>
              <a:rPr lang="ko-KR" altLang="en-US" sz="12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고유값이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너무 적거나 많은 컬럼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▶ 제거 또는 변환 대상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(Feature Selection)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대부분의 피처는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비대칭적 분포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를 보였으며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일부 피처에서 매우 큰 값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대부분이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0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에 집중된 경향 관찰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011361-D45B-0DE4-F71E-CA496FD47752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D688AE96-AC99-758E-39DE-9C381DAFB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6510462-C3B0-62FE-B25C-CBCD1F981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255" y="2937427"/>
            <a:ext cx="9889490" cy="16403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B441A8-A4C8-E1C1-68CA-F4D655F49B11}"/>
              </a:ext>
            </a:extLst>
          </p:cNvPr>
          <p:cNvSpPr txBox="1"/>
          <p:nvPr/>
        </p:nvSpPr>
        <p:spPr>
          <a:xfrm>
            <a:off x="2884884" y="2661549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2.8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컬럼별 분포 시각화 및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고유값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확인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A66D1F2-E392-148C-C523-B1FE46AFD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091" y="4921143"/>
            <a:ext cx="5763816" cy="17088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E8482C1-D81C-9763-4F8D-4771302D8D14}"/>
              </a:ext>
            </a:extLst>
          </p:cNvPr>
          <p:cNvSpPr txBox="1"/>
          <p:nvPr/>
        </p:nvSpPr>
        <p:spPr>
          <a:xfrm>
            <a:off x="2884884" y="4659533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2.9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이상치가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100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개  이상인 컬럼 상위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5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개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boxplot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시각화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978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1A1E-E298-6570-E273-E6B3F3E1A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C80457A-E3AE-CC7A-CEB4-30E512AE6D52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1E4B94-25B0-5425-2366-80D699D0ED0D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5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탐색적 데이터 분석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(EDA)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418FEB-99B6-C920-C19B-FA70480C2768}"/>
              </a:ext>
            </a:extLst>
          </p:cNvPr>
          <p:cNvSpPr txBox="1"/>
          <p:nvPr/>
        </p:nvSpPr>
        <p:spPr>
          <a:xfrm>
            <a:off x="613832" y="941917"/>
            <a:ext cx="10816167" cy="1952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왜도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특성 파악 및 피처간 상관관계 분석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왜도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분석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을 통해 데이터 분포의 비대칭성 지표 파악 후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로그 변환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적합 여부 판단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피처간 상관계수 분석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특정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피처들에서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강한 상관관계 확인 ▶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다중공선성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존재 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다중공선성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영향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계수 불안정성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모델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해석력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저하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과적합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가능성 ▶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중복 정보 탐지</a:t>
            </a:r>
            <a:endParaRPr lang="en-US" altLang="ko-KR" sz="1300" b="1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전체 데이터 중 음수 값을 가지는 컬럼은 총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31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개로 확인 → 로그변환은 양수에만 적용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다른 비선형 기법 고려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)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분할 기준에 따라 변수 중요도를 선택적으로 반영하는 트리 계열 알고리즘과 달리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선형계열 모델에는 민감한 영향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A8CCE6-93B7-442A-3C54-6013616F4E92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6D81B717-6B8F-B7AA-0062-97C4E194F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54B1EC-AB7A-8B2C-92B5-0FDB0EDE2D9A}"/>
              </a:ext>
            </a:extLst>
          </p:cNvPr>
          <p:cNvSpPr txBox="1"/>
          <p:nvPr/>
        </p:nvSpPr>
        <p:spPr>
          <a:xfrm>
            <a:off x="826371" y="3002031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2.10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데이터셋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왜도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분석 및 로그변환 판단 함수 적용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479148-E864-6DE2-F099-10760D3A9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513" y="3278446"/>
            <a:ext cx="4483947" cy="28159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1C20A9C-6D9D-1C5F-CFAE-C342774D66E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940" y="3263641"/>
            <a:ext cx="3407411" cy="3133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BD2856-A98D-0819-1606-25B8902F25B4}"/>
              </a:ext>
            </a:extLst>
          </p:cNvPr>
          <p:cNvSpPr txBox="1"/>
          <p:nvPr/>
        </p:nvSpPr>
        <p:spPr>
          <a:xfrm>
            <a:off x="5276451" y="3001229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2.11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상위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20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피처들의 상관관계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히트맵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시각화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5620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4CAC0-A826-13BE-AFFA-D5823BD95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D6D10AA-67E3-43CA-A74F-2AD35DBE106B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638C10-1141-82BD-03AF-0BFF7B24E40F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5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탐색적 데이터 분석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(EDA)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E84B9E-7742-8F77-D4D5-47831CCC8370}"/>
              </a:ext>
            </a:extLst>
          </p:cNvPr>
          <p:cNvSpPr txBox="1"/>
          <p:nvPr/>
        </p:nvSpPr>
        <p:spPr>
          <a:xfrm>
            <a:off x="613832" y="941917"/>
            <a:ext cx="10816167" cy="19292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var3 , var15, var38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발견된 문제점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var3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피처 </a:t>
            </a:r>
            <a:r>
              <a:rPr lang="en-US" altLang="ko-KR" sz="1300" dirty="0" err="1">
                <a:latin typeface="Microsoft GothicNeo"/>
                <a:ea typeface="Microsoft GothicNeo"/>
                <a:cs typeface="Microsoft GothicNeo"/>
              </a:rPr>
              <a:t>descrie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를 통해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최소값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-999999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결측치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확인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var15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값의 분포가 현실적인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‘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나이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(Age)’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범위에 해당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연속형 정수로 구성 ▶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고객 특성 설명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var38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피처의 분포 분석 결과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특정 값</a:t>
            </a: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*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에 데이터가 집중되는 패턴 확인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▶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결측치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대체값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(placeholder)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시사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var15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나이 추정 변수에서 전체 분포는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23~40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세 구간에 집중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altLang="ko-KR" sz="12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100</a:t>
            </a:r>
            <a:r>
              <a:rPr lang="ko-KR" altLang="en-US" sz="12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세 이상 값은 총 </a:t>
            </a:r>
            <a:r>
              <a:rPr lang="en-US" altLang="ko-KR" sz="12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8</a:t>
            </a:r>
            <a:r>
              <a:rPr lang="ko-KR" altLang="en-US" sz="12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건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으로 매우 드물게 나타나 이상치로 판단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var38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특정 값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(117,310)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에 데이터가 집중되는 패턴 확인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.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해당값은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전체 데이터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14,868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건으로 가장 높은 빈도를 보임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99947B-B799-0D89-158F-757573A50C4B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BDA5C167-7469-A358-50BD-D3CC6D1E7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606615-3F9A-9A9E-9761-B555867E90F3}"/>
              </a:ext>
            </a:extLst>
          </p:cNvPr>
          <p:cNvSpPr txBox="1"/>
          <p:nvPr/>
        </p:nvSpPr>
        <p:spPr>
          <a:xfrm>
            <a:off x="883629" y="3099251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2.12 var15(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나이추정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피처의 분포 히스토그램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A16B71-A62F-33FA-C536-36EC5E2F9BA1}"/>
              </a:ext>
            </a:extLst>
          </p:cNvPr>
          <p:cNvSpPr txBox="1"/>
          <p:nvPr/>
        </p:nvSpPr>
        <p:spPr>
          <a:xfrm>
            <a:off x="5459835" y="3156110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2.13 var38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피처의 분포 중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특정값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데이터 집중 확인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7F31EF-082D-22E1-CF15-D95C82BD8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935" y="3387406"/>
            <a:ext cx="4061980" cy="287508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6C2EACB-C7F7-72F2-400C-62288EF34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700" y="3436088"/>
            <a:ext cx="4146501" cy="282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93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74240-1A61-EF7A-7F2D-7E8EC0129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5A10CC87-05BC-255C-DEE3-A02BE3D6E9D7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92389-3EBA-F607-FF03-EDDE27BD4A86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6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</a:t>
            </a:r>
            <a:r>
              <a:rPr lang="ko-KR" altLang="en-US" sz="2500" dirty="0" err="1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전처리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(1)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9D79D7-A7A2-420E-1019-EA01CBF60525}"/>
              </a:ext>
            </a:extLst>
          </p:cNvPr>
          <p:cNvSpPr txBox="1"/>
          <p:nvPr/>
        </p:nvSpPr>
        <p:spPr>
          <a:xfrm>
            <a:off x="613832" y="941917"/>
            <a:ext cx="10816167" cy="19292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모델 성능과 안정성 확보를 위한 단계적 </a:t>
            </a: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전처리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진행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탐색적 데이터 분석을 통한 </a:t>
            </a:r>
            <a:r>
              <a:rPr lang="ko-KR" altLang="en-US" sz="13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데이터 전처리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와 </a:t>
            </a:r>
            <a:r>
              <a:rPr lang="ko-KR" altLang="en-US" sz="13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피처 선택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전략 수립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b="1" dirty="0" err="1">
                <a:latin typeface="Microsoft GothicNeo"/>
                <a:ea typeface="Microsoft GothicNeo"/>
                <a:cs typeface="Microsoft GothicNeo"/>
              </a:rPr>
              <a:t>결측치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 처리</a:t>
            </a: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명시적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결측치를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최빈값으로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대체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하여 데이터 일관성 확보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(zero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값 의미 파악 및 처리</a:t>
            </a: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0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값이 지나치게 높은 비율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로 나타나는 피처 제거 ⇒ 피처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220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개 제거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var3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-999999, 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최빈값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2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로 대체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 err="1">
                <a:solidFill>
                  <a:schemeClr val="accent1"/>
                </a:solidFill>
                <a:latin typeface="Microsoft GothicNeo"/>
                <a:ea typeface="Microsoft GothicNeo"/>
                <a:cs typeface="Microsoft GothicNeo"/>
              </a:rPr>
              <a:t>zero_count_rate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통해 전체 값 중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99%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이상이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0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으로 구성된 피처들은 정보량이 거의 없다고 판단하여 삭제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993B312-1949-274A-ADDA-B53A77B016C0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93BE03E5-A354-DFF0-B548-AF0325A8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0A9C02-4AD1-C197-7827-CCBBEFCF4753}"/>
              </a:ext>
            </a:extLst>
          </p:cNvPr>
          <p:cNvSpPr txBox="1"/>
          <p:nvPr/>
        </p:nvSpPr>
        <p:spPr>
          <a:xfrm>
            <a:off x="397799" y="3130839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2.1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전처리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전체 단계 요약 구성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3284D6F-AB45-0CE2-E8A4-8326BDCD5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568690"/>
              </p:ext>
            </p:extLst>
          </p:nvPr>
        </p:nvGraphicFramePr>
        <p:xfrm>
          <a:off x="799772" y="3458061"/>
          <a:ext cx="5401852" cy="253074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23091">
                  <a:extLst>
                    <a:ext uri="{9D8B030D-6E8A-4147-A177-3AD203B41FA5}">
                      <a16:colId xmlns:a16="http://schemas.microsoft.com/office/drawing/2014/main" val="1315053058"/>
                    </a:ext>
                  </a:extLst>
                </a:gridCol>
                <a:gridCol w="3778761">
                  <a:extLst>
                    <a:ext uri="{9D8B030D-6E8A-4147-A177-3AD203B41FA5}">
                      <a16:colId xmlns:a16="http://schemas.microsoft.com/office/drawing/2014/main" val="2801455241"/>
                    </a:ext>
                  </a:extLst>
                </a:gridCol>
              </a:tblGrid>
              <a:tr h="3163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단계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주요 내용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638379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1. </a:t>
                      </a: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데이터 정제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비표준 값 처리 및 </a:t>
                      </a:r>
                      <a:r>
                        <a:rPr lang="ko-KR" sz="100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결측치</a:t>
                      </a: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치환 전략 적용 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8795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2. </a:t>
                      </a: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피처 선택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(1)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Zero-value </a:t>
                      </a: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비율 분석에 따른 피처 제거 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269873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3. </a:t>
                      </a: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이상치 처리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이상치 탐지 및 값 보정 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4537094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4. </a:t>
                      </a: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변수 변환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고 </a:t>
                      </a:r>
                      <a:r>
                        <a:rPr lang="ko-KR" sz="100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왜도</a:t>
                      </a: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변수에 대한 로그 변환 적용 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118379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5. </a:t>
                      </a: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피처 선택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(2)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sz="100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다중공선성</a:t>
                      </a: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해소를 위한 상관계수 기반 피처 제거 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198114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6. </a:t>
                      </a: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인코딩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/</a:t>
                      </a: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스케일링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필요 시 인코딩 적용 및 스케일 정규화 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6619126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7. </a:t>
                      </a: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최종 확정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최종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Feature </a:t>
                      </a: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목록 확정 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13405041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7A306E3-0529-E46B-EE3C-74BDA018A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520548"/>
              </p:ext>
            </p:extLst>
          </p:nvPr>
        </p:nvGraphicFramePr>
        <p:xfrm>
          <a:off x="6475493" y="3429000"/>
          <a:ext cx="5058622" cy="933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8622">
                  <a:extLst>
                    <a:ext uri="{9D8B030D-6E8A-4147-A177-3AD203B41FA5}">
                      <a16:colId xmlns:a16="http://schemas.microsoft.com/office/drawing/2014/main" val="3138216807"/>
                    </a:ext>
                  </a:extLst>
                </a:gridCol>
              </a:tblGrid>
              <a:tr h="93358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# var3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처리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X_features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['var3']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X_features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['var3'].replace(-999999, 2) 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X_test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['var3']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X_test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['var3'].replace(-999999, 2)</a:t>
                      </a: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29982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2CECB7FC-5168-BCC3-332F-202E412A0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482681"/>
              </p:ext>
            </p:extLst>
          </p:nvPr>
        </p:nvGraphicFramePr>
        <p:xfrm>
          <a:off x="6475493" y="4453627"/>
          <a:ext cx="5058622" cy="1535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8622">
                  <a:extLst>
                    <a:ext uri="{9D8B030D-6E8A-4147-A177-3AD203B41FA5}">
                      <a16:colId xmlns:a16="http://schemas.microsoft.com/office/drawing/2014/main" val="3138216807"/>
                    </a:ext>
                  </a:extLst>
                </a:gridCol>
              </a:tblGrid>
              <a:tr h="13506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900" b="0" dirty="0">
                          <a:solidFill>
                            <a:schemeClr val="accent4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def</a:t>
                      </a:r>
                      <a:r>
                        <a:rPr lang="en-US" altLang="ko-KR" sz="900" b="0" dirty="0">
                          <a:solidFill>
                            <a:srgbClr val="0066CC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remove_zero_columns2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train_df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test_df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threshold_rate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=0.99,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save_report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=True): </a:t>
                      </a:r>
                      <a:endParaRPr lang="ko-KR" altLang="ko-KR" sz="1100" b="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summary_data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[ ] </a:t>
                      </a:r>
                      <a:endParaRPr lang="ko-KR" altLang="ko-KR" sz="1100" b="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900" b="0" dirty="0">
                          <a:solidFill>
                            <a:schemeClr val="accent4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for</a:t>
                      </a:r>
                      <a:r>
                        <a:rPr lang="en-US" altLang="ko-KR" sz="900" b="0" dirty="0">
                          <a:solidFill>
                            <a:srgbClr val="0066CC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col </a:t>
                      </a:r>
                      <a:r>
                        <a:rPr lang="en-US" altLang="ko-KR" sz="900" b="0" dirty="0">
                          <a:solidFill>
                            <a:schemeClr val="accent4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in</a:t>
                      </a:r>
                      <a:r>
                        <a:rPr lang="en-US" altLang="ko-KR" sz="900" b="0" dirty="0">
                          <a:solidFill>
                            <a:srgbClr val="0066CC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train_df.columns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: </a:t>
                      </a:r>
                      <a:endParaRPr lang="ko-KR" altLang="ko-KR" sz="1100" b="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zero_count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(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train_df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[col] == 0).sum() </a:t>
                      </a:r>
                      <a:endParaRPr lang="ko-KR" altLang="ko-KR" sz="1100" b="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…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accent4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return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clean_train_df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clean_test_df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</a:t>
                      </a: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2998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83CC52F-68C3-BD60-08F1-9BB2A4450D11}"/>
              </a:ext>
            </a:extLst>
          </p:cNvPr>
          <p:cNvSpPr txBox="1"/>
          <p:nvPr/>
        </p:nvSpPr>
        <p:spPr>
          <a:xfrm>
            <a:off x="5793689" y="3130839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2.2 var3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결측치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처리 및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0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값이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99%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이상인 피처 제거 함수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9544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6E75F-EC35-F2ED-CEB9-505FDF2E8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D32944E-EED5-BA96-44C1-933DBD0FEF6D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612B38-9ADB-8BE8-C436-0DF2F2209C69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6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</a:t>
            </a:r>
            <a:r>
              <a:rPr lang="ko-KR" altLang="en-US" sz="2500" dirty="0" err="1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전처리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(2)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4DA9EA-0474-8FBA-49BE-E0982F994C02}"/>
              </a:ext>
            </a:extLst>
          </p:cNvPr>
          <p:cNvSpPr txBox="1"/>
          <p:nvPr/>
        </p:nvSpPr>
        <p:spPr>
          <a:xfrm>
            <a:off x="613832" y="941917"/>
            <a:ext cx="10816167" cy="22062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모델 성능과 안정성 확보를 위한 단계적 </a:t>
            </a: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전처리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진행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상관관계 기반 피처 제거</a:t>
            </a: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)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다중공선성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문제 해결을 위한 피처간 상관관계 계산 ⇒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상관계수 절대값이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0.95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이상인 피처 제거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이상치 처리</a:t>
            </a: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)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연속형 변수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var15(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나이 추정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비정상적 큰 값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극단값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포함 ⇒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상한값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100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으로 제한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로그 변환을 통한 </a:t>
            </a:r>
            <a:r>
              <a:rPr lang="ko-KR" altLang="en-US" sz="1300" b="1" dirty="0" err="1">
                <a:latin typeface="Microsoft GothicNeo"/>
                <a:ea typeface="Microsoft GothicNeo"/>
                <a:cs typeface="Microsoft GothicNeo"/>
              </a:rPr>
              <a:t>고왜도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  보정</a:t>
            </a: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왜도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절대값이 높은 피처들에 대한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log1p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변환 적용 ⇒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총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71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개 피처 변환 대상 선정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모델 학습 시 불필요한 복잡도 증가 및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과적합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(over fitting)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유발 방지를 위해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상관계수가 높은 피처들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53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개 제거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⇒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96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개로 축소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중요도가 높고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나이로 추정되는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var15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 중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100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이 넘는 값들이 분포 왜곡을 발생시킬 가능성이 있음 ⇒ 현실적 범위 내 학습 유도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왜도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(skewness)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절대값이 높은 변수는 모델의 결정 경계 형성을 왜곡 ⇒ 로그변환을 통한 해당 피처 분포 안정적 개선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4FDB6-B2DB-6716-6275-C7DE364F8F64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FD4765E1-DE1C-8AB3-F042-D6030155C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3CF5FA8-6D29-DD3A-B4E8-AC1D6FB5B91F}"/>
              </a:ext>
            </a:extLst>
          </p:cNvPr>
          <p:cNvSpPr txBox="1"/>
          <p:nvPr/>
        </p:nvSpPr>
        <p:spPr>
          <a:xfrm>
            <a:off x="-146812" y="3442671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2.3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상관계수 높은 피처 삭제 함수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9BA80D4-1125-9EAD-3B1D-67B69DD47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853120"/>
              </p:ext>
            </p:extLst>
          </p:nvPr>
        </p:nvGraphicFramePr>
        <p:xfrm>
          <a:off x="657886" y="5518400"/>
          <a:ext cx="4900942" cy="536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0942">
                  <a:extLst>
                    <a:ext uri="{9D8B030D-6E8A-4147-A177-3AD203B41FA5}">
                      <a16:colId xmlns:a16="http://schemas.microsoft.com/office/drawing/2014/main" val="3138216807"/>
                    </a:ext>
                  </a:extLst>
                </a:gridCol>
              </a:tblGrid>
              <a:tr h="53641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X_features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['var15']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X_features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['var15'].clip(upper=100) </a:t>
                      </a: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29982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E6C1F77-D0F4-2233-A49D-E9F62FFF1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607752"/>
              </p:ext>
            </p:extLst>
          </p:nvPr>
        </p:nvGraphicFramePr>
        <p:xfrm>
          <a:off x="657886" y="3704281"/>
          <a:ext cx="4900942" cy="1257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0942">
                  <a:extLst>
                    <a:ext uri="{9D8B030D-6E8A-4147-A177-3AD203B41FA5}">
                      <a16:colId xmlns:a16="http://schemas.microsoft.com/office/drawing/2014/main" val="3138216807"/>
                    </a:ext>
                  </a:extLst>
                </a:gridCol>
              </a:tblGrid>
              <a:tr h="12570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accent4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def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drop_highly_correlated_features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df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threshold=0.95):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corr_matrix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df.corr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().abs()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upper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corr_matrix.where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np.triu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np.ones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corr_matrix.shape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), k=1).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astype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(bool))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to_drop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[column for column in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upper.columns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if any(upper[column] &gt; threshold)]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</a:t>
                      </a:r>
                      <a:r>
                        <a:rPr lang="en-US" altLang="ko-KR" sz="900" b="0" dirty="0">
                          <a:solidFill>
                            <a:schemeClr val="accent4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return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df.drop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(columns=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to_drop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),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to_drop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2998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DDCF4A1-D6A5-D544-7FBE-F00C5DE71164}"/>
              </a:ext>
            </a:extLst>
          </p:cNvPr>
          <p:cNvSpPr txBox="1"/>
          <p:nvPr/>
        </p:nvSpPr>
        <p:spPr>
          <a:xfrm>
            <a:off x="-102758" y="5256790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2.4 var15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피처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나이 추정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이상치 제한 함수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9E8030B-3259-6F26-A158-96B2BE7F5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965142"/>
              </p:ext>
            </p:extLst>
          </p:nvPr>
        </p:nvGraphicFramePr>
        <p:xfrm>
          <a:off x="5709718" y="3704281"/>
          <a:ext cx="5933038" cy="2350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038">
                  <a:extLst>
                    <a:ext uri="{9D8B030D-6E8A-4147-A177-3AD203B41FA5}">
                      <a16:colId xmlns:a16="http://schemas.microsoft.com/office/drawing/2014/main" val="3138216807"/>
                    </a:ext>
                  </a:extLst>
                </a:gridCol>
              </a:tblGrid>
              <a:tr h="235053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# Train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에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log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변환 적용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X_reduced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valid_log_cols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] = np.log1p(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X_reduced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valid_log_cols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])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# Test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에도 동일하게 적용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X_test_reduced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valid_log_cols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] = np.log1p(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X_test_reduced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valid_log_cols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])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print(f"\n✓ Log1p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변환 완료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: {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len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valid_log_cols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)}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개 컬럼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")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#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변환 후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왜도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확인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new_skewness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X_reduced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valid_log_cols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].skew()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print(f"\n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변환 후 평균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왜도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: {abs(skewness[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valid_log_cols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]).mean():.2f} -&gt; {abs(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new_skewness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).mean():.2f}")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else: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     print("✓ Log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변환 적용 가능한 컬럼이 없습니다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.")</a:t>
                      </a: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2998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19FFECF-60D9-03ED-0592-5D99F140ED94}"/>
              </a:ext>
            </a:extLst>
          </p:cNvPr>
          <p:cNvSpPr txBox="1"/>
          <p:nvPr/>
        </p:nvSpPr>
        <p:spPr>
          <a:xfrm>
            <a:off x="5465122" y="3415329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2.5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음수를 제외한 고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왜도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피처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log1p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적용 및 확인 함수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0963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C8E35-6B60-09EF-FB75-FB0A8CD6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78F55B1-DDB6-4093-19CF-7F26054363B8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B6F6F8-7B8C-1857-6266-72834AD66BF0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6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</a:t>
            </a:r>
            <a:r>
              <a:rPr lang="ko-KR" altLang="en-US" sz="2500" dirty="0" err="1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전처리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(3)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21EE01-1C0B-B95B-884D-3E94301F3CF4}"/>
              </a:ext>
            </a:extLst>
          </p:cNvPr>
          <p:cNvSpPr txBox="1"/>
          <p:nvPr/>
        </p:nvSpPr>
        <p:spPr>
          <a:xfrm>
            <a:off x="613832" y="941917"/>
            <a:ext cx="10816167" cy="1352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모든 피처 스케일링을 통한 정규화 작업 실시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모델 간 공정한 비교를 위한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모든 피처에 </a:t>
            </a:r>
            <a:r>
              <a:rPr lang="en-US" altLang="ko-KR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StandardScaler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적용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추가적인 인코딩 작업은 수행하지 않았음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(One-Hot Encoding, Label Encoding X)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스케일링을 통해 트리계열 모델들은 변수 스케일에 민감하지 않지만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입력값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크기 차이에 영향을 받는 회귀 모델과 공정한 비교 가능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52E70C-2933-C9BE-9F7C-C20AAF55CC72}"/>
              </a:ext>
            </a:extLst>
          </p:cNvPr>
          <p:cNvSpPr/>
          <p:nvPr/>
        </p:nvSpPr>
        <p:spPr>
          <a:xfrm>
            <a:off x="444501" y="1026583"/>
            <a:ext cx="62494" cy="30927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82924371-5262-D64D-F2BD-343C18DC2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E5419D-7618-A5F7-E24D-127E2BA887B1}"/>
              </a:ext>
            </a:extLst>
          </p:cNvPr>
          <p:cNvSpPr txBox="1"/>
          <p:nvPr/>
        </p:nvSpPr>
        <p:spPr>
          <a:xfrm>
            <a:off x="613832" y="2579029"/>
            <a:ext cx="10816167" cy="1629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단계적 전처리를 통한 최종 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Feature Selection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요약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원본 데이터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(371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개 피처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중 불필요하거나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품질저하 유발 요소 제거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최종적 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96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개 핵심 피처 선정 </a:t>
            </a:r>
            <a:endParaRPr lang="en-US" altLang="ko-KR" sz="1300" b="1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모델 학습 효율성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향상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과적합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방지와 해석 가능성 제고 기여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3E1F07-065D-6DAE-E797-FB5C8260DD65}"/>
              </a:ext>
            </a:extLst>
          </p:cNvPr>
          <p:cNvSpPr txBox="1"/>
          <p:nvPr/>
        </p:nvSpPr>
        <p:spPr>
          <a:xfrm>
            <a:off x="2884885" y="4493140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2.6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학습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테스트데이터 </a:t>
            </a:r>
            <a:r>
              <a:rPr lang="en-US" altLang="ko-KR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StandardScaler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정규화 함수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E38F9DD-070D-DDE9-D39A-3DBC66466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653927"/>
              </p:ext>
            </p:extLst>
          </p:nvPr>
        </p:nvGraphicFramePr>
        <p:xfrm>
          <a:off x="3689583" y="4754750"/>
          <a:ext cx="4900942" cy="130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0942">
                  <a:extLst>
                    <a:ext uri="{9D8B030D-6E8A-4147-A177-3AD203B41FA5}">
                      <a16:colId xmlns:a16="http://schemas.microsoft.com/office/drawing/2014/main" val="3138216807"/>
                    </a:ext>
                  </a:extLst>
                </a:gridCol>
              </a:tblGrid>
              <a:tr h="12570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accent4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def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scale_data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X_train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X_test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: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scaler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StandardScaler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X_train_scaled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scaler.fit_transform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X_train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X_test_scaled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scaler.transform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X_test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</a:t>
                      </a:r>
                      <a:r>
                        <a:rPr lang="en-US" altLang="ko-KR" sz="900" b="0" dirty="0">
                          <a:solidFill>
                            <a:schemeClr val="accent4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return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X_train_scaled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X_test_scaled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scaler</a:t>
                      </a: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29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844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C35EA-6DE8-3019-55D1-8BFDCD821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5E975E4-D1B7-E691-6D9E-E2C175A90186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4FCF5-4407-0692-8644-380FDF0D4CD1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7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모델링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(1)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22B2B2-D577-BB99-799E-BAC7D3F5A7A1}"/>
              </a:ext>
            </a:extLst>
          </p:cNvPr>
          <p:cNvSpPr txBox="1"/>
          <p:nvPr/>
        </p:nvSpPr>
        <p:spPr>
          <a:xfrm>
            <a:off x="613832" y="941917"/>
            <a:ext cx="10816167" cy="1906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8:2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학습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/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검증 데이터 분할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80%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학습용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Train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데이터로 사용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나머지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20%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는 검증용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 Validation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으로 사용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Cross-Validation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전략 사용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20%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검증용 데이터들은 검증용으로 사용 → 모델 선택 및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하이퍼파라미터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튜닝 활용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Stratified </a:t>
            </a:r>
            <a:r>
              <a:rPr lang="en-US" altLang="ko-KR" sz="12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Kfold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기반 교차검증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사용 → 각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fold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마다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TARGET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클래스 비율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전체 데이터와 유사하게 유지되도록 층화 설정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 err="1">
                <a:latin typeface="Microsoft GothicNeo"/>
                <a:ea typeface="Microsoft GothicNeo"/>
                <a:cs typeface="Microsoft GothicNeo"/>
              </a:rPr>
              <a:t>HyperOpt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및 </a:t>
            </a:r>
            <a:r>
              <a:rPr lang="en-US" altLang="ko-KR" sz="1200" dirty="0" err="1">
                <a:latin typeface="Microsoft GothicNeo"/>
                <a:ea typeface="Microsoft GothicNeo"/>
                <a:cs typeface="Microsoft GothicNeo"/>
              </a:rPr>
              <a:t>GridSearchCV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에서 단일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Train/Validation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분할에 의존하지 않는 안정적 성능 평가 수행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C41E78-FD06-C9A8-51ED-846873A7EF0A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EAC3034C-1F9F-E124-7AA7-D7C069AD4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271D184-E731-8D9B-99EF-F4673C5D8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811236"/>
              </p:ext>
            </p:extLst>
          </p:nvPr>
        </p:nvGraphicFramePr>
        <p:xfrm>
          <a:off x="3305185" y="3421980"/>
          <a:ext cx="5933038" cy="1624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038">
                  <a:extLst>
                    <a:ext uri="{9D8B030D-6E8A-4147-A177-3AD203B41FA5}">
                      <a16:colId xmlns:a16="http://schemas.microsoft.com/office/drawing/2014/main" val="3138216807"/>
                    </a:ext>
                  </a:extLst>
                </a:gridCol>
              </a:tblGrid>
              <a:tr h="1624153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stacking_model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</a:t>
                      </a:r>
                      <a:r>
                        <a:rPr lang="en-US" altLang="ko-KR" sz="900" b="0" dirty="0" err="1">
                          <a:solidFill>
                            <a:schemeClr val="accent4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StackingClassifier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estimators      = [('rf',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rf_clf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), ('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xgb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',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xgb_clf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), ('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lgbm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',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lgbm_clf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)],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final_estimator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meta_model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cv             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StratifiedKFold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n_splits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=5, shuffle=True,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random_state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=42),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n_jobs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    = -1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299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14AB18-D293-7B5F-3A67-6832DA24033E}"/>
              </a:ext>
            </a:extLst>
          </p:cNvPr>
          <p:cNvSpPr txBox="1"/>
          <p:nvPr/>
        </p:nvSpPr>
        <p:spPr>
          <a:xfrm>
            <a:off x="3060589" y="3133027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2.7 </a:t>
            </a:r>
            <a:r>
              <a:rPr lang="en-US" altLang="ko-KR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StratifiedKfold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기반 교차검증 사용 적용 함수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463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B0DD-D21C-308B-8C5D-1E04EAFF3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9B7374F-85AB-30B9-6C42-AAF0C18A99BE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6B919-8D35-471D-A9BA-07EE83DD09BF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7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모델링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(2)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0D812E-C10F-0756-3143-C3B0BCCA0CB1}"/>
              </a:ext>
            </a:extLst>
          </p:cNvPr>
          <p:cNvSpPr txBox="1"/>
          <p:nvPr/>
        </p:nvSpPr>
        <p:spPr>
          <a:xfrm>
            <a:off x="613832" y="941917"/>
            <a:ext cx="10816167" cy="19292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8:2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학습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/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검증 데이터 분할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var3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피처 </a:t>
            </a:r>
            <a:r>
              <a:rPr lang="en-US" altLang="ko-KR" sz="1300" dirty="0" err="1">
                <a:latin typeface="Microsoft GothicNeo"/>
                <a:ea typeface="Microsoft GothicNeo"/>
                <a:cs typeface="Microsoft GothicNeo"/>
              </a:rPr>
              <a:t>descrie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를 통해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최소값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-999999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결측치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확인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var15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값의 분포가 현실적인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‘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나이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(Age)’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범위에 해당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연속형 정수로 구성 ▶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고객 특성 설명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var38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피처의 분포 분석 결과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특정 값</a:t>
            </a: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*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에 데이터가 집중되는 패턴 확인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▶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결측치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대체값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(placeholder)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시사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var15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나이 추정 변수에서 전체 분포는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23~40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세 구간에 집중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altLang="ko-KR" sz="12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100</a:t>
            </a:r>
            <a:r>
              <a:rPr lang="ko-KR" altLang="en-US" sz="12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세 이상 값은 총 </a:t>
            </a:r>
            <a:r>
              <a:rPr lang="en-US" altLang="ko-KR" sz="12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8</a:t>
            </a:r>
            <a:r>
              <a:rPr lang="ko-KR" altLang="en-US" sz="12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건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으로 매우 드물게 나타나 이상치로 판단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var38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특정 값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(117,310)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에 데이터가 집중되는 패턴 확인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.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해당값은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전체 데이터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14,868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건으로 가장 높은 빈도를 보임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F6756E-77CA-5637-8689-1D9ECA0367C2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3E7983DF-22A9-4FD8-0F6D-CB9879F99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35406E-9748-5AB5-925E-5A3648B901F3}"/>
              </a:ext>
            </a:extLst>
          </p:cNvPr>
          <p:cNvSpPr txBox="1"/>
          <p:nvPr/>
        </p:nvSpPr>
        <p:spPr>
          <a:xfrm>
            <a:off x="883629" y="3099251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2.12 var15(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나이추정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피처의 분포 히스토그램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4CE4C2-FA0E-698F-02A5-7A8E82D1CFFB}"/>
              </a:ext>
            </a:extLst>
          </p:cNvPr>
          <p:cNvSpPr txBox="1"/>
          <p:nvPr/>
        </p:nvSpPr>
        <p:spPr>
          <a:xfrm>
            <a:off x="5459835" y="3156110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2.13 var38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피처의 분포 중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특정값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데이터 집중 확인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EB9A398-BAB0-9A94-F619-A783BF749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935" y="3387406"/>
            <a:ext cx="4061980" cy="287508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EDB3B0F-46D9-A476-0F2F-C2CA45815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700" y="3436088"/>
            <a:ext cx="4146501" cy="282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82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202C4F1-33A1-D42B-B70C-CE7C460299F7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4" name="내용 개체 틀 13">
            <a:extLst>
              <a:ext uri="{FF2B5EF4-FFF2-40B4-BE49-F238E27FC236}">
                <a16:creationId xmlns:a16="http://schemas.microsoft.com/office/drawing/2014/main" id="{31C3C2E4-48FF-628C-2CC7-2A93CF79C6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7145391"/>
              </p:ext>
            </p:extLst>
          </p:nvPr>
        </p:nvGraphicFramePr>
        <p:xfrm>
          <a:off x="848783" y="2710554"/>
          <a:ext cx="10515591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35776">
                  <a:extLst>
                    <a:ext uri="{9D8B030D-6E8A-4147-A177-3AD203B41FA5}">
                      <a16:colId xmlns:a16="http://schemas.microsoft.com/office/drawing/2014/main" val="2092996912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109184465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1353602506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3401753819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312508761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369982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latin typeface="Arial Nova"/>
                        </a:rPr>
                        <a:t>구  분</a:t>
                      </a:r>
                    </a:p>
                  </a:txBody>
                  <a:tcPr anchor="ctr"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D4</a:t>
                      </a: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D8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D12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D16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D20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32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프로젝트 전략 및 계획 수립 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278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조원별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업무 배분 및 업무 범위 명확화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주제별 데이터셋 파악,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전처리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과정 진행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788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1 :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Kaggle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산탄데르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은행 고객 만족 분석</a:t>
                      </a:r>
                      <a:endParaRPr lang="ko-KR">
                        <a:latin typeface="Microsoft GothicNeo"/>
                        <a:ea typeface="Microsoft GothicNeo"/>
                      </a:endParaRP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48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2 :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Kaggle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신용카드 사기 검출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956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3 : UCI 감성 리뷰 분석 및 문서 유사도 분석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211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4 :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Kaggle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Mercari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가격 예측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574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모델 학습 및 성능 고도화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93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리포트 작성 및 발표자료 준비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78848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28F976E-6F09-1951-48FB-DD5FF628C876}"/>
              </a:ext>
            </a:extLst>
          </p:cNvPr>
          <p:cNvSpPr txBox="1"/>
          <p:nvPr/>
        </p:nvSpPr>
        <p:spPr>
          <a:xfrm>
            <a:off x="1915583" y="2293109"/>
            <a:ext cx="8383627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00" dirty="0">
                <a:latin typeface="Microsoft GothicNeo"/>
                <a:ea typeface="Microsoft GothicNeo"/>
                <a:cs typeface="Microsoft GothicNeo"/>
              </a:rPr>
              <a:t>&lt; </a:t>
            </a:r>
            <a:r>
              <a:rPr lang="ko-KR" altLang="en-US" sz="1500" dirty="0" err="1">
                <a:latin typeface="Microsoft GothicNeo"/>
                <a:ea typeface="Microsoft GothicNeo"/>
                <a:cs typeface="Microsoft GothicNeo"/>
              </a:rPr>
              <a:t>Semi</a:t>
            </a:r>
            <a:r>
              <a:rPr lang="ko-KR" altLang="en-US" sz="1500" dirty="0">
                <a:latin typeface="Microsoft GothicNeo"/>
                <a:ea typeface="Microsoft GothicNeo"/>
                <a:cs typeface="Microsoft GothicNeo"/>
              </a:rPr>
              <a:t>-Project 추진 일정 (11월 18일 ~ 12월 15일) 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7301CD-E511-4F1A-B0EB-19C33374F319}"/>
              </a:ext>
            </a:extLst>
          </p:cNvPr>
          <p:cNvSpPr txBox="1"/>
          <p:nvPr/>
        </p:nvSpPr>
        <p:spPr>
          <a:xfrm>
            <a:off x="52914" y="179916"/>
            <a:ext cx="5704416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0</a:t>
            </a:r>
            <a:r>
              <a:rPr lang="en-US" alt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0</a:t>
            </a:r>
            <a:r>
              <a:rPr 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-</a:t>
            </a:r>
            <a:r>
              <a:rPr lang="en-US" alt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00</a:t>
            </a:r>
            <a:r>
              <a:rPr 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 프로젝트 로드맵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A3E701-172E-695B-5D08-F88F211CB872}"/>
              </a:ext>
            </a:extLst>
          </p:cNvPr>
          <p:cNvSpPr txBox="1"/>
          <p:nvPr/>
        </p:nvSpPr>
        <p:spPr>
          <a:xfrm>
            <a:off x="613833" y="941917"/>
            <a:ext cx="7725833" cy="10724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머신러닝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세미프로젝트 로드맵 구성</a:t>
            </a: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마감 및 프로젝트 일정이 촉박하여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조원별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업무 및 작업을 배분하여 프로젝트 진행</a:t>
            </a: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주제별로 차례대로 진행하였으며, 수업 시간의 모델 성능을 타겟으로 고도화 작업에 집중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436550-25B1-BB35-4B5D-1CDD191B02A0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673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1347</TotalTime>
  <Words>2405</Words>
  <Application>Microsoft Office PowerPoint</Application>
  <PresentationFormat>와이드스크린</PresentationFormat>
  <Paragraphs>221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7" baseType="lpstr">
      <vt:lpstr>Microsoft GothicNeo</vt:lpstr>
      <vt:lpstr>Wingdings,Sans-Serif</vt:lpstr>
      <vt:lpstr>맑은 고딕</vt:lpstr>
      <vt:lpstr>Arial</vt:lpstr>
      <vt:lpstr>Arial Nova</vt:lpstr>
      <vt:lpstr>Calibri</vt:lpstr>
      <vt:lpstr>Courier New</vt:lpstr>
      <vt:lpstr>Wingdings</vt:lpstr>
      <vt:lpstr>Office 테마</vt:lpstr>
      <vt:lpstr>Kaggle Santander Bank Customer Satisfaction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tj</cp:lastModifiedBy>
  <cp:revision>571</cp:revision>
  <dcterms:created xsi:type="dcterms:W3CDTF">2025-12-09T14:30:12Z</dcterms:created>
  <dcterms:modified xsi:type="dcterms:W3CDTF">2025-12-15T03:06:10Z</dcterms:modified>
</cp:coreProperties>
</file>