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B43E7-806F-6711-5867-B3780A45A635}" v="70" dt="2025-12-09T15:09:55.712"/>
    <p1510:client id="{2803BE5B-E151-BF0B-92F4-A883FF4E3022}" v="2268" dt="2025-12-09T17:13:18.536"/>
    <p1510:client id="{A91FF97B-E5A1-6D04-0298-6624C3ED8A30}" v="54" dt="2025-12-09T14:55:11.599"/>
    <p1510:client id="{FBEA7BE1-B0F2-D090-03DA-E366EFE3C461}" v="26" dt="2025-12-09T14:58:34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4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ntander Private Banking Expands Global Presence with First Regional  Headquarters in DIFC - Asian Wealth Management and Asian Private Banking">
            <a:extLst>
              <a:ext uri="{FF2B5EF4-FFF2-40B4-BE49-F238E27FC236}">
                <a16:creationId xmlns:a16="http://schemas.microsoft.com/office/drawing/2014/main" id="{A9EEAF66-5B4F-E0DA-BAEB-9F2744C63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4404" y="-288239"/>
            <a:ext cx="13354762" cy="733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9C6A870-9967-7F6C-BEA8-7B48715326F8}"/>
              </a:ext>
            </a:extLst>
          </p:cNvPr>
          <p:cNvSpPr/>
          <p:nvPr/>
        </p:nvSpPr>
        <p:spPr>
          <a:xfrm>
            <a:off x="-554404" y="351690"/>
            <a:ext cx="13297551" cy="1783701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901464" y="2335010"/>
            <a:ext cx="9072359" cy="2387600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Kaggle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Santander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Bank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Customer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Satisfaction</a:t>
            </a:r>
            <a:endParaRPr lang="ko-KR" sz="5800" dirty="0">
              <a:solidFill>
                <a:srgbClr val="EC0000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61E11C-6716-B069-88B6-4A028656BDF5}"/>
              </a:ext>
            </a:extLst>
          </p:cNvPr>
          <p:cNvSpPr txBox="1">
            <a:spLocks/>
          </p:cNvSpPr>
          <p:nvPr/>
        </p:nvSpPr>
        <p:spPr>
          <a:xfrm>
            <a:off x="-2116610" y="-686727"/>
            <a:ext cx="4239846" cy="27002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9600" dirty="0">
                <a:solidFill>
                  <a:srgbClr val="FFFFFF"/>
                </a:solidFill>
                <a:latin typeface="Arial"/>
                <a:ea typeface="Microsoft GothicNeo"/>
                <a:cs typeface="Arial"/>
              </a:rPr>
              <a:t>02</a:t>
            </a:r>
            <a:endParaRPr lang="ko-KR" altLang="en-US" sz="9600">
              <a:solidFill>
                <a:srgbClr val="FFFFFF"/>
              </a:solidFill>
              <a:latin typeface="Arial"/>
              <a:ea typeface="Microsoft GothicNeo"/>
              <a:cs typeface="Arial"/>
            </a:endParaRPr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00A8B6D8-5747-6FC0-5FD3-938355DD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02C4F1-33A1-D42B-B70C-CE7C460299F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31C3C2E4-48FF-628C-2CC7-2A93CF79C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45391"/>
              </p:ext>
            </p:extLst>
          </p:nvPr>
        </p:nvGraphicFramePr>
        <p:xfrm>
          <a:off x="848783" y="2710554"/>
          <a:ext cx="105155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5776">
                  <a:extLst>
                    <a:ext uri="{9D8B030D-6E8A-4147-A177-3AD203B41FA5}">
                      <a16:colId xmlns:a16="http://schemas.microsoft.com/office/drawing/2014/main" val="2092996912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109184465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35360250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175381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31250876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69982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Arial Nova"/>
                        </a:rPr>
                        <a:t>구  분</a:t>
                      </a:r>
                    </a:p>
                  </a:txBody>
                  <a:tcPr anchor="ctr"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D4</a:t>
                      </a: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D8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D12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D16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D20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프로젝트 전략 및 계획 수립 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7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조원별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업무 배분 및 업무 범위 명확화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주제별 데이터셋 파악,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전처리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과정 진행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8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1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산탄데르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은행 고객 만족 분석</a:t>
                      </a:r>
                      <a:endParaRPr lang="ko-KR">
                        <a:latin typeface="Microsoft GothicNeo"/>
                        <a:ea typeface="Microsoft GothicNeo"/>
                      </a:endParaRP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2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신용카드 사기 검출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5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3 : UCI 감성 리뷰 분석 및 문서 유사도 분석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2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4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Mercari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가격 예측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74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모델 학습 및 성능 고도화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리포트 작성 및 발표자료 준비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84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28F976E-6F09-1951-48FB-DD5FF628C876}"/>
              </a:ext>
            </a:extLst>
          </p:cNvPr>
          <p:cNvSpPr txBox="1"/>
          <p:nvPr/>
        </p:nvSpPr>
        <p:spPr>
          <a:xfrm>
            <a:off x="1915583" y="2293109"/>
            <a:ext cx="8383627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&lt; </a:t>
            </a:r>
            <a:r>
              <a:rPr lang="ko-KR" altLang="en-US" sz="1500" dirty="0" err="1">
                <a:latin typeface="Microsoft GothicNeo"/>
                <a:ea typeface="Microsoft GothicNeo"/>
                <a:cs typeface="Microsoft GothicNeo"/>
              </a:rPr>
              <a:t>Semi</a:t>
            </a:r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-Project 추진 일정 (11월 18일 ~ 12월 15일) 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301CD-E511-4F1A-B0EB-19C33374F319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-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 프로젝트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E701-172E-695B-5D08-F88F211CB872}"/>
              </a:ext>
            </a:extLst>
          </p:cNvPr>
          <p:cNvSpPr txBox="1"/>
          <p:nvPr/>
        </p:nvSpPr>
        <p:spPr>
          <a:xfrm>
            <a:off x="613833" y="941917"/>
            <a:ext cx="7725833" cy="1072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세미프로젝트 로드맵 구성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마감 및 프로젝트 일정이 촉박하여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조원별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업무 및 작업을 배분하여 프로젝트 진행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주제별로 차례대로 진행하였으며, 수업 시간의 모델 성능을 타겟으로 고도화 작업에 집중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436550-25B1-BB35-4B5D-1CDD191B02A0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67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1344FED-B355-D522-EB2F-276379F0C44F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3901-4860-FDEE-6F85-6B63241BFBDE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02-1 프로젝트 배경 및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12DDD-70D9-C415-FD84-073D521F6F7C}"/>
              </a:ext>
            </a:extLst>
          </p:cNvPr>
          <p:cNvSpPr txBox="1"/>
          <p:nvPr/>
        </p:nvSpPr>
        <p:spPr>
          <a:xfrm>
            <a:off x="613833" y="941917"/>
            <a:ext cx="7725833" cy="14475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불만족 고객 조기 파악 및 맞춤형 서비스 제공</a:t>
            </a:r>
          </a:p>
          <a:p>
            <a:pPr marL="400050" lvl="2" indent="228600">
              <a:lnSpc>
                <a:spcPct val="120000"/>
              </a:lnSpc>
              <a:buFont typeface="Wingdings,Sans-Serif"/>
              <a:buChar char="§"/>
            </a:pPr>
            <a:r>
              <a:rPr 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 만족</a:t>
            </a:r>
            <a:r>
              <a:rPr lang="ko-KR" sz="1300" dirty="0">
                <a:latin typeface="Microsoft GothicNeo"/>
                <a:ea typeface="Microsoft GothicNeo"/>
                <a:cs typeface="Microsoft GothicNeo"/>
              </a:rPr>
              <a:t>을 전략적 핵심 지표로 설정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2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기반 접근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머신러닝을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통해 어떤 특성이 불만족을 유발하는지 파악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NPS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기반 고객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경혐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혁신</a:t>
            </a:r>
          </a:p>
          <a:p>
            <a:pPr marL="800100" lvl="3" indent="-228600">
              <a:lnSpc>
                <a:spcPct val="12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충성 고객 확대, 디지털 전환 가속화, 글로벌 다각화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0F1AD-A929-533A-4E7A-DACA1C0BA9B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8" descr="Our business strategy - Santander Annual Report 2020">
            <a:extLst>
              <a:ext uri="{FF2B5EF4-FFF2-40B4-BE49-F238E27FC236}">
                <a16:creationId xmlns:a16="http://schemas.microsoft.com/office/drawing/2014/main" id="{63EF137A-760C-267E-42D1-E291D344B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7492" y="2763975"/>
            <a:ext cx="6817783" cy="3528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51F10C-8BE0-24C5-C412-693E68B7FA1D}"/>
              </a:ext>
            </a:extLst>
          </p:cNvPr>
          <p:cNvSpPr txBox="1"/>
          <p:nvPr/>
        </p:nvSpPr>
        <p:spPr>
          <a:xfrm>
            <a:off x="1904186" y="250236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1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고객 만족 중심 경영 전략 ]</a:t>
            </a:r>
          </a:p>
        </p:txBody>
      </p:sp>
      <p:pic>
        <p:nvPicPr>
          <p:cNvPr id="4" name="그림 3" descr="File:Santander Logo.PNG - Wikimedia Commons">
            <a:extLst>
              <a:ext uri="{FF2B5EF4-FFF2-40B4-BE49-F238E27FC236}">
                <a16:creationId xmlns:a16="http://schemas.microsoft.com/office/drawing/2014/main" id="{2A59AD8A-652F-571D-3D4D-6A5EE8C88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5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FD183E-6EE8-A470-1148-E5E6087232C0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6036B6-C51E-BC8E-8382-B95EBC7B66C3}"/>
              </a:ext>
            </a:extLst>
          </p:cNvPr>
          <p:cNvSpPr/>
          <p:nvPr/>
        </p:nvSpPr>
        <p:spPr>
          <a:xfrm>
            <a:off x="-878417" y="2768600"/>
            <a:ext cx="13853583" cy="34014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4E252-00AD-10FC-4B8B-570B1BF818FE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02-2 NPS 개요</a:t>
            </a:r>
          </a:p>
        </p:txBody>
      </p:sp>
      <p:pic>
        <p:nvPicPr>
          <p:cNvPr id="4" name="그림 3" descr="Santander Bank NPS &amp; Customer Reviews | Comparably">
            <a:extLst>
              <a:ext uri="{FF2B5EF4-FFF2-40B4-BE49-F238E27FC236}">
                <a16:creationId xmlns:a16="http://schemas.microsoft.com/office/drawing/2014/main" id="{A635F761-2B5D-E9B9-8506-5B00D840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83" y="3264960"/>
            <a:ext cx="5037667" cy="26564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95F65B-45D6-D04A-7832-36CDA62909DD}"/>
              </a:ext>
            </a:extLst>
          </p:cNvPr>
          <p:cNvSpPr txBox="1"/>
          <p:nvPr/>
        </p:nvSpPr>
        <p:spPr>
          <a:xfrm>
            <a:off x="613833" y="941917"/>
            <a:ext cx="7725833" cy="16691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NPS(Net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Promoter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Score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)</a:t>
            </a:r>
            <a:endParaRPr lang="ko-KR" dirty="0"/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추천 의향 지표</a:t>
            </a: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추천 고객 비율 -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비추천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비율</a:t>
            </a: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금융업계 활용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충성도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및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장기 수익성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예측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marR="0" lvl="3" indent="-22860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GothicNeo"/>
                <a:ea typeface="Microsoft GothicNeo"/>
                <a:cs typeface="Microsoft GothicNeo"/>
              </a:rPr>
              <a:t>전략적 지표</a:t>
            </a:r>
            <a:r>
              <a:rPr lang="en-US" altLang="ko-KR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(NPS)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와 데이터 기반 </a:t>
            </a:r>
            <a:r>
              <a:rPr lang="ko-KR" altLang="en-US" sz="1200" dirty="0" err="1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에측을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 결합하여</a:t>
            </a:r>
            <a:r>
              <a:rPr lang="en-US" altLang="ko-KR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Microsoft GothicNeo"/>
                <a:ea typeface="Microsoft GothicNeo"/>
                <a:cs typeface="Microsoft GothicNeo"/>
              </a:rPr>
              <a:t>고객 충성도와 불만족 관리 집중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20000"/>
              </a:lnSpc>
              <a:buFont typeface="Wingdings"/>
              <a:buChar char="§"/>
            </a:pPr>
            <a:endParaRPr lang="ko-KR" altLang="en-US" sz="1300" dirty="0">
              <a:latin typeface="Microsoft GothicNeo"/>
              <a:ea typeface="Microsoft GothicNeo"/>
              <a:cs typeface="Microsoft GothicNeo"/>
            </a:endParaRPr>
          </a:p>
        </p:txBody>
      </p:sp>
      <p:pic>
        <p:nvPicPr>
          <p:cNvPr id="10" name="그림 9" descr="Santander Bank NPS &amp; Customer Reviews | Comparably">
            <a:extLst>
              <a:ext uri="{FF2B5EF4-FFF2-40B4-BE49-F238E27FC236}">
                <a16:creationId xmlns:a16="http://schemas.microsoft.com/office/drawing/2014/main" id="{0374E877-A9DC-C142-AC11-91614F6A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264960"/>
            <a:ext cx="5037667" cy="26564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C1F296-D1E0-4147-2CA8-2833855BCDDD}"/>
              </a:ext>
            </a:extLst>
          </p:cNvPr>
          <p:cNvSpPr txBox="1"/>
          <p:nvPr/>
        </p:nvSpPr>
        <p:spPr>
          <a:xfrm>
            <a:off x="2063749" y="2843660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NPS 성과 지표 (24' - 25') 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81C41-F979-D112-2770-676D608DF07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0D545AE0-B16F-6CD5-238A-9E0DB00A6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40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C40141B-E6E7-0BB7-4E05-1296C08798EC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3C51C-6190-A0A9-2187-5BED896BA52A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02-3 현황 분석 및 전략 설정 배경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59493-DD81-0497-C0D6-FED321D7F03B}"/>
              </a:ext>
            </a:extLst>
          </p:cNvPr>
          <p:cNvSpPr txBox="1"/>
          <p:nvPr/>
        </p:nvSpPr>
        <p:spPr>
          <a:xfrm>
            <a:off x="613833" y="941917"/>
            <a:ext cx="10002506" cy="1372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2016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년도 업계 현황 및 배경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08’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금융위기 이후 은행들은 신뢰회복과 건전성 강화에 집중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디지털 뱅킹 확산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경험 경쟁 심화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규제 강화 ▶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충성 고객 확대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디지털 전환 가속화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“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경험을 혁신하고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NPS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개선을 위해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어떤 요인이 만족도에 영향을 주는지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데이터 분석을 통해 규명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5AB578-2066-2FF2-2668-3D174838F1D7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3CB014-9220-ACE3-CECB-B169544FB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13" y="2873736"/>
            <a:ext cx="6007344" cy="320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F1738E2-904A-E240-DFE4-0FB282C55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584" y="3429000"/>
            <a:ext cx="3239229" cy="245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D6E624-D34C-83A9-2B1E-3F3EDC2E51C8}"/>
              </a:ext>
            </a:extLst>
          </p:cNvPr>
          <p:cNvSpPr/>
          <p:nvPr/>
        </p:nvSpPr>
        <p:spPr>
          <a:xfrm flipV="1">
            <a:off x="6925257" y="3368528"/>
            <a:ext cx="463334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12614-7320-98C1-4E61-F2F3F9301AEB}"/>
              </a:ext>
            </a:extLst>
          </p:cNvPr>
          <p:cNvSpPr txBox="1"/>
          <p:nvPr/>
        </p:nvSpPr>
        <p:spPr>
          <a:xfrm>
            <a:off x="1904186" y="2636288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3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디지털 전환 및 고객중심 경영 만족도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NPS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조사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(2019)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DD9B2-1CA4-2CB2-3E4C-9C795853DBF0}"/>
              </a:ext>
            </a:extLst>
          </p:cNvPr>
          <p:cNvSpPr txBox="1"/>
          <p:nvPr/>
        </p:nvSpPr>
        <p:spPr>
          <a:xfrm>
            <a:off x="8163915" y="5894751"/>
            <a:ext cx="33946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자료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: NPS – Customer</a:t>
            </a:r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Satisfaction by </a:t>
            </a:r>
            <a:r>
              <a:rPr lang="en-US" altLang="ko-KR" sz="1000" dirty="0" err="1">
                <a:latin typeface="Microsoft GothicNeo"/>
                <a:ea typeface="Microsoft GothicNeo"/>
                <a:cs typeface="Microsoft GothicNeo"/>
              </a:rPr>
              <a:t>Stiga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/ Deloitte</a:t>
            </a:r>
            <a:endParaRPr lang="ko-KR" altLang="en-US" sz="1000" dirty="0">
              <a:latin typeface="Microsoft GothicNeo"/>
              <a:ea typeface="Microsoft GothicNeo"/>
              <a:cs typeface="Microsoft GothicNeo"/>
            </a:endParaRP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A298582E-BCA7-7624-9953-8C7F04535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3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3A31-F41A-524E-DDD0-C30019B8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DAB63CC-B169-1B96-D538-2C47D1B5E86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18873-2D0B-93E2-7877-C7AF3190EC3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D2C1DC-C386-0764-A702-8028D39D9792}"/>
              </a:ext>
            </a:extLst>
          </p:cNvPr>
          <p:cNvSpPr txBox="1"/>
          <p:nvPr/>
        </p:nvSpPr>
        <p:spPr>
          <a:xfrm>
            <a:off x="613833" y="941917"/>
            <a:ext cx="10002506" cy="1972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및 불균형 문제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7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천여명 고객과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371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변수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(0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1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모든 변수명이 개인정보 보호를 위해 암호화 되어있음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고객은 소수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4%)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데이터 불균형 존재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ID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고유 식별 번호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var3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나이 또는 계좌개설 후 경과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개월수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var15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연령대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는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명시적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ko-KR" altLang="en-US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AC4970-946B-8EB6-1F15-E2FB74A2DE69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EF3BDC-A822-2C49-8226-A58AF1A13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230" y="3350170"/>
            <a:ext cx="6543712" cy="2869122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2466F-BBC6-478A-096F-8529197E97E3}"/>
              </a:ext>
            </a:extLst>
          </p:cNvPr>
          <p:cNvSpPr txBox="1"/>
          <p:nvPr/>
        </p:nvSpPr>
        <p:spPr>
          <a:xfrm>
            <a:off x="1904186" y="3054427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4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TARGET(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레이블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분포 시각화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099A0853-234C-76E5-D79C-D0083CDB8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5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1A01-40C2-C4D8-D629-D6E4963A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E6ADF1-65A3-E327-34E1-0A73447C99F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E2589-F7B1-0900-39C1-27CE30704AA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3CC56-F51A-E070-9090-7C55394FA1B1}"/>
              </a:ext>
            </a:extLst>
          </p:cNvPr>
          <p:cNvSpPr txBox="1"/>
          <p:nvPr/>
        </p:nvSpPr>
        <p:spPr>
          <a:xfrm>
            <a:off x="613833" y="941917"/>
            <a:ext cx="10002506" cy="2183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불균형 데이터셋 에서의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ROC-AUC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극심한 불균형 데이터셋에서의 정확도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(Accuracy)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의 한계점 존재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모델의 분류 성능을 시각적으로 확인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X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(FPR)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만족 고객인데 불만족으로 잘못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Y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(TPR)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불만족 고객을 올바르게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AUC : ROC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곡선 아래 면적 →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1.0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완벽한 분류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0.5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랜덤 추측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자체의 내재적 변별 능력 평가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비교에 유용한 지표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8A7507-D763-9764-1402-00E18AC59E4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C8161-30EE-738A-E02E-257B4688F0FC}"/>
              </a:ext>
            </a:extLst>
          </p:cNvPr>
          <p:cNvSpPr txBox="1"/>
          <p:nvPr/>
        </p:nvSpPr>
        <p:spPr>
          <a:xfrm>
            <a:off x="1904186" y="3178826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5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ROC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곡선 시각화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트리계열 알고리즘 사용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4F8811-9BF3-5B63-4385-45B61BBFC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105" y="3443288"/>
            <a:ext cx="3810314" cy="30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A9A186A0-5C9E-7202-BB36-D7231609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82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DF74-63CF-1CC9-FB84-CE5C6A92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B68EC9-CA0F-AA07-03E7-0DF664E6DAA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78D01-734D-34AB-5593-E35EF7071E1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(3)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5F028-7EB1-4402-A373-8792FB4C79BB}"/>
              </a:ext>
            </a:extLst>
          </p:cNvPr>
          <p:cNvSpPr txBox="1"/>
          <p:nvPr/>
        </p:nvSpPr>
        <p:spPr>
          <a:xfrm>
            <a:off x="613833" y="941917"/>
            <a:ext cx="10002506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describe()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각 피처들의 평균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표준편차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최댓값 기본 통계치 출력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데이터 구조적 특성 및 모델링 전략 힌트 파악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의미가 없어 직접적 해석 불가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▶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EDA(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탐색적 데이터 분석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), Feature Selection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분포와 스케일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및 이상치 탐지 및 클래스 불균형 확인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중요도 추정 및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Feature Engineering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방향성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EA82C2-4A28-7DA2-B136-E179F60ACD3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2BDD05-0482-0B31-D115-E24704A8D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20" y="3593971"/>
            <a:ext cx="3678480" cy="2523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5C3847-BA9F-9409-EA9E-E6CD3D431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91661"/>
            <a:ext cx="2305050" cy="25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3926D3-F67E-7F16-7DFA-9BC796E94E6D}"/>
              </a:ext>
            </a:extLst>
          </p:cNvPr>
          <p:cNvSpPr txBox="1"/>
          <p:nvPr/>
        </p:nvSpPr>
        <p:spPr>
          <a:xfrm>
            <a:off x="2062935" y="329819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로드된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 데이터프레임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describe()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EAF1CC3A-3417-CCEA-3D8D-4E14D67DA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72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FA4D-BA72-A3BD-32DF-0DB64826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01807A1-E39D-D47C-5094-C9AF9AC19804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C2F57-4D3C-E717-B885-8E0DB037E8F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(4)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8FDB7-5001-8E22-C062-E24A02DC9754}"/>
              </a:ext>
            </a:extLst>
          </p:cNvPr>
          <p:cNvSpPr txBox="1"/>
          <p:nvPr/>
        </p:nvSpPr>
        <p:spPr>
          <a:xfrm>
            <a:off x="613833" y="941917"/>
            <a:ext cx="10002506" cy="1606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고객불만족을 가장 잘 설명하는 피처를 찾아내는 과정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해당 과정을 통해 모델 성능을 높이고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고객 이탈을 예방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불균형 클래스 문제를 통해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Accuracy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보다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ROC-AUC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지표가 더 적합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피처중요도를 계산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및 상관관계를 계산하여 시각화 → 주요 피처들의 히스토그램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/ Heatmap</a:t>
            </a:r>
            <a:endParaRPr lang="ko-KR" altLang="en-US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80EB27-2051-AE72-8154-D878A9EE3676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60E3F1-BD9F-4C8C-67FC-A9E7CB859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" y="3801615"/>
            <a:ext cx="57340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24960B-2760-B965-B26B-5104341A156F}"/>
              </a:ext>
            </a:extLst>
          </p:cNvPr>
          <p:cNvSpPr txBox="1"/>
          <p:nvPr/>
        </p:nvSpPr>
        <p:spPr>
          <a:xfrm>
            <a:off x="397799" y="342900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2.7 ‘var38(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자산 규모 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)’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히스토그램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 변환 전후 비교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3616D-342F-1035-A85C-FC19BA27CDAE}"/>
              </a:ext>
            </a:extLst>
          </p:cNvPr>
          <p:cNvSpPr txBox="1"/>
          <p:nvPr/>
        </p:nvSpPr>
        <p:spPr>
          <a:xfrm>
            <a:off x="6034083" y="6185002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일부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피처들의 상관관계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Heatmap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528082A3-09AC-4965-CAE1-26AB71783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A260AF-B02A-3CF2-285F-DC0E42B7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34" y="2567096"/>
            <a:ext cx="3840928" cy="359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B1F3-7FDB-F66A-09C6-2FF7B458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CA24538-9D04-57C0-6109-9092EAC1EF9E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7D94F-F4FA-F999-FFC5-C97C8DF26B4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(5)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1F592-D378-3A13-8A9B-192387619C89}"/>
              </a:ext>
            </a:extLst>
          </p:cNvPr>
          <p:cNvSpPr txBox="1"/>
          <p:nvPr/>
        </p:nvSpPr>
        <p:spPr>
          <a:xfrm>
            <a:off x="613833" y="941917"/>
            <a:ext cx="10002506" cy="2806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분석을 통한 시사점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일부는 불만족 고객을 강하게 구분하는 경향을 보였음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상관계수가 높은 컬럼들을 삭제하여 </a:t>
            </a:r>
            <a:r>
              <a:rPr lang="ko-KR" altLang="en-US" sz="1300" dirty="0" err="1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문제 해결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로그변환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이용하여 데이터의 비대칭적 분포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완화하여 이상치 영향력 감소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SMOTE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또는 </a:t>
            </a: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스케일링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활용하여 학습 데이터 균형을 맞추되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어떤 피처가 잘 작동하는지 확인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은행의 실무적 인사이트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주요 피처를 중심으로 불만족 고객 조기 탐지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모델이 강조하는 피처들을 실제 </a:t>
            </a:r>
            <a:r>
              <a:rPr lang="ko-KR" altLang="en-US" sz="1200" b="1" dirty="0">
                <a:latin typeface="Microsoft GothicNeo"/>
                <a:ea typeface="Microsoft GothicNeo"/>
                <a:cs typeface="Microsoft GothicNeo"/>
              </a:rPr>
              <a:t>서비스 개선지표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로 활용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단순히 모델이 불만족 고객이라고 예측했다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’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가 아니라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b="1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어떤 요인 때문에 불만족 가능성이 </a:t>
            </a:r>
            <a:r>
              <a:rPr lang="ko-KR" altLang="en-US" sz="1200" b="1" dirty="0" err="1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높은지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설명이 되어야 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0EE109-6E83-1216-F2C0-FECAA7FD5BF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2" name="Picture 4" descr="Santander Customer Satisfaction">
            <a:extLst>
              <a:ext uri="{FF2B5EF4-FFF2-40B4-BE49-F238E27FC236}">
                <a16:creationId xmlns:a16="http://schemas.microsoft.com/office/drawing/2014/main" id="{7AE59B84-069F-2FA8-1C28-BCDD32D9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610" y="4042639"/>
            <a:ext cx="3621352" cy="108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AE22E3FF-6E49-EC4B-C996-A0B581D6735B}"/>
              </a:ext>
            </a:extLst>
          </p:cNvPr>
          <p:cNvSpPr/>
          <p:nvPr/>
        </p:nvSpPr>
        <p:spPr>
          <a:xfrm>
            <a:off x="1282771" y="3908461"/>
            <a:ext cx="2829464" cy="1449238"/>
          </a:xfrm>
          <a:prstGeom prst="homePlate">
            <a:avLst>
              <a:gd name="adj" fmla="val 237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E8F47056-9D03-9274-FB14-623279A1B72A}"/>
              </a:ext>
            </a:extLst>
          </p:cNvPr>
          <p:cNvSpPr/>
          <p:nvPr/>
        </p:nvSpPr>
        <p:spPr>
          <a:xfrm rot="10800000">
            <a:off x="8032337" y="3862186"/>
            <a:ext cx="2829464" cy="1449238"/>
          </a:xfrm>
          <a:prstGeom prst="homePlate">
            <a:avLst>
              <a:gd name="adj" fmla="val 2726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04F51-872E-A260-6AF5-E713486E5576}"/>
              </a:ext>
            </a:extLst>
          </p:cNvPr>
          <p:cNvSpPr txBox="1"/>
          <p:nvPr/>
        </p:nvSpPr>
        <p:spPr>
          <a:xfrm>
            <a:off x="1563327" y="4058684"/>
            <a:ext cx="3489960" cy="109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고객 이탈 예방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 포인트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설명 가능성 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65A75-D052-F995-609A-4F536588C94F}"/>
              </a:ext>
            </a:extLst>
          </p:cNvPr>
          <p:cNvSpPr txBox="1"/>
          <p:nvPr/>
        </p:nvSpPr>
        <p:spPr>
          <a:xfrm>
            <a:off x="8443248" y="4042639"/>
            <a:ext cx="3489960" cy="109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맞춤형 대응 전략 수립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개선지표 활용</a:t>
            </a:r>
            <a:endParaRPr lang="en-US" altLang="ko-KR" sz="15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불만족 가능성 요인 설명 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71422560-752D-71A6-A26E-0DC8878F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56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77D5-6A38-89D0-18D5-18F3DEB4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62A20D2-728F-46BE-02DE-716E95A8EC36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681D2-E0E0-B280-9B4D-4E20577D58A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5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탐색적 데이터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(EDA)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A04DB-E208-B07A-CADD-F450DF4B8E8E}"/>
              </a:ext>
            </a:extLst>
          </p:cNvPr>
          <p:cNvSpPr txBox="1"/>
          <p:nvPr/>
        </p:nvSpPr>
        <p:spPr>
          <a:xfrm>
            <a:off x="613833" y="941917"/>
            <a:ext cx="10002506" cy="165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피처들의 성격파악 및 시각화 분석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특성 파악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고유값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개수 확인을 통한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범주형 또는 연속형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컬럼 구분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이상치 탐지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전체 컬럼 분포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이상치 분포도 시각화 ▶ </a:t>
            </a:r>
            <a:r>
              <a:rPr lang="ko-KR" altLang="en-US" sz="1300" b="1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데이터 </a:t>
            </a:r>
            <a:r>
              <a:rPr lang="ko-KR" altLang="en-US" sz="1300" b="1" dirty="0" err="1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sz="1300" b="1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 및 피처선택 전략 수립</a:t>
            </a:r>
            <a:endParaRPr lang="en-US" altLang="ko-KR" sz="1300" b="1" dirty="0">
              <a:solidFill>
                <a:srgbClr val="EC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분포 시각화를 통한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고유값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확인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ko-KR" altLang="en-US" sz="12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고유값이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너무 적거나 많은 컬럼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▶ 제거 또는 변환 대상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(Feature Selection)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대부분의 피처는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비대칭적 분포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를 보였으며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일부 피처에서 매우 큰 값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대부분이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 집중된 경향 관찰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011361-D45B-0DE4-F71E-CA496FD4775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D688AE96-AC99-758E-39DE-9C381DAFB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510462-C3B0-62FE-B25C-CBCD1F981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55" y="2937427"/>
            <a:ext cx="9889490" cy="16403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B441A8-A4C8-E1C1-68CA-F4D655F49B11}"/>
              </a:ext>
            </a:extLst>
          </p:cNvPr>
          <p:cNvSpPr txBox="1"/>
          <p:nvPr/>
        </p:nvSpPr>
        <p:spPr>
          <a:xfrm>
            <a:off x="2884884" y="266154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컬럼별 분포 시각화 및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고유값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확인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A66D1F2-E392-148C-C523-B1FE46AFD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091" y="4921143"/>
            <a:ext cx="5763816" cy="17088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8482C1-D81C-9763-4F8D-4771302D8D14}"/>
              </a:ext>
            </a:extLst>
          </p:cNvPr>
          <p:cNvSpPr txBox="1"/>
          <p:nvPr/>
        </p:nvSpPr>
        <p:spPr>
          <a:xfrm>
            <a:off x="2884884" y="4659533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2.9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이상치가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100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 이상인 컬럼 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boxplot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9780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1A1E-E298-6570-E273-E6B3F3E1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C80457A-E3AE-CC7A-CEB4-30E512AE6D52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E4B94-25B0-5425-2366-80D699D0ED0D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5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탐색적 데이터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(EDA)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18FEB-99B6-C920-C19B-FA70480C2768}"/>
              </a:ext>
            </a:extLst>
          </p:cNvPr>
          <p:cNvSpPr txBox="1"/>
          <p:nvPr/>
        </p:nvSpPr>
        <p:spPr>
          <a:xfrm>
            <a:off x="613832" y="941917"/>
            <a:ext cx="10816167" cy="1952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특성 파악 및 피처간 상관관계 분석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분석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통해 데이터 분포의 비대칭성 지표 파악 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로그 변환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적합 여부 판단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피처간 상관계수 분석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특정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피처들에서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강한 상관관계 확인 ▶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존재 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영향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계수 불안정성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해석력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저하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가능성 ▶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중복 정보 탐지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전체 데이터 중 음수 값을 가지는 컬럼은 총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31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개로 확인 → 로그변환은 양수에만 적용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다른 비선형 기법 고려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분할 기준에 따라 변수 중요도를 선택적으로 반영하는 트리 계열 알고리즘과 달리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선형계열 모델에는 민감한 영향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A8CCE6-93B7-442A-3C54-6013616F4E9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6D81B717-6B8F-B7AA-0062-97C4E194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54B1EC-AB7A-8B2C-92B5-0FDB0EDE2D9A}"/>
              </a:ext>
            </a:extLst>
          </p:cNvPr>
          <p:cNvSpPr txBox="1"/>
          <p:nvPr/>
        </p:nvSpPr>
        <p:spPr>
          <a:xfrm>
            <a:off x="826371" y="300203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2.10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데이터셋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왜도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분석 및 로그변환 판단 함수 적용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479148-E864-6DE2-F099-10760D3A9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513" y="3278446"/>
            <a:ext cx="4483947" cy="28159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C20A9C-6D9D-1C5F-CFAE-C342774D66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940" y="3263641"/>
            <a:ext cx="3407411" cy="313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BD2856-A98D-0819-1606-25B8902F25B4}"/>
              </a:ext>
            </a:extLst>
          </p:cNvPr>
          <p:cNvSpPr txBox="1"/>
          <p:nvPr/>
        </p:nvSpPr>
        <p:spPr>
          <a:xfrm>
            <a:off x="5276451" y="300122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2.11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피처들의 상관관계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히트맵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시각화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620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CAC0-A826-13BE-AFFA-D5823BD9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D6D10AA-67E3-43CA-A74F-2AD35DBE106B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38C10-1141-82BD-03AF-0BFF7B24E40F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5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탐색적 데이터 분석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(EDA)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E84B9E-7742-8F77-D4D5-47831CCC8370}"/>
              </a:ext>
            </a:extLst>
          </p:cNvPr>
          <p:cNvSpPr txBox="1"/>
          <p:nvPr/>
        </p:nvSpPr>
        <p:spPr>
          <a:xfrm>
            <a:off x="613832" y="941917"/>
            <a:ext cx="10816167" cy="1929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var3 , var15, var38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발견된 문제점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descrie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를 통해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최소값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-999999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값의 분포가 현실적인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나이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(Age)’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범위에 해당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연속형 정수로 구성 ▶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 특성 설명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var38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피처의 분포 분석 결과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특정 값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*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에 데이터가 집중되는 패턴 확인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▶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대체값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(placeholder)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시사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나이 추정 변수에서 전체 분포는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23~40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세 구간에 집중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세 이상 값은 총 </a:t>
            </a:r>
            <a:r>
              <a:rPr lang="en-US" altLang="ko-KR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8</a:t>
            </a:r>
            <a:r>
              <a:rPr lang="ko-KR" altLang="en-US" sz="12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건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으로 매우 드물게 나타나 이상치로 판단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var38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특정 값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(117,310)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 데이터가 집중되는 패턴 확인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해당값은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전체 데이터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14,868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건으로 가장 높은 빈도를 보임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99947B-B799-0D89-158F-757573A50C4B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BDA5C167-7469-A358-50BD-D3CC6D1E7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606615-3F9A-9A9E-9761-B555867E90F3}"/>
              </a:ext>
            </a:extLst>
          </p:cNvPr>
          <p:cNvSpPr txBox="1"/>
          <p:nvPr/>
        </p:nvSpPr>
        <p:spPr>
          <a:xfrm>
            <a:off x="883629" y="309925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2.12 var15(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나이추정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피처의 분포 히스토그램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A16B71-A62F-33FA-C536-36EC5E2F9BA1}"/>
              </a:ext>
            </a:extLst>
          </p:cNvPr>
          <p:cNvSpPr txBox="1"/>
          <p:nvPr/>
        </p:nvSpPr>
        <p:spPr>
          <a:xfrm>
            <a:off x="5459835" y="315611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2.13 var38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피처의 분포 중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특정값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데이터 집중 확인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7F31EF-082D-22E1-CF15-D95C82BD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935" y="3387406"/>
            <a:ext cx="4061980" cy="28750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C2EACB-C7F7-72F2-400C-62288EF34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00" y="3436088"/>
            <a:ext cx="4146501" cy="282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93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74240-1A61-EF7A-7F2D-7E8EC012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A10CC87-05BC-255C-DEE3-A02BE3D6E9D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92389-3EBA-F607-FF03-EDDE27BD4A86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6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</a:t>
            </a:r>
            <a:r>
              <a:rPr lang="ko-KR" altLang="en-US" sz="2500" dirty="0" err="1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전처리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9D79D7-A7A2-420E-1019-EA01CBF60525}"/>
              </a:ext>
            </a:extLst>
          </p:cNvPr>
          <p:cNvSpPr txBox="1"/>
          <p:nvPr/>
        </p:nvSpPr>
        <p:spPr>
          <a:xfrm>
            <a:off x="613832" y="941917"/>
            <a:ext cx="10816167" cy="1929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모델 성능과 안정성 확보를 위한 단계적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진행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탐색적 데이터 분석을 통한 </a:t>
            </a: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데이터 전처리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와 </a:t>
            </a:r>
            <a:r>
              <a:rPr lang="ko-KR" altLang="en-US" sz="1300" dirty="0">
                <a:solidFill>
                  <a:srgbClr val="EC0000"/>
                </a:solidFill>
                <a:latin typeface="Microsoft GothicNeo"/>
                <a:ea typeface="Microsoft GothicNeo"/>
                <a:cs typeface="Microsoft GothicNeo"/>
              </a:rPr>
              <a:t>피처 선택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전략 수립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dirty="0" err="1"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 처리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명시적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결측치를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최빈값으로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대체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하여 데이터 일관성 확보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(zero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값 의미 파악 및 처리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값이 지나치게 높은 비율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나타나는 피처 제거 ⇒ 피처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220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제거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-999999, 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최빈값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로 대체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 err="1">
                <a:solidFill>
                  <a:schemeClr val="accent1"/>
                </a:solidFill>
                <a:latin typeface="Microsoft GothicNeo"/>
                <a:ea typeface="Microsoft GothicNeo"/>
                <a:cs typeface="Microsoft GothicNeo"/>
              </a:rPr>
              <a:t>zero_count_rate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통해 전체 값 중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99%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이상이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으로 구성된 피처들은 정보량이 거의 없다고 판단하여 삭제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93B312-1949-274A-ADDA-B53A77B016C0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93BE03E5-A354-DFF0-B548-AF0325A8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0A9C02-4AD1-C197-7827-CCBBEFCF4753}"/>
              </a:ext>
            </a:extLst>
          </p:cNvPr>
          <p:cNvSpPr txBox="1"/>
          <p:nvPr/>
        </p:nvSpPr>
        <p:spPr>
          <a:xfrm>
            <a:off x="397799" y="313083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2.1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전처리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전체 단계 요약 구성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3284D6F-AB45-0CE2-E8A4-8326BDCD5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568690"/>
              </p:ext>
            </p:extLst>
          </p:nvPr>
        </p:nvGraphicFramePr>
        <p:xfrm>
          <a:off x="799772" y="3458061"/>
          <a:ext cx="5401852" cy="25307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23091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3778761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단계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주요 내용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데이터 정제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비표준 값 처리 및 </a:t>
                      </a:r>
                      <a:r>
                        <a:rPr lang="ko-KR" sz="100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결측치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치환 전략 적용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피처 선택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(1)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Zero-value 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비율 분석에 따른 피처 제거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이상치 처리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이상치 탐지 및 값 보정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53709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4.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변수 변환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고 </a:t>
                      </a:r>
                      <a:r>
                        <a:rPr lang="ko-KR" sz="100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왜도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변수에 대한 로그 변환 적용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1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5.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피처 선택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(2)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다중공선성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해소를 위한 상관계수 기반 피처 제거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19811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6.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인코딩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/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스케일링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필요 시 인코딩 적용 및 스케일 정규화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619126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7. </a:t>
                      </a: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최종 확정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최종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Feature </a:t>
                      </a:r>
                      <a:r>
                        <a:rPr lang="ko-KR" sz="10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목록 확정 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7A306E3-0529-E46B-EE3C-74BDA018A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520548"/>
              </p:ext>
            </p:extLst>
          </p:nvPr>
        </p:nvGraphicFramePr>
        <p:xfrm>
          <a:off x="6475493" y="3429000"/>
          <a:ext cx="5058622" cy="93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862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9335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# var3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처리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['var3'].replace(-999999, 2)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['var3'].replace(-999999, 2)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CECB7FC-5168-BCC3-332F-202E412A0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482681"/>
              </p:ext>
            </p:extLst>
          </p:nvPr>
        </p:nvGraphicFramePr>
        <p:xfrm>
          <a:off x="6475493" y="4453627"/>
          <a:ext cx="5058622" cy="153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862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3506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</a:t>
                      </a:r>
                      <a:r>
                        <a:rPr lang="en-US" altLang="ko-KR" sz="900" b="0" dirty="0">
                          <a:solidFill>
                            <a:srgbClr val="0066CC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remove_zero_columns2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train_df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test_df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threshold_rate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=0.99,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save_report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=True):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summary_data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[ ]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for</a:t>
                      </a:r>
                      <a:r>
                        <a:rPr lang="en-US" altLang="ko-KR" sz="900" b="0" dirty="0">
                          <a:solidFill>
                            <a:srgbClr val="0066CC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col </a:t>
                      </a: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</a:t>
                      </a:r>
                      <a:r>
                        <a:rPr lang="en-US" altLang="ko-KR" sz="900" b="0" dirty="0">
                          <a:solidFill>
                            <a:srgbClr val="0066CC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train_df.columns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zero_count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(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train_df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[col] == 0).sum() </a:t>
                      </a:r>
                      <a:endParaRPr lang="ko-KR" altLang="ko-KR" sz="11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…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return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clean_train_df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clean_test_df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83CC52F-68C3-BD60-08F1-9BB2A4450D11}"/>
              </a:ext>
            </a:extLst>
          </p:cNvPr>
          <p:cNvSpPr txBox="1"/>
          <p:nvPr/>
        </p:nvSpPr>
        <p:spPr>
          <a:xfrm>
            <a:off x="5793689" y="313083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2.2 var3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결측치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처리 및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값이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99%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이상인 피처 제거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54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E75F-EC35-F2ED-CEB9-505FDF2E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D32944E-EED5-BA96-44C1-933DBD0FEF6D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12B38-9ADB-8BE8-C436-0DF2F2209C6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6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</a:t>
            </a:r>
            <a:r>
              <a:rPr lang="ko-KR" altLang="en-US" sz="2500" dirty="0" err="1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전처리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4DA9EA-0474-8FBA-49BE-E0982F994C02}"/>
              </a:ext>
            </a:extLst>
          </p:cNvPr>
          <p:cNvSpPr txBox="1"/>
          <p:nvPr/>
        </p:nvSpPr>
        <p:spPr>
          <a:xfrm>
            <a:off x="613832" y="941917"/>
            <a:ext cx="10816167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모델 성능과 안정성 확보를 위한 단계적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진행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다중공선성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문제 해결을 위한 피처간 상관관계 계산 ⇒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상관계수 절대값이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0.95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이상인 피처 제거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연속형 변수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var15(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나이 추정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비정상적 큰 값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극단값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포함 ⇒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상한값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으로 제한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절대값이 높은 피처들에 대한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log1p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변환 적용 ⇒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총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71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개 피처 변환 대상 선정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학습 시 불필요한 복잡도 증가 및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(over fitting)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유발 방지를 위해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상관계수가 높은 피처들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53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개 제거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⇒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96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개로 축소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중요도가 높고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나이로 추정되는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var15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중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100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이 넘는 값들이 분포 왜곡을 발생시킬 가능성이 있음 ⇒ 현실적 범위 내 학습 유도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왜도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(skewness)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절대값이 높은 변수는 모델의 결정 경계 형성을 왜곡 ⇒ 로그변환을 통한 해당 피처 분포 안정적 개선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4FDB6-B2DB-6716-6275-C7DE364F8F64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FD4765E1-DE1C-8AB3-F042-D6030155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CF5FA8-6D29-DD3A-B4E8-AC1D6FB5B91F}"/>
              </a:ext>
            </a:extLst>
          </p:cNvPr>
          <p:cNvSpPr txBox="1"/>
          <p:nvPr/>
        </p:nvSpPr>
        <p:spPr>
          <a:xfrm>
            <a:off x="-146812" y="3442671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2.3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상관계수 높은 피처 삭제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9BA80D4-1125-9EAD-3B1D-67B69DD47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853120"/>
              </p:ext>
            </p:extLst>
          </p:nvPr>
        </p:nvGraphicFramePr>
        <p:xfrm>
          <a:off x="657886" y="5518400"/>
          <a:ext cx="4900942" cy="536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94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53641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['var15']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['var15'].clip(upper=100) 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E6C1F77-D0F4-2233-A49D-E9F62FFF1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607752"/>
              </p:ext>
            </p:extLst>
          </p:nvPr>
        </p:nvGraphicFramePr>
        <p:xfrm>
          <a:off x="657886" y="3704281"/>
          <a:ext cx="4900942" cy="1257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94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2570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drop_highly_correlated_features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threshold=0.95):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corr_matrix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df.corr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().abs()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upper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corr_matrix.where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np.triu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np.ones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corr_matrix.shape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k=1).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astype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(bool))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to_drop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[column for column in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upper.columns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if any(upper[column] &gt; threshold)]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return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df.drop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(columns=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to_drop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to_drop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DDCF4A1-D6A5-D544-7FBE-F00C5DE71164}"/>
              </a:ext>
            </a:extLst>
          </p:cNvPr>
          <p:cNvSpPr txBox="1"/>
          <p:nvPr/>
        </p:nvSpPr>
        <p:spPr>
          <a:xfrm>
            <a:off x="-102758" y="525679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2.4 var15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피처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나이 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이상치 제한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9E8030B-3259-6F26-A158-96B2BE7F5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65142"/>
              </p:ext>
            </p:extLst>
          </p:nvPr>
        </p:nvGraphicFramePr>
        <p:xfrm>
          <a:off x="5709718" y="3704281"/>
          <a:ext cx="5933038" cy="235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038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23505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# Train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에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log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적용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 = np.log1p(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# Test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에도 동일하게 적용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 = np.log1p(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print(f"\n✓ Log1p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완료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{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len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)}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개 컬럼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")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#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후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왜도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확인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new_skewness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X_reduced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].skew()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print(f"\n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후 평균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왜도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{abs(skewness[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valid_log_cols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]).mean():.2f} -&gt; {abs(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new_skewness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).mean():.2f}")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else: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     print("✓ Log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변환 적용 가능한 컬럼이 없습니다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.")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19FFECF-60D9-03ED-0592-5D99F140ED94}"/>
              </a:ext>
            </a:extLst>
          </p:cNvPr>
          <p:cNvSpPr txBox="1"/>
          <p:nvPr/>
        </p:nvSpPr>
        <p:spPr>
          <a:xfrm>
            <a:off x="5465122" y="3415329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2.5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음수를 제외한 고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왜도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피처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log1p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적용 및 확인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096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8E35-6B60-09EF-FB75-FB0A8CD6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78F55B1-DDB6-4093-19CF-7F26054363B8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6F6F8-7B8C-1857-6266-72834AD66BF0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6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</a:t>
            </a:r>
            <a:r>
              <a:rPr lang="ko-KR" altLang="en-US" sz="2500" dirty="0" err="1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전처리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(3)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21EE01-1C0B-B95B-884D-3E94301F3CF4}"/>
              </a:ext>
            </a:extLst>
          </p:cNvPr>
          <p:cNvSpPr txBox="1"/>
          <p:nvPr/>
        </p:nvSpPr>
        <p:spPr>
          <a:xfrm>
            <a:off x="613832" y="941917"/>
            <a:ext cx="10816167" cy="1352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모든 피처 스케일링을 통한 정규화 작업 실시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간 공정한 비교를 위한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모든 피처에 </a:t>
            </a:r>
            <a:r>
              <a:rPr lang="en-US" altLang="ko-KR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StandardScaler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적용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추가적인 인코딩 작업은 수행하지 않았음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(One-Hot Encoding, Label Encoding X)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스케일링을 통해 트리계열 모델들은 변수 스케일에 민감하지 않지만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입력값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크기 차이에 영향을 받는 회귀 모델과 공정한 비교 가능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52E70C-2933-C9BE-9F7C-C20AAF55CC72}"/>
              </a:ext>
            </a:extLst>
          </p:cNvPr>
          <p:cNvSpPr/>
          <p:nvPr/>
        </p:nvSpPr>
        <p:spPr>
          <a:xfrm>
            <a:off x="444501" y="1026583"/>
            <a:ext cx="62494" cy="30927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82924371-5262-D64D-F2BD-343C18DC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5419D-7618-A5F7-E24D-127E2BA887B1}"/>
              </a:ext>
            </a:extLst>
          </p:cNvPr>
          <p:cNvSpPr txBox="1"/>
          <p:nvPr/>
        </p:nvSpPr>
        <p:spPr>
          <a:xfrm>
            <a:off x="613832" y="2579029"/>
            <a:ext cx="10816167" cy="1629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단계적 전처리를 통한 최종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Feature Selection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요약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원본 데이터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(371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피처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중 불필요하거나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품질저하 유발 요소 제거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최종적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96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개 핵심 피처 선정 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학습 효율성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향상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방지와 해석 가능성 제고 기여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E1F07-065D-6DAE-E797-FB5C8260DD65}"/>
              </a:ext>
            </a:extLst>
          </p:cNvPr>
          <p:cNvSpPr txBox="1"/>
          <p:nvPr/>
        </p:nvSpPr>
        <p:spPr>
          <a:xfrm>
            <a:off x="2884885" y="449314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2.6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학습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테스트데이터 </a:t>
            </a:r>
            <a:r>
              <a:rPr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StandardScaler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정규화 함수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E38F9DD-070D-DDE9-D39A-3DBC66466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53927"/>
              </p:ext>
            </p:extLst>
          </p:nvPr>
        </p:nvGraphicFramePr>
        <p:xfrm>
          <a:off x="3689583" y="4754750"/>
          <a:ext cx="4900942" cy="130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942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2570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scale_data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scaler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StandardScaler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scaler.fit_transform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scaler.transform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return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X_train_scaled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X_test_scaled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scaler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84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35EA-6DE8-3019-55D1-8BFDCD82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5E975E4-D1B7-E691-6D9E-E2C175A90186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4FCF5-4407-0692-8644-380FDF0D4CD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7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모델링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2B2B2-D577-BB99-799E-BAC7D3F5A7A1}"/>
              </a:ext>
            </a:extLst>
          </p:cNvPr>
          <p:cNvSpPr txBox="1"/>
          <p:nvPr/>
        </p:nvSpPr>
        <p:spPr>
          <a:xfrm>
            <a:off x="613832" y="941917"/>
            <a:ext cx="10816167" cy="1906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8:2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학습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검증 데이터 분할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80%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학습용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Train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데이터로 사용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나머지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20%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는 검증용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Validation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으로 사용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Cross-Validation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전략 사용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20%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검증용 데이터들은 검증용으로 사용 → 모델 선택 및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하이퍼파라미터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튜닝 활용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Stratified </a:t>
            </a:r>
            <a:r>
              <a:rPr lang="en-US" altLang="ko-KR" sz="12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Kfold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기반 교차검증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사용 → 각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fold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마다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TARGET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클래스 비율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전체 데이터와 유사하게 유지되도록 층화 설정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 err="1">
                <a:latin typeface="Microsoft GothicNeo"/>
                <a:ea typeface="Microsoft GothicNeo"/>
                <a:cs typeface="Microsoft GothicNeo"/>
              </a:rPr>
              <a:t>HyperOpt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및 </a:t>
            </a:r>
            <a:r>
              <a:rPr lang="en-US" altLang="ko-KR" sz="1200" dirty="0" err="1">
                <a:latin typeface="Microsoft GothicNeo"/>
                <a:ea typeface="Microsoft GothicNeo"/>
                <a:cs typeface="Microsoft GothicNeo"/>
              </a:rPr>
              <a:t>GridSearchCV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에서 단일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Train/Validation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분할에 의존하지 않는 안정적 성능 평가 수행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C41E78-FD06-C9A8-51ED-846873A7EF0A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EAC3034C-1F9F-E124-7AA7-D7C069AD4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71D184-E731-8D9B-99EF-F4673C5D8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11236"/>
              </p:ext>
            </p:extLst>
          </p:nvPr>
        </p:nvGraphicFramePr>
        <p:xfrm>
          <a:off x="3305185" y="3421980"/>
          <a:ext cx="5933038" cy="1624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038">
                  <a:extLst>
                    <a:ext uri="{9D8B030D-6E8A-4147-A177-3AD203B41FA5}">
                      <a16:colId xmlns:a16="http://schemas.microsoft.com/office/drawing/2014/main" val="3138216807"/>
                    </a:ext>
                  </a:extLst>
                </a:gridCol>
              </a:tblGrid>
              <a:tr h="162415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stacking_model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accent4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StackingClassifier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estimators      = [('rf',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rf_clf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('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xgb_clf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), ('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lgbm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lgbm_clf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)],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final_estimator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meta_model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cv              =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StratifiedKFold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n_splits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=5, shuffle=True,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random_state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=42),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n_jobs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         = -1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299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14AB18-D293-7B5F-3A67-6832DA24033E}"/>
              </a:ext>
            </a:extLst>
          </p:cNvPr>
          <p:cNvSpPr txBox="1"/>
          <p:nvPr/>
        </p:nvSpPr>
        <p:spPr>
          <a:xfrm>
            <a:off x="3060589" y="3133027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2.7 </a:t>
            </a:r>
            <a:r>
              <a:rPr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StratifiedKfold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기반 교차검증 사용 적용 함수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63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B0DD-D21C-308B-8C5D-1E04EAFF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89ABDF0-C456-ACF8-0A3B-BA3DAF0994BA}"/>
              </a:ext>
            </a:extLst>
          </p:cNvPr>
          <p:cNvSpPr/>
          <p:nvPr/>
        </p:nvSpPr>
        <p:spPr>
          <a:xfrm>
            <a:off x="444499" y="3261103"/>
            <a:ext cx="11303215" cy="2935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B7374F-85AB-30B9-6C42-AAF0C18A99BE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6B919-8D35-471D-A9BA-07EE83DD09BF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7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모델링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D812E-C10F-0756-3143-C3B0BCCA0CB1}"/>
              </a:ext>
            </a:extLst>
          </p:cNvPr>
          <p:cNvSpPr txBox="1"/>
          <p:nvPr/>
        </p:nvSpPr>
        <p:spPr>
          <a:xfrm>
            <a:off x="613832" y="941917"/>
            <a:ext cx="10816167" cy="19495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베이스 라인 모델 선정 및 주요 평가지표 재선정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Scikit-learn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DummyClassifier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사용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아무것도 학습하지 않은 모델 성능 기준 제시 ⇨ 각 모델들로 얼마나 개선되었는지 비교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Accuracy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의 한계 확인 ▶ </a:t>
            </a:r>
            <a:r>
              <a:rPr lang="ko-KR" altLang="en-US" sz="1300" b="1" dirty="0">
                <a:solidFill>
                  <a:srgbClr val="FF0000"/>
                </a:solidFill>
                <a:latin typeface="Microsoft GothicNeo"/>
                <a:ea typeface="Microsoft GothicNeo"/>
                <a:cs typeface="Microsoft GothicNeo"/>
              </a:rPr>
              <a:t>주요 평가지표 재선정</a:t>
            </a:r>
            <a:endParaRPr lang="en-US" altLang="ko-KR" sz="1300" b="1" dirty="0">
              <a:solidFill>
                <a:srgbClr val="FF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ROC-AUC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를 주요평가 지표로 선정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소수 클래스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불만족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를 잘 찾아내는지 확인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⇨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Recall, F1-Score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를 보조 지표로 함께 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F6756E-77CA-5637-8689-1D9ECA0367C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3E7983DF-22A9-4FD8-0F6D-CB9879F9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4A9A066-4418-ED0A-2ECC-C046E511B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09" y="4081151"/>
            <a:ext cx="3254418" cy="16122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B2A41D-5413-EE26-4F7D-D148A8F164F4}"/>
              </a:ext>
            </a:extLst>
          </p:cNvPr>
          <p:cNvSpPr txBox="1"/>
          <p:nvPr/>
        </p:nvSpPr>
        <p:spPr>
          <a:xfrm>
            <a:off x="-514297" y="3711538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2.14 </a:t>
            </a:r>
            <a:r>
              <a:rPr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DummyClassifier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 성능 결과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Accuracy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한계점 확인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A3355-70D8-9593-42E9-5E37C6B656C3}"/>
              </a:ext>
            </a:extLst>
          </p:cNvPr>
          <p:cNvSpPr txBox="1"/>
          <p:nvPr/>
        </p:nvSpPr>
        <p:spPr>
          <a:xfrm>
            <a:off x="5282823" y="3946202"/>
            <a:ext cx="6028841" cy="1525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ROC-AUC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약 </a:t>
            </a: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0.5 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수준</a:t>
            </a: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랜덤예측 수준</a:t>
            </a: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으로 실질적 분류 능력 없음</a:t>
            </a:r>
            <a:endParaRPr lang="en-US" altLang="ko-KR" sz="16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소수 클래스인 </a:t>
            </a: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 대해 </a:t>
            </a: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Recall, F1-Score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는 거의 </a:t>
            </a: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0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 가깝게 측정</a:t>
            </a:r>
            <a:endParaRPr lang="en-US" altLang="ko-KR" sz="16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불만족 고객을 사실상 찾아내지 못하는 모델 확인</a:t>
            </a:r>
            <a:endParaRPr lang="en-US" altLang="ko-KR" sz="16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Accuracy </a:t>
            </a:r>
            <a:r>
              <a:rPr lang="ko-KR" altLang="en-US" sz="1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지표의 모델 품질 판단 한계점 존재</a:t>
            </a:r>
          </a:p>
        </p:txBody>
      </p:sp>
    </p:spTree>
    <p:extLst>
      <p:ext uri="{BB962C8B-B14F-4D97-AF65-F5344CB8AC3E}">
        <p14:creationId xmlns:p14="http://schemas.microsoft.com/office/powerpoint/2010/main" val="568982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784-AE92-818E-14D6-789E1E99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7FF1B9C-7585-47BE-25F3-C78609A979CC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01DAB-2BC4-31C1-96A6-837ED6B20E3E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7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모델링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(3)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D1E79A-59EB-1BDC-12F7-DA9FB6D74877}"/>
              </a:ext>
            </a:extLst>
          </p:cNvPr>
          <p:cNvSpPr txBox="1"/>
          <p:nvPr/>
        </p:nvSpPr>
        <p:spPr>
          <a:xfrm>
            <a:off x="613832" y="941917"/>
            <a:ext cx="10816167" cy="2483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dirty="0" err="1">
                <a:latin typeface="Microsoft GothicNeo"/>
                <a:ea typeface="Microsoft GothicNeo"/>
                <a:cs typeface="Microsoft GothicNeo"/>
              </a:rPr>
              <a:t>XGBoost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dirty="0" err="1">
                <a:latin typeface="Microsoft GothicNeo"/>
                <a:ea typeface="Microsoft GothicNeo"/>
                <a:cs typeface="Microsoft GothicNeo"/>
              </a:rPr>
              <a:t>LightGBM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dirty="0" err="1">
                <a:latin typeface="Microsoft GothicNeo"/>
                <a:ea typeface="Microsoft GothicNeo"/>
                <a:cs typeface="Microsoft GothicNeo"/>
              </a:rPr>
              <a:t>RandomForest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dirty="0" err="1">
                <a:latin typeface="Microsoft GothicNeo"/>
                <a:ea typeface="Microsoft GothicNeo"/>
                <a:cs typeface="Microsoft GothicNeo"/>
              </a:rPr>
              <a:t>LogisticRegression</a:t>
            </a:r>
            <a:endParaRPr lang="ko-KR" altLang="en-US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(Base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XGBoost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(Tree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LightGBM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RandomForest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선형 모델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Logistic Regression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XGB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⇨ 불균형 데이터에서의 높은 성능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정규화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조기 종료 기능 고려 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LGBM, RF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⇨ 학습 속도가 빠르고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대용량 데이터에 적합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LR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⇨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해석력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상승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간단한 구현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주요 변수 비교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endParaRPr lang="ko-KR" altLang="en-US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416CB5-B052-A9D5-CFF1-EDB21D7661E2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F8C36C6B-15D6-ADD2-56AA-6D90B1A4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0619B0-D367-736B-E73A-59DC326706F4}"/>
              </a:ext>
            </a:extLst>
          </p:cNvPr>
          <p:cNvSpPr txBox="1"/>
          <p:nvPr/>
        </p:nvSpPr>
        <p:spPr>
          <a:xfrm>
            <a:off x="2884885" y="325205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선정된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ROC-AUC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성능 비교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AABD092-8667-E401-67D8-CCB5D202F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390177"/>
              </p:ext>
            </p:extLst>
          </p:nvPr>
        </p:nvGraphicFramePr>
        <p:xfrm>
          <a:off x="2449915" y="3602159"/>
          <a:ext cx="7609668" cy="25307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96704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2456482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2456482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모델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ROC-AUC (Validation)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학습 시간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DummyClassifier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0.5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빠름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(default)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0.8509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중간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(tuned)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0.8402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느림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53709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(default)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0.8438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빠름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1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(tuned)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0.8452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중간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19811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Rogistic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Regression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0.8051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빠름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619126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RandomForest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0.8422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느림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547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179D-B09B-79A8-D828-F82AC3BF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C3F2A64-9028-AF3C-9685-AD69D2143E06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30AFF-FC1E-CAE1-FBBE-43212D9D08E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8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 평가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(1)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0F1795-23DE-5655-0672-7B2E3A11FCFA}"/>
              </a:ext>
            </a:extLst>
          </p:cNvPr>
          <p:cNvSpPr txBox="1"/>
          <p:nvPr/>
        </p:nvSpPr>
        <p:spPr>
          <a:xfrm>
            <a:off x="613832" y="941917"/>
            <a:ext cx="10816167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각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모델별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주요 평가지표 및 추가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필요성 확인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피처 이상치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(-999999)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최빈값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대체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StandardScaler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적용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모든 모델에서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Recall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및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F1-Score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값이 극도로 떨이지는 것을 확인 →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심각한 클래스 불균형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추가적인 데이터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필요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상관관계 비율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0.95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이상인 피처 삭제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적용 예정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행 전체가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값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(99%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이상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인 피처 삭제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적용 예정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</a:t>
            </a:r>
            <a:endParaRPr lang="ko-KR" altLang="en-US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DCA4E8-FAEC-FC1F-2760-19F458FA8D9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BB46C683-7269-70A4-0E49-3284A4C07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38CF6A3-D606-AECC-71C4-0E8FC863D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48374"/>
              </p:ext>
            </p:extLst>
          </p:nvPr>
        </p:nvGraphicFramePr>
        <p:xfrm>
          <a:off x="883629" y="3930936"/>
          <a:ext cx="6911405" cy="15817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3752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2440956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998899">
                  <a:extLst>
                    <a:ext uri="{9D8B030D-6E8A-4147-A177-3AD203B41FA5}">
                      <a16:colId xmlns:a16="http://schemas.microsoft.com/office/drawing/2014/main" val="966427062"/>
                    </a:ext>
                  </a:extLst>
                </a:gridCol>
                <a:gridCol w="998899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  <a:gridCol w="998899">
                  <a:extLst>
                    <a:ext uri="{9D8B030D-6E8A-4147-A177-3AD203B41FA5}">
                      <a16:colId xmlns:a16="http://schemas.microsoft.com/office/drawing/2014/main" val="2640946979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모델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데이터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전처리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적용 여부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ROC-AUC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F1-Score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Recall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var3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이상치 </a:t>
                      </a:r>
                      <a:r>
                        <a:rPr lang="ko-KR" altLang="en-US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최빈값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대체 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/ </a:t>
                      </a:r>
                      <a:r>
                        <a:rPr lang="en-US" altLang="ko-KR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StandardScaler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0.8509</a:t>
                      </a:r>
                      <a:endParaRPr lang="ko-KR" sz="1000" b="1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0.2974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0.515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위와 동일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0.8438</a:t>
                      </a:r>
                      <a:endParaRPr lang="ko-KR" sz="10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0.0099</a:t>
                      </a:r>
                      <a:endParaRPr lang="ko-KR" sz="1000" b="0" dirty="0">
                        <a:solidFill>
                          <a:srgbClr val="FF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0.005</a:t>
                      </a:r>
                      <a:endParaRPr lang="ko-KR" sz="1000" b="0" dirty="0">
                        <a:solidFill>
                          <a:srgbClr val="FF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Logistic Regression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위와 동일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0.8051</a:t>
                      </a:r>
                      <a:endParaRPr lang="ko-KR" sz="10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0.0129</a:t>
                      </a:r>
                      <a:endParaRPr lang="ko-KR" sz="1000" b="0" dirty="0">
                        <a:solidFill>
                          <a:srgbClr val="FF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0.0066</a:t>
                      </a:r>
                      <a:endParaRPr lang="ko-KR" sz="1000" b="0" dirty="0">
                        <a:solidFill>
                          <a:srgbClr val="FF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619126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RandomForest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위와 동일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0.8422</a:t>
                      </a:r>
                      <a:endParaRPr lang="ko-KR" sz="10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0.0163</a:t>
                      </a:r>
                      <a:endParaRPr lang="ko-KR" sz="1000" b="0" dirty="0">
                        <a:solidFill>
                          <a:srgbClr val="FF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0.0083</a:t>
                      </a:r>
                      <a:endParaRPr lang="ko-KR" sz="1000" b="0" dirty="0">
                        <a:solidFill>
                          <a:srgbClr val="FF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7CB55F0-122E-FDEC-FD99-0544FAA27EBC}"/>
              </a:ext>
            </a:extLst>
          </p:cNvPr>
          <p:cNvSpPr txBox="1"/>
          <p:nvPr/>
        </p:nvSpPr>
        <p:spPr>
          <a:xfrm>
            <a:off x="1980677" y="3563536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2.9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첫번째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전처리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적용 후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주요 성과지표 성능 결과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3E8084A-1831-0FE6-633C-04BC3514E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963" y="3116882"/>
            <a:ext cx="3617205" cy="279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6650BC-1333-14F8-12E7-2FE0FB050AB8}"/>
              </a:ext>
            </a:extLst>
          </p:cNvPr>
          <p:cNvSpPr txBox="1"/>
          <p:nvPr/>
        </p:nvSpPr>
        <p:spPr>
          <a:xfrm>
            <a:off x="7183601" y="2855272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2.15 Threshold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임계값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수치별 삭제된 컬럼 비교 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4952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88C4-1EC8-4E49-2DAB-C87FCCF3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C76E5B7-D2E8-80C9-8C22-EFB67F66ECD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21067-F267-C44F-3B50-367B43071316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8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 평가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(2)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0C23C-7F80-9DC8-9533-A1DCD53D3637}"/>
              </a:ext>
            </a:extLst>
          </p:cNvPr>
          <p:cNvSpPr txBox="1"/>
          <p:nvPr/>
        </p:nvSpPr>
        <p:spPr>
          <a:xfrm>
            <a:off x="613832" y="941917"/>
            <a:ext cx="10816167" cy="2506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적용 후 주요 평가지표별 성능 변화 평가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추가적인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적용 후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모델별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성능 개선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상관관계 비율이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0.95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이상인 피처 삭제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행 전체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(99%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이상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가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인 피처 삭제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 err="1">
                <a:latin typeface="Microsoft GothicNeo"/>
                <a:ea typeface="Microsoft GothicNeo"/>
                <a:cs typeface="Microsoft GothicNeo"/>
              </a:rPr>
              <a:t>XGBoost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의 성능 비정상적 수치 하락 발생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원인 분석 진행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▶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불만족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예측률이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가장 높은 </a:t>
            </a:r>
            <a:r>
              <a:rPr lang="en-US" altLang="ko-KR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LogisticRegression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모델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채택 고려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Threshold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예측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임계값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조정 후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재학습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Class weight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미적용으로 불균형 처리 없이 학습 가능성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전처리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과정에서 중요 정보 손실 가능성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1E3DFE-305A-C0B3-258F-8702544A768D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03260958-DC15-EC5B-626C-231C7FC15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5944716-D497-3629-80D9-5FAAF6CF698B}"/>
              </a:ext>
            </a:extLst>
          </p:cNvPr>
          <p:cNvGraphicFramePr>
            <a:graphicFrameLocks noGrp="1"/>
          </p:cNvGraphicFramePr>
          <p:nvPr/>
        </p:nvGraphicFramePr>
        <p:xfrm>
          <a:off x="883629" y="3930936"/>
          <a:ext cx="10546374" cy="15817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20086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5160936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1221784">
                  <a:extLst>
                    <a:ext uri="{9D8B030D-6E8A-4147-A177-3AD203B41FA5}">
                      <a16:colId xmlns:a16="http://schemas.microsoft.com/office/drawing/2014/main" val="966427062"/>
                    </a:ext>
                  </a:extLst>
                </a:gridCol>
                <a:gridCol w="1221784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  <a:gridCol w="1221784">
                  <a:extLst>
                    <a:ext uri="{9D8B030D-6E8A-4147-A177-3AD203B41FA5}">
                      <a16:colId xmlns:a16="http://schemas.microsoft.com/office/drawing/2014/main" val="2640946979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모델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데이터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전처리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적용 여부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ROC-AUC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F1-Score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Recall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var3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이상치 </a:t>
                      </a:r>
                      <a:r>
                        <a:rPr lang="ko-KR" altLang="en-US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최빈값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대체 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/ </a:t>
                      </a:r>
                      <a:r>
                        <a:rPr lang="en-US" altLang="ko-KR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StandardScaler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/ </a:t>
                      </a:r>
                      <a:r>
                        <a:rPr lang="ko-KR" altLang="en-US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행전체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0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인 피처 삭제 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/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상관계수 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0.95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이상 삭제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0.8520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rgbClr val="EC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0.0066</a:t>
                      </a:r>
                      <a:endParaRPr lang="ko-KR" sz="1000" dirty="0">
                        <a:solidFill>
                          <a:srgbClr val="EC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rgbClr val="EC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0.0033</a:t>
                      </a:r>
                      <a:endParaRPr lang="ko-KR" sz="1000" dirty="0">
                        <a:solidFill>
                          <a:srgbClr val="EC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위와 동일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0.8452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0.2870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0.5598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Logistic Regression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위와 동일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0.8063</a:t>
                      </a:r>
                      <a:endParaRPr lang="ko-KR" sz="1000" b="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0.1617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0.7724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19126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RandomForest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위와 동일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0.8263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0.2653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0.3953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DFB7EC-48A0-A17E-CE28-ECBF8FB38668}"/>
              </a:ext>
            </a:extLst>
          </p:cNvPr>
          <p:cNvSpPr txBox="1"/>
          <p:nvPr/>
        </p:nvSpPr>
        <p:spPr>
          <a:xfrm>
            <a:off x="3608914" y="3574283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2.10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추가 전처리후 각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Recall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및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f1-score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성능 개선 확인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120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F5A7-56BC-0D2B-FC3D-BC78007D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1992AE2-AB42-FEB4-9937-7AC8ACD9D0FC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107D4-DE5D-882D-8354-237E09ED7C1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8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 평가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(3)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7E582-E908-2C16-2B52-D5BECCD7F06D}"/>
              </a:ext>
            </a:extLst>
          </p:cNvPr>
          <p:cNvSpPr txBox="1"/>
          <p:nvPr/>
        </p:nvSpPr>
        <p:spPr>
          <a:xfrm>
            <a:off x="613832" y="941917"/>
            <a:ext cx="10816167" cy="1352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Feature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Importance</a:t>
            </a:r>
            <a:endParaRPr lang="ko-KR" altLang="en-US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모델별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주요 특성 파악을 통해 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var15, saldo_var30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핵심 피처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거래 금액 중심 특성을 보여주는 </a:t>
            </a:r>
            <a:r>
              <a:rPr lang="en-US" altLang="ko-KR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LogisticRegression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선형 모델의 단순함이 장점으로 적용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트리 모델과 달리 선형 관계가 명확한 피처 선호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39C3B2-FCF2-73C8-BE04-7231D78A2D46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D573DECF-D956-4510-3B63-0A97CA7D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B445D-EA3D-458F-2E80-52C82003E1D3}"/>
              </a:ext>
            </a:extLst>
          </p:cNvPr>
          <p:cNvSpPr txBox="1"/>
          <p:nvPr/>
        </p:nvSpPr>
        <p:spPr>
          <a:xfrm>
            <a:off x="7217830" y="2317749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2.16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피처 중요도 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4BA04D-6AF5-0770-E717-4B3123E5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30321" y="2696116"/>
            <a:ext cx="4428766" cy="35313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2660002-BE56-80C9-573C-9359E657C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919186"/>
              </p:ext>
            </p:extLst>
          </p:nvPr>
        </p:nvGraphicFramePr>
        <p:xfrm>
          <a:off x="507999" y="3153809"/>
          <a:ext cx="6652313" cy="12653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6365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1521487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1521487">
                  <a:extLst>
                    <a:ext uri="{9D8B030D-6E8A-4147-A177-3AD203B41FA5}">
                      <a16:colId xmlns:a16="http://schemas.microsoft.com/office/drawing/2014/main" val="966427062"/>
                    </a:ext>
                  </a:extLst>
                </a:gridCol>
                <a:gridCol w="1521487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  <a:gridCol w="1521487">
                  <a:extLst>
                    <a:ext uri="{9D8B030D-6E8A-4147-A177-3AD203B41FA5}">
                      <a16:colId xmlns:a16="http://schemas.microsoft.com/office/drawing/2014/main" val="2640946979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순위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RandomForest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LogisticRegression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Saldovar30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Var38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Var15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Imp_var7_recib_ult1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var15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var15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saldo_var30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saldo_var14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ind_var30_0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saldo_var30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var38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Saldo_medio_var5_hace3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0A9460-F9BE-F9F3-0684-0BC515623BEA}"/>
              </a:ext>
            </a:extLst>
          </p:cNvPr>
          <p:cNvSpPr txBox="1"/>
          <p:nvPr/>
        </p:nvSpPr>
        <p:spPr>
          <a:xfrm>
            <a:off x="1248191" y="2696116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2.11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 별 피처 중요도 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4603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0246-36FC-9304-FC53-6FCE7195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DE07C02-F5DC-FDB6-453D-F71D8185DC7F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C946A-4649-E4B6-F3A5-20187CF5286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8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 평가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(4)</a:t>
            </a:r>
            <a:endParaRPr lang="ko-KR" altLang="en-US" sz="2500" dirty="0">
              <a:solidFill>
                <a:srgbClr val="747474"/>
              </a:solidFill>
              <a:latin typeface="Microsoft GothicNeo"/>
              <a:ea typeface="Microsoft GothicNeo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62157-AA35-F07D-5DAB-E15BEF15B12F}"/>
              </a:ext>
            </a:extLst>
          </p:cNvPr>
          <p:cNvSpPr txBox="1"/>
          <p:nvPr/>
        </p:nvSpPr>
        <p:spPr>
          <a:xfrm>
            <a:off x="613832" y="941917"/>
            <a:ext cx="10816167" cy="1629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예측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vs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실제 비교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예측한 값과 실제 값을 비교를 위해 오차행렬 분석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실제 불만족 고객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(1)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과 만족 고객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(0)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에 대한 예측 결과 비교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예측 결과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en-US" altLang="ko-KR" sz="1200" b="1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LightGBM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이 가장 좋은 밸런스를 가진 모델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하지만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모델을 바로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적용해야하는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상황에서는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불만족 </a:t>
            </a:r>
            <a:r>
              <a:rPr lang="ko-KR" altLang="en-US" sz="12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예측률이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가장 높은 </a:t>
            </a:r>
            <a:r>
              <a:rPr lang="en-US" altLang="ko-KR" sz="1200" b="1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LogisticRegression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채택 고려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54EA09-7496-DB20-0472-E18BB27430D8}"/>
              </a:ext>
            </a:extLst>
          </p:cNvPr>
          <p:cNvSpPr/>
          <p:nvPr/>
        </p:nvSpPr>
        <p:spPr>
          <a:xfrm>
            <a:off x="444500" y="1026582"/>
            <a:ext cx="65088" cy="2931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2F623806-2846-19DF-E15F-80222982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3031C3-B1A7-849D-433F-DF183FD9006D}"/>
              </a:ext>
            </a:extLst>
          </p:cNvPr>
          <p:cNvSpPr txBox="1"/>
          <p:nvPr/>
        </p:nvSpPr>
        <p:spPr>
          <a:xfrm>
            <a:off x="3510036" y="4371254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2.12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모델별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오차행렬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및 주요 지표 비교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578E542-22F6-87C8-4B0B-90C90CC44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011299"/>
              </p:ext>
            </p:extLst>
          </p:nvPr>
        </p:nvGraphicFramePr>
        <p:xfrm>
          <a:off x="613829" y="4663945"/>
          <a:ext cx="10816168" cy="15817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7946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2979448748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966427062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1040982504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11983541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2640946979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모델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FP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TP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Precision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Recall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F1-Score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14,599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600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40%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0.33%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0.66%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13,193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1,409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265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337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19.31%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55.98%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28.70%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Logistic Regression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13,648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954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364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238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19.96%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39.53%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26.49%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619126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RandomForest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9,913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4,689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137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465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9.03%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77.24%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16.08%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CE2714F-6516-A935-6D91-BE1F0B672F40}"/>
              </a:ext>
            </a:extLst>
          </p:cNvPr>
          <p:cNvSpPr txBox="1"/>
          <p:nvPr/>
        </p:nvSpPr>
        <p:spPr>
          <a:xfrm>
            <a:off x="613832" y="2653002"/>
            <a:ext cx="10816167" cy="1629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오차 분석을 통한 문제점 파악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극심한 클래스 불균형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모델의 초기 성능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차 평가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에서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Recall, F1-Score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수치 저하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 err="1">
                <a:latin typeface="Microsoft GothicNeo"/>
                <a:ea typeface="Microsoft GothicNeo"/>
                <a:cs typeface="Microsoft GothicNeo"/>
              </a:rPr>
              <a:t>XGBoost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의 예측 </a:t>
            </a:r>
            <a:r>
              <a:rPr lang="ko-KR" altLang="en-US" sz="1300" b="1" dirty="0" err="1">
                <a:latin typeface="Microsoft GothicNeo"/>
                <a:ea typeface="Microsoft GothicNeo"/>
                <a:cs typeface="Microsoft GothicNeo"/>
              </a:rPr>
              <a:t>임계값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과소적합 문제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  2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차평가에서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TP 2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건으로 분류기 역할 상실 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불균형 데이터에서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Recall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을 극대화하기 위해 예측 임계 값이 매우 낮게 설정 가능성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고객 이탈 방지 기회는 최대화하지만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대량의 마케팅 비용 비효율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(FP)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유발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2216071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957F-9C2B-8041-D834-464AEAFA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6AA9709-AC01-0398-EA70-0ACD0203F314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B2069-2067-8C2A-0E68-8A5E841B8E5F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9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모델 해석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F584106D-7CAD-F62B-E3F6-9FA701DA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7F9FDA-870A-ED5F-E574-F17A9B4188CE}"/>
              </a:ext>
            </a:extLst>
          </p:cNvPr>
          <p:cNvSpPr txBox="1"/>
          <p:nvPr/>
        </p:nvSpPr>
        <p:spPr>
          <a:xfrm>
            <a:off x="613832" y="941917"/>
            <a:ext cx="10816167" cy="2483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SHAP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분석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모델의 예측 결과를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각 피처가 얼마나 기여했는지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수치로 설명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전역적 중요 피처 재확인 및 영향력의 방향성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불만족 유발 요인 집중 분석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지역적 해석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SHAP Force Plot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을 통해 불만족으로 예측된 고객들 특징 분석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SHAP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중요도에 따른 해당 피처의 </a:t>
            </a:r>
            <a:r>
              <a:rPr lang="ko-KR" altLang="en-US" sz="1200" b="1" dirty="0">
                <a:latin typeface="Microsoft GothicNeo"/>
                <a:ea typeface="Microsoft GothicNeo"/>
                <a:cs typeface="Microsoft GothicNeo"/>
              </a:rPr>
              <a:t>영향력 방향성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및 </a:t>
            </a:r>
            <a:r>
              <a:rPr lang="ko-KR" altLang="en-US" sz="1200" b="1" dirty="0">
                <a:latin typeface="Microsoft GothicNeo"/>
                <a:ea typeface="Microsoft GothicNeo"/>
                <a:cs typeface="Microsoft GothicNeo"/>
              </a:rPr>
              <a:t>비즈니스 해석</a:t>
            </a:r>
            <a:endParaRPr lang="en-US" altLang="ko-KR" sz="1200" b="1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숨겨진 패턴으로 </a:t>
            </a:r>
            <a:r>
              <a:rPr lang="en-US" altLang="ko-KR" sz="1200" dirty="0" err="1">
                <a:latin typeface="Microsoft GothicNeo"/>
                <a:ea typeface="Microsoft GothicNeo"/>
                <a:cs typeface="Microsoft GothicNeo"/>
              </a:rPr>
              <a:t>LogisticRegression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의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중요피처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(Imp_var7_recib_util1)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는 트리 모델에서는 상대적으로 중요도가 낮았음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선형 모델은 단순한 거래 금액과 같은 직접적 선형 관계에 집중했음을 시사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3237AA-0439-DF15-0D00-A069184B16F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40E1C41-808E-7847-AB66-355BB30B0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81330"/>
              </p:ext>
            </p:extLst>
          </p:nvPr>
        </p:nvGraphicFramePr>
        <p:xfrm>
          <a:off x="669901" y="4075720"/>
          <a:ext cx="10933518" cy="15817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48622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1497547">
                  <a:extLst>
                    <a:ext uri="{9D8B030D-6E8A-4147-A177-3AD203B41FA5}">
                      <a16:colId xmlns:a16="http://schemas.microsoft.com/office/drawing/2014/main" val="4172869758"/>
                    </a:ext>
                  </a:extLst>
                </a:gridCol>
                <a:gridCol w="2926620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5060729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</a:tblGrid>
              <a:tr h="316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피처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SHAP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중요도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순위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영향력의 방향성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(SHAP Value)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비즈니스 해석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추정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var15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최상위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값이 낮을수록 불만족 확률을 높임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고객 연령이 낮거나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계정 보유 기간이 짧은 신규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/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젊은 고객일수록 불만족도가 높음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saldo_var30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상위권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갚이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높거나 극히 낮을 경우 불만족 확률을 높임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계좌 잔액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(var30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관련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이 지나치게 많거나 극도로 적을 때 불만족과 관련됨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var38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상위권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특히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LGBM)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값이 특정 범위에 있을 때 불만족 확률을 높임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 err="1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익명화된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주거 또는 자산 관련 정보로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특정 경제적 배경을 가진 고객군에서 불만족이 집중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537094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Ind_var30_0</a:t>
                      </a:r>
                      <a:endParaRPr lang="ko-KR" alt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중상위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피처가 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일 경우 불만족 확률을 높임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var30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관련 계좌가 존재하지 않을 때 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해당 상품을 이용하지 않을 때</a:t>
                      </a:r>
                      <a:r>
                        <a:rPr lang="en-US" altLang="ko-KR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 </a:t>
                      </a:r>
                      <a:r>
                        <a:rPr lang="ko-KR" altLang="en-US" sz="1000" dirty="0"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불만족과 연관됨</a:t>
                      </a:r>
                      <a:endParaRPr lang="ko-KR" sz="1000" dirty="0"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8454A8D-6B56-9772-87AF-406F87004BFE}"/>
              </a:ext>
            </a:extLst>
          </p:cNvPr>
          <p:cNvSpPr txBox="1"/>
          <p:nvPr/>
        </p:nvSpPr>
        <p:spPr>
          <a:xfrm>
            <a:off x="3668785" y="3760080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2.13 SHAP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중요도에 따른 영향력 분석 및 비즈니스 해석 추정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896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02C12-FF03-E31C-2B73-55474438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2EBDA94-39C5-F5F2-AF3F-6BBF8C21BCDF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B5DD0-6194-A70C-BE35-117A2CEC805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10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결론 및 시사점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9453F606-4E8D-1D03-7F11-43A9F975F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B99AF-9441-6F1D-D321-5AFC55F16C76}"/>
              </a:ext>
            </a:extLst>
          </p:cNvPr>
          <p:cNvSpPr txBox="1"/>
          <p:nvPr/>
        </p:nvSpPr>
        <p:spPr>
          <a:xfrm>
            <a:off x="613832" y="941917"/>
            <a:ext cx="10816167" cy="2229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스태킹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앙상블을 통한 리더보드 최상위권 도달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b="1" dirty="0" err="1">
                <a:latin typeface="Microsoft GothicNeo"/>
                <a:ea typeface="Microsoft GothicNeo"/>
                <a:cs typeface="Microsoft GothicNeo"/>
              </a:rPr>
              <a:t>RandomForest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300" b="1" dirty="0" err="1">
                <a:latin typeface="Microsoft GothicNeo"/>
                <a:ea typeface="Microsoft GothicNeo"/>
                <a:cs typeface="Microsoft GothicNeo"/>
              </a:rPr>
              <a:t>XGBoost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300" b="1" dirty="0" err="1">
                <a:latin typeface="Microsoft GothicNeo"/>
                <a:ea typeface="Microsoft GothicNeo"/>
                <a:cs typeface="Microsoft GothicNeo"/>
              </a:rPr>
              <a:t>LightGBM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베이스모델로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altLang="ko-KR" sz="1300" b="1" dirty="0" err="1">
                <a:latin typeface="Microsoft GothicNeo"/>
                <a:ea typeface="Microsoft GothicNeo"/>
                <a:cs typeface="Microsoft GothicNeo"/>
              </a:rPr>
              <a:t>LogisticRegression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메타모델로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Stacking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앙상블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구성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Stratified K-Fold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교차검증을 적용하여 불균형 데이터 문제 완화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Threshold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변화에 따른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final Stacking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불만족 고객 탐지 비율 분석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기여도 계수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ROC-AUC </a:t>
            </a:r>
            <a:r>
              <a:rPr lang="ko-KR" altLang="en-US" sz="12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는 최고 수준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으로 모델 분류 능력을 잘 보여주었으나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F1-Score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는 낮게 나타나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Precision /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Recall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간 균형 부족 확인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Recall </a:t>
            </a:r>
            <a:r>
              <a:rPr lang="ko-KR" altLang="en-US" sz="12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은 </a:t>
            </a:r>
            <a:r>
              <a:rPr lang="en-US" altLang="ko-KR" sz="12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0.88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로 매우 높아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불만족 고객을 잘 탐지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902E43-E77B-49C1-919A-D21B750B380D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DAA214-5C56-C3C7-9C48-B65886CB0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959554"/>
              </p:ext>
            </p:extLst>
          </p:nvPr>
        </p:nvGraphicFramePr>
        <p:xfrm>
          <a:off x="1571878" y="4066725"/>
          <a:ext cx="9365741" cy="15817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953919">
                  <a:extLst>
                    <a:ext uri="{9D8B030D-6E8A-4147-A177-3AD203B41FA5}">
                      <a16:colId xmlns:a16="http://schemas.microsoft.com/office/drawing/2014/main" val="1315053058"/>
                    </a:ext>
                  </a:extLst>
                </a:gridCol>
                <a:gridCol w="2350956">
                  <a:extLst>
                    <a:ext uri="{9D8B030D-6E8A-4147-A177-3AD203B41FA5}">
                      <a16:colId xmlns:a16="http://schemas.microsoft.com/office/drawing/2014/main" val="2801455241"/>
                    </a:ext>
                  </a:extLst>
                </a:gridCol>
                <a:gridCol w="1353622">
                  <a:extLst>
                    <a:ext uri="{9D8B030D-6E8A-4147-A177-3AD203B41FA5}">
                      <a16:colId xmlns:a16="http://schemas.microsoft.com/office/drawing/2014/main" val="966427062"/>
                    </a:ext>
                  </a:extLst>
                </a:gridCol>
                <a:gridCol w="1353622">
                  <a:extLst>
                    <a:ext uri="{9D8B030D-6E8A-4147-A177-3AD203B41FA5}">
                      <a16:colId xmlns:a16="http://schemas.microsoft.com/office/drawing/2014/main" val="2335212907"/>
                    </a:ext>
                  </a:extLst>
                </a:gridCol>
                <a:gridCol w="1353622">
                  <a:extLst>
                    <a:ext uri="{9D8B030D-6E8A-4147-A177-3AD203B41FA5}">
                      <a16:colId xmlns:a16="http://schemas.microsoft.com/office/drawing/2014/main" val="2640946979"/>
                    </a:ext>
                  </a:extLst>
                </a:gridCol>
              </a:tblGrid>
              <a:tr h="31634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모델명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모델 기여도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주요 지표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38379"/>
                  </a:ext>
                </a:extLst>
              </a:tr>
              <a:tr h="31634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ROC-AUC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F1-Score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Recall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12410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RandomForest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1.85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rgbClr val="C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0.9300</a:t>
                      </a:r>
                      <a:endParaRPr lang="ko-KR" sz="1000" b="1" dirty="0">
                        <a:solidFill>
                          <a:srgbClr val="C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0.2934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rgbClr val="C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0.8856</a:t>
                      </a:r>
                      <a:endParaRPr lang="ko-KR" sz="1000" b="1" dirty="0">
                        <a:solidFill>
                          <a:srgbClr val="C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8795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XGBoost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-0.67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69873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LightGBM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4.81</a:t>
                      </a: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lvl="0" indent="0" algn="ctr" latinLnBrk="1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37440" marR="3744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34050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89FB62-A515-1A02-DA59-D1205E056117}"/>
              </a:ext>
            </a:extLst>
          </p:cNvPr>
          <p:cNvSpPr txBox="1"/>
          <p:nvPr/>
        </p:nvSpPr>
        <p:spPr>
          <a:xfrm>
            <a:off x="3668784" y="3686756"/>
            <a:ext cx="5171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2.14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최종 </a:t>
            </a:r>
            <a:r>
              <a:rPr lang="ko-KR" altLang="en-US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스태킹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모델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Best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성능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각 모델 기여도 및 주요지표 점수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3676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BE47-3C27-3B83-F7DB-965D114A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42E4CDC-814F-F187-F1D3-F8A8EB033893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090C5-D50C-4E9E-764E-70518C9571B7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10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결론 및 시사점</a:t>
            </a:r>
          </a:p>
        </p:txBody>
      </p:sp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02623918-EDEC-781A-6F55-6F52B559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6197079"/>
            <a:ext cx="1767252" cy="662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3F059D-847A-5309-FB93-0A48AFFD8F47}"/>
              </a:ext>
            </a:extLst>
          </p:cNvPr>
          <p:cNvSpPr txBox="1"/>
          <p:nvPr/>
        </p:nvSpPr>
        <p:spPr>
          <a:xfrm>
            <a:off x="613832" y="941917"/>
            <a:ext cx="10816167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시사점 및 한계점 정리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고객을 조기에 파악해 대응할 수 있었지만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오탐이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많으면 자원 낭비 및 고객 경험 악화 가능성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이 있다는 것을 재확인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학습결과에 따른 주요 피처분석을 통해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var38(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주거래 상품 잔액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), var15(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나이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가 가장 중요한 피처로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젊은 고객층에서 불만족 비율이 상대적으로 높은 것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확인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AUC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및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Recall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성능이 매우 우수하여 불만족 고객을 효과적으로 탐지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가능하지만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Precision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값이 낮아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오탐을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줄이는 추가적 후처리가 필요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불필요한 마케팅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관리 비용 증가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고객경험 저하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자원낭비 발생 가능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Precision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이 낮으면 투입대비 성과가 떨어짐 → 불필요한 지출 발생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94B8B2-AF1A-641D-E8C3-EA1C190A5069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88EA6-3E90-4445-6CED-C480D97563BE}"/>
              </a:ext>
            </a:extLst>
          </p:cNvPr>
          <p:cNvSpPr txBox="1"/>
          <p:nvPr/>
        </p:nvSpPr>
        <p:spPr>
          <a:xfrm>
            <a:off x="613832" y="3569498"/>
            <a:ext cx="10816167" cy="1952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제언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측면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 양 부족으로 일반화 성능에 제약 존재 및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재현율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편향 발생 가능성 ▶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빅데이터 필요</a:t>
            </a:r>
            <a:endParaRPr lang="en-US" altLang="ko-KR" sz="1300" b="1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 측면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트리계열 모델 해석의 한계점 존재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피처수에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비해 샘플수가 적어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과적합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위험 ▶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외부데이터 경제지표</a:t>
            </a:r>
            <a:r>
              <a:rPr lang="en-US" altLang="ko-KR" sz="1300" b="1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경쟁사 정보 결합 필요</a:t>
            </a:r>
            <a:endParaRPr lang="en-US" altLang="ko-KR" sz="1300" b="1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개선 방향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앙상블 모델에 다른 유형의 모델 중 신경망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SVM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을 추가 ▶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모델 다양성 확보</a:t>
            </a:r>
            <a:endParaRPr lang="en-US" altLang="ko-KR" sz="1300" b="1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실무 적용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 예측 결과를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CRM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시스템과 연계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선제적 대응 프로세스 구축 및 고객 유지 전략 연결 가능</a:t>
            </a:r>
            <a:endParaRPr lang="en-US" altLang="ko-KR" sz="1300" b="1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EC5445-F6F3-8E4F-D722-14E821ECD177}"/>
              </a:ext>
            </a:extLst>
          </p:cNvPr>
          <p:cNvSpPr/>
          <p:nvPr/>
        </p:nvSpPr>
        <p:spPr>
          <a:xfrm>
            <a:off x="444500" y="3654164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0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3576</Words>
  <Application>Microsoft Office PowerPoint</Application>
  <PresentationFormat>와이드스크린</PresentationFormat>
  <Paragraphs>474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Microsoft GothicNeo</vt:lpstr>
      <vt:lpstr>Wingdings,Sans-Serif</vt:lpstr>
      <vt:lpstr>맑은 고딕</vt:lpstr>
      <vt:lpstr>Arial</vt:lpstr>
      <vt:lpstr>Arial Nova</vt:lpstr>
      <vt:lpstr>Calibri</vt:lpstr>
      <vt:lpstr>Courier New</vt:lpstr>
      <vt:lpstr>Wingdings</vt:lpstr>
      <vt:lpstr>Office 테마</vt:lpstr>
      <vt:lpstr>Kaggle Santander Bank Customer Satisfaction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tj</cp:lastModifiedBy>
  <cp:revision>588</cp:revision>
  <dcterms:created xsi:type="dcterms:W3CDTF">2025-12-09T14:30:12Z</dcterms:created>
  <dcterms:modified xsi:type="dcterms:W3CDTF">2025-12-15T10:23:05Z</dcterms:modified>
</cp:coreProperties>
</file>