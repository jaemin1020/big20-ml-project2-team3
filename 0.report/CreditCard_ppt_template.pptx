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EBE"/>
    <a:srgbClr val="E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EC081-5AF6-1116-315F-DE47BBE7CBAD}" v="53" dt="2025-12-11T15:45:03.395"/>
    <p1510:client id="{2803BE5B-E151-BF0B-92F4-A883FF4E3022}" v="2268" dt="2025-12-09T17:13:18.536"/>
    <p1510:client id="{4037A3A9-9956-236B-DCCE-FE9B215140FD}" v="305" dt="2025-12-11T16:18:57.157"/>
    <p1510:client id="{5FEDAF48-590E-EC47-BB16-988AE3B20AF7}" v="1024" dt="2025-12-11T16:56:20.973"/>
    <p1510:client id="{71F21311-1668-664C-5467-940DE95C9772}" v="2" dt="2025-12-11T15:33:13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Is the American Express Black Card Really Worth It? | The Motley Fool">
            <a:extLst>
              <a:ext uri="{FF2B5EF4-FFF2-40B4-BE49-F238E27FC236}">
                <a16:creationId xmlns:a16="http://schemas.microsoft.com/office/drawing/2014/main" id="{E973D61D-FEF2-7E68-76B0-271FF558B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997" y="-4497"/>
            <a:ext cx="12532781" cy="695084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9C6A870-9967-7F6C-BEA8-7B48715326F8}"/>
              </a:ext>
            </a:extLst>
          </p:cNvPr>
          <p:cNvSpPr/>
          <p:nvPr/>
        </p:nvSpPr>
        <p:spPr>
          <a:xfrm>
            <a:off x="-554404" y="425773"/>
            <a:ext cx="13297551" cy="178370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898028" y="2008284"/>
            <a:ext cx="9072359" cy="2387600"/>
          </a:xfrm>
          <a:ln>
            <a:noFill/>
          </a:ln>
        </p:spPr>
        <p:txBody>
          <a:bodyPr>
            <a:normAutofit/>
          </a:bodyPr>
          <a:lstStyle/>
          <a:p>
            <a:pPr algn="r"/>
            <a:r>
              <a:rPr lang="ko-KR" altLang="en-US" sz="5500" err="1">
                <a:solidFill>
                  <a:srgbClr val="FFFFFF"/>
                </a:solidFill>
                <a:latin typeface="microsoft gothicneo"/>
                <a:ea typeface="microsoft gothicneo"/>
                <a:cs typeface="microsoft gothicneo"/>
              </a:rPr>
              <a:t>Kaggle</a:t>
            </a:r>
            <a:r>
              <a:rPr lang="ko-KR" altLang="en-US" sz="5500" dirty="0">
                <a:solidFill>
                  <a:srgbClr val="FFFFFF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5500" err="1">
                <a:solidFill>
                  <a:srgbClr val="FFFFFF"/>
                </a:solidFill>
                <a:latin typeface="microsoft gothicneo"/>
                <a:ea typeface="microsoft gothicneo"/>
                <a:cs typeface="microsoft gothicneo"/>
              </a:rPr>
              <a:t>Credit</a:t>
            </a:r>
            <a:r>
              <a:rPr lang="ko-KR" altLang="en-US" sz="5500" dirty="0">
                <a:solidFill>
                  <a:srgbClr val="FFFFFF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5500" err="1">
                <a:solidFill>
                  <a:srgbClr val="FFFFFF"/>
                </a:solidFill>
                <a:latin typeface="microsoft gothicneo"/>
                <a:ea typeface="microsoft gothicneo"/>
                <a:cs typeface="microsoft gothicneo"/>
              </a:rPr>
              <a:t>Card</a:t>
            </a:r>
            <a:br>
              <a:rPr lang="ko-KR" altLang="en-US" sz="5500" dirty="0">
                <a:solidFill>
                  <a:srgbClr val="FFFFFF"/>
                </a:solidFill>
                <a:latin typeface="microsoft gothicneo"/>
                <a:ea typeface="microsoft gothicneo"/>
                <a:cs typeface="microsoft gothicneo"/>
              </a:rPr>
            </a:br>
            <a:r>
              <a:rPr lang="ko-KR" altLang="en-US" sz="5500" err="1">
                <a:solidFill>
                  <a:srgbClr val="FFC000"/>
                </a:solidFill>
                <a:latin typeface="microsoft gothicneo"/>
                <a:ea typeface="microsoft gothicneo"/>
                <a:cs typeface="microsoft gothicneo"/>
              </a:rPr>
              <a:t>Fraud</a:t>
            </a:r>
            <a:r>
              <a:rPr lang="ko-KR" altLang="en-US" sz="5500" dirty="0">
                <a:solidFill>
                  <a:srgbClr val="FFFFFF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5500" err="1">
                <a:solidFill>
                  <a:srgbClr val="FFFFFF"/>
                </a:solidFill>
                <a:latin typeface="microsoft gothicneo"/>
                <a:ea typeface="microsoft gothicneo"/>
                <a:cs typeface="microsoft gothicneo"/>
              </a:rPr>
              <a:t>Detection</a:t>
            </a:r>
            <a:endParaRPr lang="ko-KR" altLang="en-US" sz="5500">
              <a:solidFill>
                <a:srgbClr val="FFFFFF"/>
              </a:solidFill>
              <a:latin typeface="microsoft gothicneo"/>
              <a:ea typeface="microsoft gothicneo"/>
              <a:cs typeface="microsoft gothicneo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661E11C-6716-B069-88B6-4A028656BDF5}"/>
              </a:ext>
            </a:extLst>
          </p:cNvPr>
          <p:cNvSpPr txBox="1">
            <a:spLocks/>
          </p:cNvSpPr>
          <p:nvPr/>
        </p:nvSpPr>
        <p:spPr>
          <a:xfrm>
            <a:off x="-2116610" y="-686727"/>
            <a:ext cx="4239846" cy="27002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9600" dirty="0">
                <a:solidFill>
                  <a:srgbClr val="FFFFFF"/>
                </a:solidFill>
                <a:latin typeface="Calibri"/>
                <a:ea typeface="microsoft gothicneo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1344FED-B355-D522-EB2F-276379F0C44F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43901-4860-FDEE-6F85-6B63241BFBDE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FFC000"/>
                </a:solidFill>
                <a:latin typeface="Microsoft GothicNeo"/>
                <a:ea typeface="Microsoft GothicNeo"/>
                <a:cs typeface="Arial"/>
              </a:rPr>
              <a:t>03-1 프로젝트 배경 및 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12DDD-70D9-C415-FD84-073D521F6F7C}"/>
              </a:ext>
            </a:extLst>
          </p:cNvPr>
          <p:cNvSpPr txBox="1"/>
          <p:nvPr/>
        </p:nvSpPr>
        <p:spPr>
          <a:xfrm>
            <a:off x="513192" y="1013803"/>
            <a:ext cx="11090134" cy="16725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금융권 신용카드 사기 증가 및 기존 규칙 기반 시스템의 한계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b="1" dirty="0">
                <a:solidFill>
                  <a:srgbClr val="000000"/>
                </a:solidFill>
                <a:latin typeface="Microsoft GothicNeo"/>
                <a:ea typeface="Microsoft GothicNeo"/>
                <a:cs typeface="Microsoft GothicNeo"/>
              </a:rPr>
              <a:t>(금융권 현실적 문제)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신용카드 사기로 매년 전세계적으로 수십억 달러 규모 손실 유발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(기존 시스템 한계)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>
                <a:solidFill>
                  <a:srgbClr val="FFC000"/>
                </a:solidFill>
                <a:latin typeface="Microsoft GothicNeo"/>
                <a:ea typeface="Microsoft GothicNeo"/>
                <a:cs typeface="Microsoft GothicNeo"/>
              </a:rPr>
              <a:t>전통적 규칙 기반 탐지 시스템의 신종 사기패턴 적응 한계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및 </a:t>
            </a:r>
            <a:r>
              <a:rPr lang="ko-KR" altLang="en-US" sz="1300" err="1">
                <a:solidFill>
                  <a:srgbClr val="FFC000"/>
                </a:solidFill>
                <a:latin typeface="Microsoft GothicNeo"/>
                <a:ea typeface="Microsoft GothicNeo"/>
                <a:cs typeface="Microsoft GothicNeo"/>
              </a:rPr>
              <a:t>오탐</a:t>
            </a:r>
            <a:r>
              <a:rPr lang="ko-KR" altLang="en-US" sz="1300" dirty="0">
                <a:solidFill>
                  <a:srgbClr val="FFC000"/>
                </a:solidFill>
                <a:latin typeface="Microsoft GothicNeo"/>
                <a:ea typeface="Microsoft GothicNeo"/>
                <a:cs typeface="Microsoft GothicNeo"/>
              </a:rPr>
              <a:t> 증가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실제 금융 서비스에서 발생하는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False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Positive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*와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False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Negative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*의 비용을 고려한 모델 설계 필요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정상거래를 사기로 잘못 탐지 / 사기를 놓치는 경우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20F1AD-A929-533A-4E7A-DACA1C0BA9BE}"/>
              </a:ext>
            </a:extLst>
          </p:cNvPr>
          <p:cNvSpPr/>
          <p:nvPr/>
        </p:nvSpPr>
        <p:spPr>
          <a:xfrm flipH="1">
            <a:off x="321093" y="1012206"/>
            <a:ext cx="80275" cy="1664976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 descr="텍스트, 스크린샷, 도표, 그래프이(가) 표시된 사진">
            <a:extLst>
              <a:ext uri="{FF2B5EF4-FFF2-40B4-BE49-F238E27FC236}">
                <a16:creationId xmlns:a16="http://schemas.microsoft.com/office/drawing/2014/main" id="{A068FF7B-FAFA-F57F-1ACB-3758142D3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78" y="3188364"/>
            <a:ext cx="5349115" cy="31241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AA0123-3410-7841-435B-63F726F10484}"/>
              </a:ext>
            </a:extLst>
          </p:cNvPr>
          <p:cNvSpPr txBox="1"/>
          <p:nvPr/>
        </p:nvSpPr>
        <p:spPr>
          <a:xfrm>
            <a:off x="2063749" y="2921814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3.1 신용카드 사기로 인한 글로벌 손실액 규모  (11' - 18') 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0EEDA-73A0-4DA8-13D7-D25740F90783}"/>
              </a:ext>
            </a:extLst>
          </p:cNvPr>
          <p:cNvSpPr txBox="1"/>
          <p:nvPr/>
        </p:nvSpPr>
        <p:spPr>
          <a:xfrm>
            <a:off x="324826" y="6311736"/>
            <a:ext cx="8383627" cy="2385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950" dirty="0">
                <a:latin typeface="Microsoft GothicNeo"/>
                <a:ea typeface="Microsoft GothicNeo"/>
                <a:cs typeface="Microsoft GothicNeo"/>
              </a:rPr>
              <a:t>자료 : </a:t>
            </a:r>
            <a:r>
              <a:rPr lang="ko-KR" altLang="en-US" sz="950" dirty="0" err="1">
                <a:latin typeface="Microsoft GothicNeo"/>
                <a:ea typeface="Microsoft GothicNeo"/>
                <a:cs typeface="Microsoft GothicNeo"/>
              </a:rPr>
              <a:t>Nilson</a:t>
            </a:r>
            <a:r>
              <a:rPr lang="ko-KR" altLang="en-US" sz="95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950" dirty="0" err="1">
                <a:latin typeface="Microsoft GothicNeo"/>
                <a:ea typeface="Microsoft GothicNeo"/>
                <a:cs typeface="Microsoft GothicNeo"/>
              </a:rPr>
              <a:t>Report</a:t>
            </a:r>
            <a:r>
              <a:rPr lang="ko-KR" altLang="en-US" sz="950" dirty="0">
                <a:latin typeface="Microsoft GothicNeo"/>
                <a:ea typeface="Microsoft GothicNeo"/>
                <a:cs typeface="Microsoft GothicNeo"/>
              </a:rPr>
              <a:t> 2018</a:t>
            </a:r>
          </a:p>
        </p:txBody>
      </p:sp>
    </p:spTree>
    <p:extLst>
      <p:ext uri="{BB962C8B-B14F-4D97-AF65-F5344CB8AC3E}">
        <p14:creationId xmlns:p14="http://schemas.microsoft.com/office/powerpoint/2010/main" val="1572256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CFDA3-1A1E-C99F-A2AC-6F31CCF43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2AE5FBA-0ACA-45D4-B113-7F9CDE533FBB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A2E86-3C3F-FF0E-8087-85EA5EC0C166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FFC000"/>
                </a:solidFill>
                <a:latin typeface="Microsoft GothicNeo"/>
                <a:ea typeface="Microsoft GothicNeo"/>
                <a:cs typeface="Arial"/>
              </a:rPr>
              <a:t>03-2 데이터셋 문제 및 평가지표 선정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B6BA9-7FEF-E4F7-49B4-624B8CCF76FA}"/>
              </a:ext>
            </a:extLst>
          </p:cNvPr>
          <p:cNvSpPr txBox="1"/>
          <p:nvPr/>
        </p:nvSpPr>
        <p:spPr>
          <a:xfrm>
            <a:off x="513192" y="1013803"/>
            <a:ext cx="11090134" cy="1671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데이터셋의 극심한 불균형 문제점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b="1" dirty="0">
                <a:solidFill>
                  <a:srgbClr val="000000"/>
                </a:solidFill>
                <a:latin typeface="Microsoft GothicNeo"/>
                <a:ea typeface="Microsoft GothicNeo"/>
                <a:cs typeface="Microsoft GothicNeo"/>
              </a:rPr>
              <a:t>(극심한 불균형)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전체 284,315건 중 사기 거래는 492건 → 0.173%에 불과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(데이터 익명화)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개인정보 보호를 위해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PCA로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변환된 변수만 제공</a:t>
            </a:r>
            <a:endParaRPr lang="ko-KR" altLang="en-US" sz="1300" dirty="0">
              <a:solidFill>
                <a:srgbClr val="FFC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대부분 </a:t>
            </a:r>
            <a:r>
              <a:rPr lang="ko-KR" altLang="en-US" sz="1200" err="1">
                <a:latin typeface="Microsoft GothicNeo"/>
                <a:ea typeface="Microsoft GothicNeo"/>
                <a:cs typeface="Microsoft GothicNeo"/>
              </a:rPr>
              <a:t>정상거라로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학습되며, 모델이 "전부 정상" 이라고 예측 </a:t>
            </a:r>
            <a:r>
              <a:rPr lang="ko-KR" sz="1200" dirty="0">
                <a:ea typeface="+mn-lt"/>
                <a:cs typeface="+mn-lt"/>
              </a:rPr>
              <a:t>→ </a:t>
            </a:r>
            <a:r>
              <a:rPr lang="en-US" altLang="ko-KR" sz="1200" dirty="0">
                <a:latin typeface="맑은 고딕"/>
                <a:ea typeface="맑은 고딕"/>
                <a:cs typeface="Microsoft GothicNeo"/>
              </a:rPr>
              <a:t>Accuracy</a:t>
            </a:r>
            <a:r>
              <a:rPr lang="ko-KR" altLang="en-US" sz="1200" dirty="0">
                <a:latin typeface="맑은 고딕"/>
                <a:ea typeface="맑은 고딕"/>
                <a:cs typeface="Microsoft GothicNeo"/>
              </a:rPr>
              <a:t> 99% 이상 나올 수 있음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 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불균형 데이터 문제 해결을 위해 </a:t>
            </a:r>
            <a:r>
              <a:rPr lang="ko-KR" altLang="en-US" sz="1200" b="1" err="1">
                <a:latin typeface="Microsoft GothicNeo"/>
                <a:ea typeface="Microsoft GothicNeo"/>
                <a:cs typeface="Microsoft GothicNeo"/>
              </a:rPr>
              <a:t>언더샘플링</a:t>
            </a:r>
            <a:r>
              <a:rPr lang="ko-KR" altLang="en-US" sz="1200" b="1" dirty="0">
                <a:latin typeface="Microsoft GothicNeo"/>
                <a:ea typeface="Microsoft GothicNeo"/>
                <a:cs typeface="Microsoft GothicNeo"/>
              </a:rPr>
              <a:t>, </a:t>
            </a:r>
            <a:r>
              <a:rPr lang="ko-KR" altLang="en-US" sz="1200" b="1" err="1">
                <a:latin typeface="Microsoft GothicNeo"/>
                <a:ea typeface="Microsoft GothicNeo"/>
                <a:cs typeface="Microsoft GothicNeo"/>
              </a:rPr>
              <a:t>오버샘플링</a:t>
            </a:r>
            <a:r>
              <a:rPr lang="ko-KR" altLang="en-US" sz="1200" b="1" dirty="0">
                <a:latin typeface="Microsoft GothicNeo"/>
                <a:ea typeface="Microsoft GothicNeo"/>
                <a:cs typeface="Microsoft GothicNeo"/>
              </a:rPr>
              <a:t>(SMOTE)</a:t>
            </a: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 기법 필요</a:t>
            </a:r>
            <a:endParaRPr lang="ko-KR" sz="12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238FD9-19E9-F511-8108-D10EB9B654BE}"/>
              </a:ext>
            </a:extLst>
          </p:cNvPr>
          <p:cNvSpPr/>
          <p:nvPr/>
        </p:nvSpPr>
        <p:spPr>
          <a:xfrm flipH="1">
            <a:off x="321093" y="1012206"/>
            <a:ext cx="80275" cy="1664976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 descr="텍스트, 스크린샷, 디스플레이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31F7E8-3055-756D-871A-148097C9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939" y="3082706"/>
            <a:ext cx="6007219" cy="33204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7F05B5-3BAA-561E-F34E-3C0DFC163069}"/>
              </a:ext>
            </a:extLst>
          </p:cNvPr>
          <p:cNvSpPr txBox="1"/>
          <p:nvPr/>
        </p:nvSpPr>
        <p:spPr>
          <a:xfrm>
            <a:off x="2064348" y="2808992"/>
            <a:ext cx="8383627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[ 그림 3.2 신용카드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사기검출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데이터셋 </a:t>
            </a:r>
            <a:r>
              <a:rPr lang="ko-KR" altLang="en-US" sz="1100" dirty="0" err="1">
                <a:latin typeface="Microsoft GothicNeo"/>
                <a:ea typeface="Microsoft GothicNeo"/>
                <a:cs typeface="Microsoft GothicNeo"/>
              </a:rPr>
              <a:t>Class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피처 실제 사기와 정상거래 분포 시각화 ]</a:t>
            </a:r>
          </a:p>
        </p:txBody>
      </p:sp>
    </p:spTree>
    <p:extLst>
      <p:ext uri="{BB962C8B-B14F-4D97-AF65-F5344CB8AC3E}">
        <p14:creationId xmlns:p14="http://schemas.microsoft.com/office/powerpoint/2010/main" val="186410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056DB-B2AD-5A55-76D5-4FF38384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B12E1B7-EC6B-7794-7CF3-4C5A6FD486EB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499D8A-BBAF-DA31-C323-E1A6F0FCCFFC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500" dirty="0">
                <a:solidFill>
                  <a:srgbClr val="FFC000"/>
                </a:solidFill>
                <a:latin typeface="Microsoft GothicNeo"/>
                <a:ea typeface="Microsoft GothicNeo"/>
                <a:cs typeface="Arial"/>
              </a:rPr>
              <a:t>03-2 데이터셋 문제 및 평가지표 선정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D53E5-689C-9D4B-CEC7-B6000849E23F}"/>
              </a:ext>
            </a:extLst>
          </p:cNvPr>
          <p:cNvSpPr txBox="1"/>
          <p:nvPr/>
        </p:nvSpPr>
        <p:spPr>
          <a:xfrm>
            <a:off x="513192" y="1013803"/>
            <a:ext cx="11090134" cy="16725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비즈니스 목표에 따른 모델 평가지표 선정</a:t>
            </a:r>
          </a:p>
          <a:p>
            <a:pPr marL="400050" lvl="2" indent="228600">
              <a:lnSpc>
                <a:spcPct val="150000"/>
              </a:lnSpc>
              <a:buFont typeface="Wingdings,Sans-Serif"/>
              <a:buChar char="§"/>
            </a:pPr>
            <a:r>
              <a:rPr lang="ko-KR" altLang="en-US" sz="1300" b="1" dirty="0">
                <a:solidFill>
                  <a:srgbClr val="000000"/>
                </a:solidFill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b="1" err="1">
                <a:solidFill>
                  <a:srgbClr val="000000"/>
                </a:solidFill>
                <a:latin typeface="Microsoft GothicNeo"/>
                <a:ea typeface="Microsoft GothicNeo"/>
                <a:cs typeface="Microsoft GothicNeo"/>
              </a:rPr>
              <a:t>Recall</a:t>
            </a:r>
            <a:r>
              <a:rPr lang="ko-KR" altLang="en-US" sz="1300" b="1" dirty="0">
                <a:solidFill>
                  <a:srgbClr val="000000"/>
                </a:solidFill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b="1" err="1">
                <a:solidFill>
                  <a:srgbClr val="000000"/>
                </a:solidFill>
                <a:latin typeface="Microsoft GothicNeo"/>
                <a:ea typeface="Microsoft GothicNeo"/>
                <a:cs typeface="Microsoft GothicNeo"/>
              </a:rPr>
              <a:t>재현율</a:t>
            </a:r>
            <a:r>
              <a:rPr lang="ko-KR" altLang="en-US" sz="1300" b="1" dirty="0">
                <a:solidFill>
                  <a:srgbClr val="000000"/>
                </a:solidFill>
                <a:latin typeface="Microsoft GothicNeo"/>
                <a:ea typeface="Microsoft GothicNeo"/>
                <a:cs typeface="Microsoft GothicNeo"/>
              </a:rPr>
              <a:t>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은행은 </a:t>
            </a:r>
            <a:r>
              <a:rPr lang="ko-KR" altLang="en-US" sz="1300" b="1" err="1">
                <a:solidFill>
                  <a:srgbClr val="FFC000"/>
                </a:solidFill>
                <a:latin typeface="Microsoft GothicNeo"/>
                <a:ea typeface="Microsoft GothicNeo"/>
                <a:cs typeface="Microsoft GothicNeo"/>
              </a:rPr>
              <a:t>Recall</a:t>
            </a:r>
            <a:r>
              <a:rPr lang="ko-KR" altLang="en-US" sz="1300" b="1" dirty="0">
                <a:solidFill>
                  <a:srgbClr val="FFC000"/>
                </a:solidFill>
                <a:latin typeface="Microsoft GothicNeo"/>
                <a:ea typeface="Microsoft GothicNeo"/>
                <a:cs typeface="Microsoft GothicNeo"/>
              </a:rPr>
              <a:t> 을 높여 사기를 놓치지 않게 하는 것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이 중요</a:t>
            </a:r>
            <a:endParaRPr lang="ko-KR" sz="1300" dirty="0">
              <a:latin typeface="Microsoft GothicNeo"/>
              <a:ea typeface="Microsoft GothicNeo"/>
              <a:cs typeface="Microsoft GothicNeo"/>
            </a:endParaRP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(</a:t>
            </a:r>
            <a:r>
              <a:rPr lang="ko-KR" altLang="en-US" sz="1300" b="1" dirty="0" err="1">
                <a:latin typeface="Microsoft GothicNeo"/>
                <a:ea typeface="Microsoft GothicNeo"/>
                <a:cs typeface="Microsoft GothicNeo"/>
              </a:rPr>
              <a:t>Threshold</a:t>
            </a:r>
            <a:r>
              <a:rPr lang="ko-KR" altLang="en-US" sz="1300" b="1" dirty="0">
                <a:latin typeface="Microsoft GothicNeo"/>
                <a:ea typeface="Microsoft GothicNeo"/>
                <a:cs typeface="Microsoft GothicNeo"/>
              </a:rPr>
              <a:t> 조정)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모델의 예측 확률을 조정해 Precision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vs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Recall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균형을 맞추는 전략 필요</a:t>
            </a:r>
            <a:endParaRPr lang="ko-KR" altLang="en-US" sz="1300" dirty="0">
              <a:solidFill>
                <a:srgbClr val="000000"/>
              </a:solidFill>
              <a:latin typeface="Microsoft GothicNeo"/>
              <a:ea typeface="Microsoft GothicNeo"/>
              <a:cs typeface="Microsoft GothicNeo"/>
            </a:endParaRP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Precision이 너무 낮으면 정상거래가 과도하게 차단되어 고객 불편 초래</a:t>
            </a:r>
          </a:p>
          <a:p>
            <a:pPr marL="800100" lvl="3" indent="-228600">
              <a:lnSpc>
                <a:spcPct val="150000"/>
              </a:lnSpc>
              <a:buFont typeface="Calibri"/>
              <a:buChar char="-"/>
            </a:pPr>
            <a:r>
              <a:rPr lang="ko-KR" altLang="en-US" sz="1200" dirty="0">
                <a:latin typeface="Microsoft GothicNeo"/>
                <a:ea typeface="Microsoft GothicNeo"/>
                <a:cs typeface="Microsoft GothicNeo"/>
              </a:rPr>
              <a:t>정확도의 한계를 극복하고 모델이 희소 클래스를 잘 처리하려면 다양한 지표들이 요구됨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D06275-B22D-D8EC-6E6F-0110364E5945}"/>
              </a:ext>
            </a:extLst>
          </p:cNvPr>
          <p:cNvSpPr/>
          <p:nvPr/>
        </p:nvSpPr>
        <p:spPr>
          <a:xfrm flipH="1">
            <a:off x="321093" y="1012206"/>
            <a:ext cx="80275" cy="1664976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B8453BF-C4A1-C558-F2F9-9130CFCA4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068878"/>
              </p:ext>
            </p:extLst>
          </p:nvPr>
        </p:nvGraphicFramePr>
        <p:xfrm>
          <a:off x="529166" y="3365500"/>
          <a:ext cx="11180391" cy="28892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792854655"/>
                    </a:ext>
                  </a:extLst>
                </a:gridCol>
                <a:gridCol w="4610096">
                  <a:extLst>
                    <a:ext uri="{9D8B030D-6E8A-4147-A177-3AD203B41FA5}">
                      <a16:colId xmlns:a16="http://schemas.microsoft.com/office/drawing/2014/main" val="1273891245"/>
                    </a:ext>
                  </a:extLst>
                </a:gridCol>
                <a:gridCol w="5236795">
                  <a:extLst>
                    <a:ext uri="{9D8B030D-6E8A-4147-A177-3AD203B41FA5}">
                      <a16:colId xmlns:a16="http://schemas.microsoft.com/office/drawing/2014/main" val="412505967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microsoft gothicneo"/>
                          <a:ea typeface="microsoft gothicneo"/>
                        </a:rPr>
                        <a:t>지 표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microsoft gothicneo"/>
                          <a:ea typeface="microsoft gothicneo"/>
                        </a:rPr>
                        <a:t>정 의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microsoft gothicneo"/>
                          <a:ea typeface="microsoft gothicneo"/>
                        </a:rPr>
                        <a:t>필 요 성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671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2042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dirty="0">
                          <a:effectLst/>
                          <a:latin typeface="microsoft gothicneo"/>
                        </a:rPr>
                        <a:t>Accuracy</a:t>
                      </a:r>
                      <a:r>
                        <a:rPr lang="en-US" sz="1100" dirty="0">
                          <a:effectLst/>
                          <a:latin typeface="microsoft gothicneo"/>
                          <a:ea typeface="Malgun Gothic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en-US" altLang="ko-KR" sz="1100" dirty="0">
                          <a:effectLst/>
                          <a:latin typeface="microsoft gothicneo"/>
                          <a:ea typeface="Malgun Gothic"/>
                        </a:rPr>
                        <a:t>(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정확도</a:t>
                      </a:r>
                      <a:r>
                        <a:rPr lang="en-US" altLang="ko-KR" sz="1100" dirty="0">
                          <a:effectLst/>
                          <a:latin typeface="microsoft gothicneo"/>
                          <a:ea typeface="Malgun Gothic"/>
                        </a:rPr>
                        <a:t>) 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전체 예측 중 맞춘 비율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불균형 데이터에서는 대부분 ‘</a:t>
                      </a:r>
                      <a:r>
                        <a:rPr lang="ko-KR" altLang="en-US" sz="1100" err="1">
                          <a:effectLst/>
                          <a:latin typeface="microsoft gothicneo"/>
                          <a:ea typeface="microsoft gothicneo"/>
                        </a:rPr>
                        <a:t>정상’으로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 예측해도 높은 값이 나오므로 의미 제한적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48975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dirty="0">
                          <a:effectLst/>
                          <a:latin typeface="microsoft gothicneo"/>
                        </a:rPr>
                        <a:t>Precision</a:t>
                      </a:r>
                      <a:endParaRPr lang="en-US" sz="1100" dirty="0">
                        <a:effectLst/>
                        <a:latin typeface="microsoft gothicneo"/>
                        <a:ea typeface="Malgun Gothic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en-US" altLang="ko-KR" sz="1100" dirty="0">
                          <a:effectLst/>
                          <a:latin typeface="microsoft gothicneo"/>
                          <a:ea typeface="Malgun Gothic"/>
                        </a:rPr>
                        <a:t>(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정밀도</a:t>
                      </a:r>
                      <a:r>
                        <a:rPr lang="en-US" altLang="ko-KR" sz="1100" dirty="0">
                          <a:effectLst/>
                          <a:latin typeface="microsoft gothicneo"/>
                          <a:ea typeface="Malgun Gothic"/>
                        </a:rPr>
                        <a:t>) 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예측한 </a:t>
                      </a:r>
                      <a:r>
                        <a:rPr lang="af-ZA" altLang="ko-KR" sz="1100" err="1">
                          <a:effectLst/>
                          <a:latin typeface="microsoft gothicneo"/>
                          <a:ea typeface="Malgun Gothic"/>
                        </a:rPr>
                        <a:t>Positive</a:t>
                      </a:r>
                      <a:r>
                        <a:rPr lang="af-ZA" altLang="ko-KR" sz="1100" dirty="0">
                          <a:effectLst/>
                          <a:latin typeface="microsoft gothicneo"/>
                          <a:ea typeface="Malgun Gothic"/>
                        </a:rPr>
                        <a:t> 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중 실제 </a:t>
                      </a:r>
                      <a:r>
                        <a:rPr lang="af-ZA" altLang="ko-KR" sz="1100" err="1">
                          <a:effectLst/>
                          <a:latin typeface="microsoft gothicneo"/>
                          <a:ea typeface="Malgun Gothic"/>
                        </a:rPr>
                        <a:t>Positive</a:t>
                      </a:r>
                      <a:r>
                        <a:rPr lang="af-ZA" altLang="ko-KR" sz="1100" dirty="0">
                          <a:effectLst/>
                          <a:latin typeface="microsoft gothicneo"/>
                          <a:ea typeface="Malgun Gothic"/>
                        </a:rPr>
                        <a:t> 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비율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en-US" sz="1100" dirty="0">
                          <a:effectLst/>
                          <a:latin typeface="microsoft gothicneo"/>
                        </a:rPr>
                        <a:t>False Positive(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정상 거래 사기로 잘 못 탐지</a:t>
                      </a:r>
                      <a:r>
                        <a:rPr lang="en-US" altLang="ko-KR" sz="1100" dirty="0">
                          <a:effectLst/>
                          <a:latin typeface="microsoft gothicneo"/>
                        </a:rPr>
                        <a:t>)</a:t>
                      </a:r>
                      <a:r>
                        <a:rPr lang="ko-KR" altLang="en-US" sz="1100" err="1">
                          <a:effectLst/>
                          <a:latin typeface="microsoft gothicneo"/>
                          <a:ea typeface="microsoft gothicneo"/>
                        </a:rPr>
                        <a:t>를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 줄이는데 중요 → </a:t>
                      </a:r>
                      <a:r>
                        <a:rPr lang="ko-KR" altLang="en-US" sz="1100" b="1" dirty="0">
                          <a:effectLst/>
                          <a:latin typeface="microsoft gothicneo"/>
                          <a:ea typeface="microsoft gothicneo"/>
                        </a:rPr>
                        <a:t>고객불편 최소화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05541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dirty="0">
                          <a:effectLst/>
                          <a:latin typeface="microsoft gothicneo"/>
                        </a:rPr>
                        <a:t>Recall</a:t>
                      </a:r>
                      <a:endParaRPr lang="en-US" sz="1100" b="1">
                        <a:effectLst/>
                        <a:latin typeface="microsoft gothicneo"/>
                        <a:ea typeface="Malgun Gothic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B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en-US" altLang="ko-KR" sz="1100" b="1" dirty="0">
                          <a:effectLst/>
                          <a:latin typeface="microsoft gothicneo"/>
                          <a:ea typeface="Malgun Gothic"/>
                        </a:rPr>
                        <a:t>(</a:t>
                      </a:r>
                      <a:r>
                        <a:rPr lang="ko-KR" altLang="en-US" sz="1100" b="1" dirty="0" err="1">
                          <a:effectLst/>
                          <a:latin typeface="microsoft gothicneo"/>
                          <a:ea typeface="microsoft gothicneo"/>
                        </a:rPr>
                        <a:t>재현율</a:t>
                      </a:r>
                      <a:r>
                        <a:rPr lang="en-US" altLang="ko-KR" sz="1100" b="1" dirty="0">
                          <a:effectLst/>
                          <a:latin typeface="microsoft gothicneo"/>
                          <a:ea typeface="Malgun Gothic"/>
                        </a:rPr>
                        <a:t>) </a:t>
                      </a:r>
                      <a:r>
                        <a:rPr lang="ko-KR" altLang="en-US" sz="1100" b="1" dirty="0">
                          <a:effectLst/>
                          <a:latin typeface="microsoft gothicneo"/>
                          <a:ea typeface="microsoft gothicneo"/>
                        </a:rPr>
                        <a:t>실제 </a:t>
                      </a:r>
                      <a:r>
                        <a:rPr lang="af-ZA" altLang="ko-KR" sz="1100" b="1" dirty="0" err="1">
                          <a:effectLst/>
                          <a:latin typeface="microsoft gothicneo"/>
                          <a:ea typeface="Malgun Gothic"/>
                        </a:rPr>
                        <a:t>Positive</a:t>
                      </a:r>
                      <a:r>
                        <a:rPr lang="af-ZA" altLang="ko-KR" sz="1100" b="1" dirty="0">
                          <a:effectLst/>
                          <a:latin typeface="microsoft gothicneo"/>
                          <a:ea typeface="Malgun Gothic"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  <a:latin typeface="microsoft gothicneo"/>
                          <a:ea typeface="microsoft gothicneo"/>
                        </a:rPr>
                        <a:t>중 모델이 잡아낸 비율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B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en-US" sz="1100" b="1" dirty="0">
                          <a:effectLst/>
                          <a:latin typeface="microsoft gothicneo"/>
                        </a:rPr>
                        <a:t>False Negative(</a:t>
                      </a:r>
                      <a:r>
                        <a:rPr lang="ko-KR" altLang="en-US" sz="1100" b="1" dirty="0">
                          <a:effectLst/>
                          <a:latin typeface="microsoft gothicneo"/>
                          <a:ea typeface="microsoft gothicneo"/>
                        </a:rPr>
                        <a:t>사기를 놓침</a:t>
                      </a:r>
                      <a:r>
                        <a:rPr lang="en-US" altLang="ko-KR" sz="1100" b="1" dirty="0">
                          <a:effectLst/>
                          <a:latin typeface="microsoft gothicneo"/>
                        </a:rPr>
                        <a:t>)</a:t>
                      </a:r>
                      <a:r>
                        <a:rPr lang="ko-KR" altLang="en-US" sz="1100" dirty="0" err="1">
                          <a:effectLst/>
                          <a:latin typeface="microsoft gothicneo"/>
                          <a:ea typeface="microsoft gothicneo"/>
                        </a:rPr>
                        <a:t>를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 줄이는데 중요</a:t>
                      </a:r>
                      <a:r>
                        <a:rPr lang="en-US" altLang="ko-KR" sz="1100" dirty="0">
                          <a:effectLst/>
                          <a:latin typeface="microsoft gothicneo"/>
                        </a:rPr>
                        <a:t>. </a:t>
                      </a:r>
                      <a:r>
                        <a:rPr lang="ko-KR" altLang="en-US" sz="1100" b="1" dirty="0">
                          <a:effectLst/>
                          <a:latin typeface="microsoft gothicneo"/>
                          <a:ea typeface="microsoft gothicneo"/>
                        </a:rPr>
                        <a:t>사기 탐지에서 핵심 지표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07756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dirty="0">
                          <a:effectLst/>
                          <a:latin typeface="microsoft gothicneo"/>
                        </a:rPr>
                        <a:t>F1-score</a:t>
                      </a:r>
                      <a:endParaRPr lang="en-US" sz="1100" dirty="0">
                        <a:effectLst/>
                        <a:latin typeface="microsoft gothicneo"/>
                        <a:ea typeface="Malgun Gothic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en-US" sz="1100" b="1" dirty="0">
                          <a:effectLst/>
                          <a:latin typeface="microsoft gothicneo"/>
                        </a:rPr>
                        <a:t>Precision</a:t>
                      </a:r>
                      <a:r>
                        <a:rPr lang="ko-KR" altLang="en-US" sz="1100" b="1" dirty="0">
                          <a:effectLst/>
                          <a:latin typeface="microsoft gothicneo"/>
                          <a:ea typeface="microsoft gothicneo"/>
                        </a:rPr>
                        <a:t>과 </a:t>
                      </a:r>
                      <a:r>
                        <a:rPr lang="en-US" sz="1100" b="1" dirty="0">
                          <a:effectLst/>
                          <a:latin typeface="microsoft gothicneo"/>
                        </a:rPr>
                        <a:t>Recall</a:t>
                      </a:r>
                      <a:r>
                        <a:rPr lang="ko-KR" altLang="en-US" sz="1100" b="1" dirty="0">
                          <a:effectLst/>
                          <a:latin typeface="microsoft gothicneo"/>
                          <a:ea typeface="microsoft gothicneo"/>
                        </a:rPr>
                        <a:t>의 조화 평균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en-US" sz="1100" dirty="0">
                          <a:effectLst/>
                          <a:latin typeface="microsoft gothicneo"/>
                        </a:rPr>
                        <a:t>Precision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과 </a:t>
                      </a:r>
                      <a:r>
                        <a:rPr lang="en-US" sz="1100" dirty="0">
                          <a:effectLst/>
                          <a:latin typeface="microsoft gothicneo"/>
                        </a:rPr>
                        <a:t>Recall 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간 균형 평가 </a:t>
                      </a:r>
                      <a:r>
                        <a:rPr lang="ko-KR" sz="11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→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 불균형 데이터에서 단일 지표로 성능 비교 </a:t>
                      </a:r>
                      <a:endParaRPr lang="ko-KR" dirty="0"/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70153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dirty="0">
                          <a:effectLst/>
                          <a:latin typeface="microsoft gothicneo"/>
                        </a:rPr>
                        <a:t>F2-score</a:t>
                      </a:r>
                      <a:endParaRPr lang="en-US" sz="1100" dirty="0">
                        <a:effectLst/>
                        <a:latin typeface="microsoft gothicneo"/>
                        <a:ea typeface="Malgun Gothic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en-US" sz="1100" dirty="0">
                          <a:effectLst/>
                          <a:latin typeface="microsoft gothicneo"/>
                        </a:rPr>
                        <a:t>Recall</a:t>
                      </a:r>
                      <a:r>
                        <a:rPr lang="ko-KR" altLang="en-US" sz="1100" dirty="0" err="1">
                          <a:effectLst/>
                          <a:latin typeface="microsoft gothicneo"/>
                          <a:ea typeface="microsoft gothicneo"/>
                        </a:rPr>
                        <a:t>에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 더 큰 가중치를 둔 조화평균 </a:t>
                      </a:r>
                      <a:r>
                        <a:rPr lang="en-US" altLang="ko-KR" sz="1100" dirty="0">
                          <a:effectLst/>
                          <a:latin typeface="microsoft gothicneo"/>
                        </a:rPr>
                        <a:t>(</a:t>
                      </a:r>
                      <a:r>
                        <a:rPr lang="en-US" sz="1100" dirty="0">
                          <a:effectLst/>
                          <a:latin typeface="microsoft gothicneo"/>
                        </a:rPr>
                        <a:t>Recall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을 </a:t>
                      </a:r>
                      <a:r>
                        <a:rPr lang="en-US" sz="1100" dirty="0">
                          <a:effectLst/>
                          <a:latin typeface="microsoft gothicneo"/>
                        </a:rPr>
                        <a:t>Precision 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보다 </a:t>
                      </a:r>
                      <a:r>
                        <a:rPr lang="en-US" altLang="ko-KR" sz="1100" dirty="0">
                          <a:effectLst/>
                          <a:latin typeface="microsoft gothicneo"/>
                        </a:rPr>
                        <a:t>2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배 중요시</a:t>
                      </a:r>
                      <a:r>
                        <a:rPr lang="en-US" altLang="ko-KR" sz="1100" dirty="0">
                          <a:effectLst/>
                          <a:latin typeface="microsoft gothicneo"/>
                        </a:rPr>
                        <a:t>)</a:t>
                      </a:r>
                      <a:endParaRPr lang="ko-KR" altLang="en-US" sz="1100" dirty="0">
                        <a:effectLst/>
                        <a:latin typeface="microsoft gothicneo"/>
                        <a:ea typeface="microsoft gothicneo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base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사기 탐지에서 놓치면 큰 피해가 발생하는 문제에서 </a:t>
                      </a:r>
                      <a:r>
                        <a:rPr lang="af-ZA" altLang="ko-KR" sz="1100" b="1" dirty="0" err="1">
                          <a:effectLst/>
                          <a:latin typeface="microsoft gothicneo"/>
                          <a:ea typeface="Malgun Gothic"/>
                        </a:rPr>
                        <a:t>Recall</a:t>
                      </a:r>
                      <a:r>
                        <a:rPr lang="ko-KR" altLang="en-US" sz="1100" b="1" dirty="0">
                          <a:effectLst/>
                          <a:latin typeface="microsoft gothicneo"/>
                          <a:ea typeface="microsoft gothicneo"/>
                        </a:rPr>
                        <a:t>을 더 강조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할 때 적합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48785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lvl="0" algn="ctr" rtl="0">
                        <a:lnSpc>
                          <a:spcPts val="1275"/>
                        </a:lnSpc>
                        <a:buNone/>
                      </a:pPr>
                      <a:r>
                        <a:rPr lang="en-US" sz="1100" b="1" dirty="0">
                          <a:effectLst/>
                          <a:latin typeface="microsoft gothicneo"/>
                        </a:rPr>
                        <a:t>ROC-AUC</a:t>
                      </a:r>
                      <a:endParaRPr lang="en-US" sz="1100" dirty="0">
                        <a:effectLst/>
                        <a:latin typeface="microsoft gothicneo"/>
                        <a:ea typeface="Malgun Gothic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다양한 </a:t>
                      </a:r>
                      <a:r>
                        <a:rPr lang="af-ZA" altLang="ko-KR" sz="1100" err="1">
                          <a:effectLst/>
                          <a:latin typeface="microsoft gothicneo"/>
                          <a:ea typeface="Malgun Gothic"/>
                        </a:rPr>
                        <a:t>Threshold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에서의 </a:t>
                      </a:r>
                      <a:r>
                        <a:rPr lang="af-ZA" altLang="ko-KR" sz="1100" dirty="0">
                          <a:effectLst/>
                          <a:latin typeface="microsoft gothicneo"/>
                          <a:ea typeface="Malgun Gothic"/>
                        </a:rPr>
                        <a:t>TPR </a:t>
                      </a:r>
                      <a:r>
                        <a:rPr lang="af-ZA" altLang="ko-KR" sz="1100" err="1">
                          <a:effectLst/>
                          <a:latin typeface="microsoft gothicneo"/>
                          <a:ea typeface="Malgun Gothic"/>
                        </a:rPr>
                        <a:t>vs</a:t>
                      </a:r>
                      <a:r>
                        <a:rPr lang="af-ZA" altLang="ko-KR" sz="1100" dirty="0">
                          <a:effectLst/>
                          <a:latin typeface="microsoft gothicneo"/>
                          <a:ea typeface="Malgun Gothic"/>
                        </a:rPr>
                        <a:t> FPR 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곡선 아래 면적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rtl="0">
                        <a:lnSpc>
                          <a:spcPts val="1275"/>
                        </a:lnSpc>
                        <a:buFont typeface="Wingdings"/>
                        <a:buChar char="§"/>
                      </a:pP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전체 분류 성능을 평가하지만</a:t>
                      </a:r>
                      <a:r>
                        <a:rPr lang="en-US" altLang="ko-KR" sz="1100" dirty="0">
                          <a:effectLst/>
                          <a:latin typeface="microsoft gothicneo"/>
                          <a:ea typeface="Malgun Gothic"/>
                        </a:rPr>
                        <a:t>, </a:t>
                      </a:r>
                      <a:r>
                        <a:rPr lang="ko-KR" altLang="en-US" sz="1100" dirty="0">
                          <a:effectLst/>
                          <a:latin typeface="microsoft gothicneo"/>
                          <a:ea typeface="microsoft gothicneo"/>
                        </a:rPr>
                        <a:t>극단적 불균형에서는 과대평가 가능 </a:t>
                      </a:r>
                    </a:p>
                  </a:txBody>
                  <a:tcPr marL="66675" marR="66675" anchor="ctr">
                    <a:lnL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C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9362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38AB1C3-D7FB-582E-57C5-DD52B1A071B7}"/>
              </a:ext>
            </a:extLst>
          </p:cNvPr>
          <p:cNvSpPr txBox="1"/>
          <p:nvPr/>
        </p:nvSpPr>
        <p:spPr>
          <a:xfrm>
            <a:off x="3069167" y="2963334"/>
            <a:ext cx="6096000" cy="260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1350"/>
              </a:lnSpc>
            </a:pPr>
            <a:r>
              <a:rPr lang="en-US" sz="1100" dirty="0">
                <a:latin typeface="microsoft gothicneo"/>
                <a:ea typeface="microsoft gothicneo"/>
                <a:cs typeface="microsoft gothicneo"/>
              </a:rPr>
              <a:t>&lt; 표</a:t>
            </a:r>
            <a:r>
              <a:rPr lang="ko-KR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en-US" sz="1100" dirty="0">
                <a:latin typeface="microsoft gothicneo"/>
                <a:ea typeface="microsoft gothicneo"/>
                <a:cs typeface="microsoft gothicneo"/>
              </a:rPr>
              <a:t>3.1.1</a:t>
            </a:r>
            <a:r>
              <a:rPr lang="ko-KR" altLang="en-US" sz="1100" dirty="0">
                <a:latin typeface="microsoft gothicneo"/>
                <a:ea typeface="microsoft gothicneo"/>
                <a:cs typeface="microsoft gothicneo"/>
              </a:rPr>
              <a:t> </a:t>
            </a:r>
            <a:r>
              <a:rPr lang="ko-KR" sz="1100" dirty="0">
                <a:latin typeface="microsoft gothicneo"/>
                <a:ea typeface="microsoft gothicneo"/>
                <a:cs typeface="microsoft gothicneo"/>
              </a:rPr>
              <a:t>불균형 데이터에서의 다양한 평가지표 필요성</a:t>
            </a:r>
            <a:r>
              <a:rPr sz="1100" dirty="0">
                <a:latin typeface="microsoft gothicneo"/>
                <a:ea typeface="microsoft gothicneo"/>
                <a:cs typeface="microsoft gothicneo"/>
              </a:rPr>
              <a:t> </a:t>
            </a:r>
            <a:r>
              <a:rPr lang="en-US" sz="1100" dirty="0">
                <a:latin typeface="microsoft gothicneo"/>
                <a:ea typeface="microsoft gothicneo"/>
                <a:cs typeface="microsoft gothicneo"/>
              </a:rPr>
              <a:t>&gt;</a:t>
            </a:r>
            <a:endParaRPr lang="ko-KR" altLang="en-US" sz="1100" dirty="0">
              <a:latin typeface="microsoft gothicneo"/>
              <a:ea typeface="microsoft gothicneo"/>
              <a:cs typeface="microsoft gothicneo"/>
            </a:endParaRPr>
          </a:p>
        </p:txBody>
      </p:sp>
    </p:spTree>
    <p:extLst>
      <p:ext uri="{BB962C8B-B14F-4D97-AF65-F5344CB8AC3E}">
        <p14:creationId xmlns:p14="http://schemas.microsoft.com/office/powerpoint/2010/main" val="1295249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내용 개체 틀 13">
            <a:extLst>
              <a:ext uri="{FF2B5EF4-FFF2-40B4-BE49-F238E27FC236}">
                <a16:creationId xmlns:a16="http://schemas.microsoft.com/office/drawing/2014/main" id="{31C3C2E4-48FF-628C-2CC7-2A93CF79C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145391"/>
              </p:ext>
            </p:extLst>
          </p:nvPr>
        </p:nvGraphicFramePr>
        <p:xfrm>
          <a:off x="848783" y="2710554"/>
          <a:ext cx="1051559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35776">
                  <a:extLst>
                    <a:ext uri="{9D8B030D-6E8A-4147-A177-3AD203B41FA5}">
                      <a16:colId xmlns:a16="http://schemas.microsoft.com/office/drawing/2014/main" val="2092996912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109184465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1353602506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401753819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2312508761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369982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>
                          <a:latin typeface="Arial Nova"/>
                        </a:rPr>
                        <a:t>구  분</a:t>
                      </a:r>
                    </a:p>
                  </a:txBody>
                  <a:tcPr anchor="ctr"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D4</a:t>
                      </a: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D8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D12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D16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500" b="1" dirty="0">
                          <a:latin typeface="Arial Nova"/>
                        </a:rPr>
                        <a:t>D20</a:t>
                      </a:r>
                      <a:endParaRPr lang="ko-KR" sz="1500" b="1">
                        <a:latin typeface="Arial Nova"/>
                      </a:endParaRPr>
                    </a:p>
                  </a:txBody>
                  <a:tcPr anchor="ctr">
                    <a:lnL w="19050">
                      <a:solidFill>
                        <a:schemeClr val="bg2"/>
                      </a:solidFill>
                    </a:lnL>
                    <a:lnR w="19050">
                      <a:solidFill>
                        <a:schemeClr val="bg2"/>
                      </a:solidFill>
                    </a:lnR>
                    <a:lnT w="28575">
                      <a:solidFill>
                        <a:schemeClr val="bg2">
                          <a:lumMod val="50000"/>
                        </a:schemeClr>
                      </a:solidFill>
                    </a:lnT>
                    <a:lnB w="19050">
                      <a:solidFill>
                        <a:schemeClr val="bg2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3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프로젝트 전략 및 계획 수립 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190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278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조원별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업무 배분 및 업무 범위 명확화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주제별 데이터셋 파악,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전처리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과정 진행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788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1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산탄데르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은행 고객 만족 분석</a:t>
                      </a:r>
                      <a:endParaRPr lang="ko-KR">
                        <a:latin typeface="Microsoft GothicNeo"/>
                        <a:ea typeface="Microsoft GothicNeo"/>
                      </a:endParaRP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48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2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신용카드 사기 검출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95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3 : UCI 감성 리뷰 분석 및 문서 유사도 분석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211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lvl="0" indent="-342900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주제 4 :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Kaggle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</a:t>
                      </a:r>
                      <a:r>
                        <a:rPr lang="ko-KR" altLang="en-US" sz="1500" err="1">
                          <a:latin typeface="Microsoft GothicNeo"/>
                          <a:ea typeface="Microsoft GothicNeo"/>
                        </a:rPr>
                        <a:t>Mercari</a:t>
                      </a: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 가격 예측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74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모델 학습 및 성능 고도화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6350">
                      <a:solidFill>
                        <a:schemeClr val="bg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93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latinLnBrk="1">
                        <a:buFont typeface="Courier New"/>
                        <a:buChar char="o"/>
                      </a:pPr>
                      <a:r>
                        <a:rPr lang="ko-KR" altLang="en-US" sz="1500" dirty="0">
                          <a:latin typeface="Microsoft GothicNeo"/>
                          <a:ea typeface="Microsoft GothicNeo"/>
                        </a:rPr>
                        <a:t>리포트 작성 및 발표자료 준비</a:t>
                      </a:r>
                    </a:p>
                  </a:txBody>
                  <a:tcPr anchor="ctr"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bg2"/>
                      </a:solidFill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R w="6350">
                      <a:solidFill>
                        <a:schemeClr val="bg2"/>
                      </a:solidFill>
                    </a:lnR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>
                        <a:latin typeface="Arial Nova"/>
                      </a:endParaRPr>
                    </a:p>
                  </a:txBody>
                  <a:tcPr anchor="ctr">
                    <a:lnL w="6350">
                      <a:solidFill>
                        <a:schemeClr val="bg2"/>
                      </a:solidFill>
                    </a:lnL>
                    <a:lnT w="6350">
                      <a:solidFill>
                        <a:schemeClr val="bg2"/>
                      </a:solidFill>
                    </a:lnT>
                    <a:lnB w="28575">
                      <a:solidFill>
                        <a:schemeClr val="bg2">
                          <a:lumMod val="50000"/>
                        </a:schemeClr>
                      </a:solidFill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78848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28F976E-6F09-1951-48FB-DD5FF628C876}"/>
              </a:ext>
            </a:extLst>
          </p:cNvPr>
          <p:cNvSpPr txBox="1"/>
          <p:nvPr/>
        </p:nvSpPr>
        <p:spPr>
          <a:xfrm>
            <a:off x="1915583" y="2293109"/>
            <a:ext cx="8383627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500" dirty="0">
                <a:latin typeface="Microsoft GothicNeo"/>
                <a:ea typeface="Microsoft GothicNeo"/>
                <a:cs typeface="Microsoft GothicNeo"/>
              </a:rPr>
              <a:t>&lt; </a:t>
            </a:r>
            <a:r>
              <a:rPr lang="ko-KR" altLang="en-US" sz="1500" dirty="0" err="1">
                <a:latin typeface="Microsoft GothicNeo"/>
                <a:ea typeface="Microsoft GothicNeo"/>
                <a:cs typeface="Microsoft GothicNeo"/>
              </a:rPr>
              <a:t>Semi</a:t>
            </a:r>
            <a:r>
              <a:rPr lang="ko-KR" altLang="en-US" sz="1500" dirty="0">
                <a:latin typeface="Microsoft GothicNeo"/>
                <a:ea typeface="Microsoft GothicNeo"/>
                <a:cs typeface="Microsoft GothicNeo"/>
              </a:rPr>
              <a:t>-Project 추진 일정 (11월 18일 ~ 12월 15일) &gt;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0864EF-BE33-C278-F757-615463AABB13}"/>
              </a:ext>
            </a:extLst>
          </p:cNvPr>
          <p:cNvSpPr/>
          <p:nvPr/>
        </p:nvSpPr>
        <p:spPr>
          <a:xfrm>
            <a:off x="-169334" y="0"/>
            <a:ext cx="12848166" cy="656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7301CD-E511-4F1A-B0EB-19C33374F319}"/>
              </a:ext>
            </a:extLst>
          </p:cNvPr>
          <p:cNvSpPr txBox="1"/>
          <p:nvPr/>
        </p:nvSpPr>
        <p:spPr>
          <a:xfrm>
            <a:off x="52914" y="179916"/>
            <a:ext cx="5704416" cy="4770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en-US" alt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</a:t>
            </a:r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-</a:t>
            </a:r>
            <a:r>
              <a:rPr lang="en-US" alt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00</a:t>
            </a:r>
            <a:r>
              <a:rPr lang="ko-KR" sz="2500" dirty="0">
                <a:solidFill>
                  <a:schemeClr val="bg2">
                    <a:lumMod val="49000"/>
                  </a:schemeClr>
                </a:solidFill>
                <a:latin typeface="Microsoft GothicNeo"/>
                <a:ea typeface="Microsoft GothicNeo"/>
                <a:cs typeface="Microsoft GothicNeo"/>
              </a:rPr>
              <a:t> 프로젝트 로드맵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3E701-172E-695B-5D08-F88F211CB872}"/>
              </a:ext>
            </a:extLst>
          </p:cNvPr>
          <p:cNvSpPr txBox="1"/>
          <p:nvPr/>
        </p:nvSpPr>
        <p:spPr>
          <a:xfrm>
            <a:off x="613833" y="941917"/>
            <a:ext cx="7725833" cy="1072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ko-KR" altLang="en-US" dirty="0" err="1">
                <a:latin typeface="Microsoft GothicNeo"/>
                <a:ea typeface="Microsoft GothicNeo"/>
                <a:cs typeface="Microsoft GothicNeo"/>
              </a:rPr>
              <a:t>머신러닝</a:t>
            </a:r>
            <a:r>
              <a:rPr lang="ko-KR" altLang="en-US" dirty="0">
                <a:latin typeface="Microsoft GothicNeo"/>
                <a:ea typeface="Microsoft GothicNeo"/>
                <a:cs typeface="Microsoft GothicNeo"/>
              </a:rPr>
              <a:t> 세미프로젝트 로드맵 구성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마감 및 프로젝트 일정이 촉박하여 </a:t>
            </a:r>
            <a:r>
              <a:rPr lang="ko-KR" altLang="en-US" sz="1300" dirty="0" err="1">
                <a:latin typeface="Microsoft GothicNeo"/>
                <a:ea typeface="Microsoft GothicNeo"/>
                <a:cs typeface="Microsoft GothicNeo"/>
              </a:rPr>
              <a:t>조원별</a:t>
            </a: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 업무 및 작업을 배분하여 프로젝트 진행</a:t>
            </a:r>
          </a:p>
          <a:p>
            <a:pPr marL="400050" lvl="2" indent="228600">
              <a:lnSpc>
                <a:spcPct val="150000"/>
              </a:lnSpc>
              <a:buFont typeface="Wingdings"/>
              <a:buChar char="§"/>
            </a:pPr>
            <a:r>
              <a:rPr lang="ko-KR" altLang="en-US" sz="1300" dirty="0">
                <a:latin typeface="Microsoft GothicNeo"/>
                <a:ea typeface="Microsoft GothicNeo"/>
                <a:cs typeface="Microsoft GothicNeo"/>
              </a:rPr>
              <a:t>주제별로 차례대로 진행하였으며, 수업 시간의 모델 성능을 타겟으로 고도화 작업에 집중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F46692-53DA-0494-203F-668EE0154D58}"/>
              </a:ext>
            </a:extLst>
          </p:cNvPr>
          <p:cNvSpPr/>
          <p:nvPr/>
        </p:nvSpPr>
        <p:spPr>
          <a:xfrm>
            <a:off x="455083" y="1026583"/>
            <a:ext cx="52916" cy="112183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673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763</Words>
  <Application>Microsoft Office PowerPoint</Application>
  <PresentationFormat>와이드스크린</PresentationFormat>
  <Paragraphs>90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Kaggle Credit Card Fraud Detection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tj</cp:lastModifiedBy>
  <cp:revision>827</cp:revision>
  <dcterms:created xsi:type="dcterms:W3CDTF">2025-12-09T14:30:12Z</dcterms:created>
  <dcterms:modified xsi:type="dcterms:W3CDTF">2025-12-11T16:56:40Z</dcterms:modified>
</cp:coreProperties>
</file>