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AB43E7-806F-6711-5867-B3780A45A635}" v="70" dt="2025-12-09T15:09:55.712"/>
    <p1510:client id="{2803BE5B-E151-BF0B-92F4-A883FF4E3022}" v="2268" dt="2025-12-09T17:13:18.536"/>
    <p1510:client id="{A91FF97B-E5A1-6D04-0298-6624C3ED8A30}" v="54" dt="2025-12-09T14:55:11.599"/>
    <p1510:client id="{FBEA7BE1-B0F2-D090-03DA-E366EFE3C461}" v="26" dt="2025-12-09T14:58:34.3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9C6A870-9967-7F6C-BEA8-7B48715326F8}"/>
              </a:ext>
            </a:extLst>
          </p:cNvPr>
          <p:cNvSpPr/>
          <p:nvPr/>
        </p:nvSpPr>
        <p:spPr>
          <a:xfrm>
            <a:off x="-554404" y="351690"/>
            <a:ext cx="13297551" cy="1783701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898028" y="2008284"/>
            <a:ext cx="9072359" cy="2387600"/>
          </a:xfrm>
          <a:ln>
            <a:noFill/>
          </a:ln>
        </p:spPr>
        <p:txBody>
          <a:bodyPr>
            <a:normAutofit/>
          </a:bodyPr>
          <a:lstStyle/>
          <a:p>
            <a:pPr algn="r"/>
            <a:r>
              <a:rPr lang="ko-KR" altLang="en-US" sz="5500" err="1">
                <a:solidFill>
                  <a:srgbClr val="EC0000"/>
                </a:solidFill>
                <a:latin typeface="Arial"/>
                <a:ea typeface="맑은 고딕"/>
                <a:cs typeface="Arial"/>
              </a:rPr>
              <a:t>Kaggle</a:t>
            </a:r>
            <a:r>
              <a:rPr lang="ko-KR" altLang="en-US" sz="5500" dirty="0">
                <a:solidFill>
                  <a:srgbClr val="EC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5500" err="1">
                <a:solidFill>
                  <a:srgbClr val="EC0000"/>
                </a:solidFill>
                <a:latin typeface="Arial"/>
                <a:ea typeface="맑은 고딕"/>
                <a:cs typeface="Arial"/>
              </a:rPr>
              <a:t>Santander</a:t>
            </a:r>
            <a:r>
              <a:rPr lang="ko-KR" altLang="en-US" sz="5500" dirty="0">
                <a:solidFill>
                  <a:srgbClr val="EC0000"/>
                </a:solidFill>
                <a:latin typeface="Arial"/>
                <a:ea typeface="맑은 고딕"/>
                <a:cs typeface="Arial"/>
              </a:rPr>
              <a:t> Bank </a:t>
            </a:r>
            <a:r>
              <a:rPr lang="ko-KR" altLang="en-US" sz="5500" err="1">
                <a:solidFill>
                  <a:srgbClr val="EC0000"/>
                </a:solidFill>
                <a:latin typeface="Arial"/>
                <a:ea typeface="맑은 고딕"/>
                <a:cs typeface="Arial"/>
              </a:rPr>
              <a:t>Customer</a:t>
            </a:r>
            <a:r>
              <a:rPr lang="ko-KR" altLang="en-US" sz="5500" dirty="0">
                <a:solidFill>
                  <a:srgbClr val="EC0000"/>
                </a:solidFill>
                <a:latin typeface="Arial"/>
                <a:ea typeface="맑은 고딕"/>
                <a:cs typeface="Arial"/>
              </a:rPr>
              <a:t> </a:t>
            </a:r>
            <a:r>
              <a:rPr lang="ko-KR" altLang="en-US" sz="5500" err="1">
                <a:solidFill>
                  <a:srgbClr val="EC0000"/>
                </a:solidFill>
                <a:latin typeface="Arial"/>
                <a:ea typeface="맑은 고딕"/>
                <a:cs typeface="Arial"/>
              </a:rPr>
              <a:t>Satisfaction</a:t>
            </a:r>
            <a:endParaRPr lang="ko-KR" sz="5500">
              <a:solidFill>
                <a:srgbClr val="EC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61E11C-6716-B069-88B6-4A028656BDF5}"/>
              </a:ext>
            </a:extLst>
          </p:cNvPr>
          <p:cNvSpPr txBox="1">
            <a:spLocks/>
          </p:cNvSpPr>
          <p:nvPr/>
        </p:nvSpPr>
        <p:spPr>
          <a:xfrm>
            <a:off x="-2116610" y="-686727"/>
            <a:ext cx="4239846" cy="270021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ko-KR" altLang="en-US" sz="9600" dirty="0">
                <a:solidFill>
                  <a:srgbClr val="FFFFFF"/>
                </a:solidFill>
                <a:latin typeface="Arial"/>
                <a:ea typeface="Microsoft GothicNeo"/>
                <a:cs typeface="Arial"/>
              </a:rPr>
              <a:t>02</a:t>
            </a:r>
            <a:endParaRPr lang="ko-KR" altLang="en-US" sz="9600">
              <a:solidFill>
                <a:srgbClr val="FFFFFF"/>
              </a:solidFill>
              <a:latin typeface="Arial"/>
              <a:ea typeface="Microsoft GothicNeo"/>
              <a:cs typeface="Arial"/>
            </a:endParaRPr>
          </a:p>
        </p:txBody>
      </p:sp>
      <p:pic>
        <p:nvPicPr>
          <p:cNvPr id="6" name="그림 5" descr="File:Santander Logo.PNG - Wikimedia Commons">
            <a:extLst>
              <a:ext uri="{FF2B5EF4-FFF2-40B4-BE49-F238E27FC236}">
                <a16:creationId xmlns:a16="http://schemas.microsoft.com/office/drawing/2014/main" id="{00A8B6D8-5747-6FC0-5FD3-938355DD7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" y="5771641"/>
            <a:ext cx="2901462" cy="1088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File:Santander Logo.PNG - Wikimedia Commons">
            <a:extLst>
              <a:ext uri="{FF2B5EF4-FFF2-40B4-BE49-F238E27FC236}">
                <a16:creationId xmlns:a16="http://schemas.microsoft.com/office/drawing/2014/main" id="{6462E84C-D5DC-CF91-A1D4-96D735F28B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" y="5771641"/>
            <a:ext cx="2901462" cy="1088332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C1344FED-B355-D522-EB2F-276379F0C44F}"/>
              </a:ext>
            </a:extLst>
          </p:cNvPr>
          <p:cNvSpPr/>
          <p:nvPr/>
        </p:nvSpPr>
        <p:spPr>
          <a:xfrm>
            <a:off x="-169334" y="0"/>
            <a:ext cx="12848166" cy="6561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A43901-4860-FDEE-6F85-6B63241BFBDE}"/>
              </a:ext>
            </a:extLst>
          </p:cNvPr>
          <p:cNvSpPr txBox="1"/>
          <p:nvPr/>
        </p:nvSpPr>
        <p:spPr>
          <a:xfrm>
            <a:off x="52914" y="179916"/>
            <a:ext cx="5704416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02-1 프로젝트 배경 및 목표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E12DDD-70D9-C415-FD84-073D521F6F7C}"/>
              </a:ext>
            </a:extLst>
          </p:cNvPr>
          <p:cNvSpPr txBox="1"/>
          <p:nvPr/>
        </p:nvSpPr>
        <p:spPr>
          <a:xfrm>
            <a:off x="613833" y="941917"/>
            <a:ext cx="7725833" cy="13724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불만족 고객 조기 파악 및 맞춤형 서비스 제공</a:t>
            </a:r>
          </a:p>
          <a:p>
            <a:pPr marL="400050" lvl="2" indent="228600">
              <a:lnSpc>
                <a:spcPct val="150000"/>
              </a:lnSpc>
              <a:buFont typeface="Wingdings,Sans-Serif"/>
              <a:buChar char="§"/>
            </a:pPr>
            <a:r>
              <a:rPr lang="ko-KR" sz="1300" dirty="0">
                <a:latin typeface="Microsoft GothicNeo"/>
                <a:ea typeface="Microsoft GothicNeo"/>
                <a:cs typeface="Microsoft GothicNeo"/>
              </a:rPr>
              <a:t>고객 만족을 전략적 핵심 지표로 설정</a:t>
            </a:r>
          </a:p>
          <a:p>
            <a:pPr marL="400050" lvl="2" indent="228600">
              <a:lnSpc>
                <a:spcPct val="150000"/>
              </a:lnSpc>
              <a:buFont typeface="Wingdings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NPS 기반 고객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경혐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혁신</a:t>
            </a:r>
          </a:p>
          <a:p>
            <a:pPr marL="800100" lvl="3" indent="-228600">
              <a:lnSpc>
                <a:spcPct val="150000"/>
              </a:lnSpc>
              <a:buFont typeface="Calibri"/>
              <a:buChar char="-"/>
            </a:pPr>
            <a:r>
              <a:rPr lang="ko-KR" altLang="en-US" sz="1300">
                <a:latin typeface="Microsoft GothicNeo"/>
                <a:ea typeface="Microsoft GothicNeo"/>
                <a:cs typeface="Microsoft GothicNeo"/>
              </a:rPr>
              <a:t>충성 고객 확대, 디지털 전환 가속화, 글로벌 다각화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020F1AD-A929-533A-4E7A-DACA1C0BA9BE}"/>
              </a:ext>
            </a:extLst>
          </p:cNvPr>
          <p:cNvSpPr/>
          <p:nvPr/>
        </p:nvSpPr>
        <p:spPr>
          <a:xfrm>
            <a:off x="444500" y="1026583"/>
            <a:ext cx="63499" cy="1291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래픽 8" descr="Our business strategy - Santander Annual Report 2020">
            <a:extLst>
              <a:ext uri="{FF2B5EF4-FFF2-40B4-BE49-F238E27FC236}">
                <a16:creationId xmlns:a16="http://schemas.microsoft.com/office/drawing/2014/main" id="{63EF137A-760C-267E-42D1-E291D344B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89817" y="2601383"/>
            <a:ext cx="6817783" cy="3528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256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186036B6-C51E-BC8E-8382-B95EBC7B66C3}"/>
              </a:ext>
            </a:extLst>
          </p:cNvPr>
          <p:cNvSpPr/>
          <p:nvPr/>
        </p:nvSpPr>
        <p:spPr>
          <a:xfrm>
            <a:off x="-878417" y="2455334"/>
            <a:ext cx="13853583" cy="3460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8755259-13E7-FDFE-ABAB-E7205DC8A699}"/>
              </a:ext>
            </a:extLst>
          </p:cNvPr>
          <p:cNvSpPr/>
          <p:nvPr/>
        </p:nvSpPr>
        <p:spPr>
          <a:xfrm>
            <a:off x="-169334" y="0"/>
            <a:ext cx="12848166" cy="6561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A4E252-00AD-10FC-4B8B-570B1BF818FE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02-2 NPS 개요</a:t>
            </a:r>
          </a:p>
        </p:txBody>
      </p:sp>
      <p:pic>
        <p:nvPicPr>
          <p:cNvPr id="3" name="그림 2" descr="File:Santander Logo.PNG - Wikimedia Commons">
            <a:extLst>
              <a:ext uri="{FF2B5EF4-FFF2-40B4-BE49-F238E27FC236}">
                <a16:creationId xmlns:a16="http://schemas.microsoft.com/office/drawing/2014/main" id="{66E04D3B-A8D7-9D80-F5DB-97BE418C1C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" y="5771641"/>
            <a:ext cx="2901462" cy="1088332"/>
          </a:xfrm>
          <a:prstGeom prst="rect">
            <a:avLst/>
          </a:prstGeom>
        </p:spPr>
      </p:pic>
      <p:pic>
        <p:nvPicPr>
          <p:cNvPr id="4" name="그림 3" descr="Santander Bank NPS &amp; Customer Reviews | Comparably">
            <a:extLst>
              <a:ext uri="{FF2B5EF4-FFF2-40B4-BE49-F238E27FC236}">
                <a16:creationId xmlns:a16="http://schemas.microsoft.com/office/drawing/2014/main" id="{A635F761-2B5D-E9B9-8506-5B00D840E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083" y="3010960"/>
            <a:ext cx="5037667" cy="26564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95F65B-45D6-D04A-7832-36CDA62909DD}"/>
              </a:ext>
            </a:extLst>
          </p:cNvPr>
          <p:cNvSpPr txBox="1"/>
          <p:nvPr/>
        </p:nvSpPr>
        <p:spPr>
          <a:xfrm>
            <a:off x="613833" y="941917"/>
            <a:ext cx="7725833" cy="12080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NPS(Net </a:t>
            </a:r>
            <a:r>
              <a:rPr lang="ko-KR" altLang="en-US" err="1">
                <a:latin typeface="Microsoft GothicNeo"/>
                <a:ea typeface="Microsoft GothicNeo"/>
                <a:cs typeface="Microsoft GothicNeo"/>
              </a:rPr>
              <a:t>Promoter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 </a:t>
            </a:r>
            <a:r>
              <a:rPr lang="ko-KR" altLang="en-US" err="1">
                <a:latin typeface="Microsoft GothicNeo"/>
                <a:ea typeface="Microsoft GothicNeo"/>
                <a:cs typeface="Microsoft GothicNeo"/>
              </a:rPr>
              <a:t>Score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)</a:t>
            </a:r>
            <a:endParaRPr lang="ko-KR"/>
          </a:p>
          <a:p>
            <a:pPr marL="400050" lvl="2" indent="228600">
              <a:lnSpc>
                <a:spcPct val="150000"/>
              </a:lnSpc>
              <a:buFont typeface="Wingdings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고객 추천 의향 지표</a:t>
            </a:r>
          </a:p>
          <a:p>
            <a:pPr marL="400050" lvl="2" indent="228600">
              <a:buFont typeface="Wingdings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계산 : 추천 고객 비율 - </a:t>
            </a:r>
            <a:r>
              <a:rPr lang="ko-KR" altLang="en-US" sz="1300" err="1">
                <a:latin typeface="Microsoft GothicNeo"/>
                <a:ea typeface="Microsoft GothicNeo"/>
                <a:cs typeface="Microsoft GothicNeo"/>
              </a:rPr>
              <a:t>비추천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고객 비율</a:t>
            </a:r>
          </a:p>
          <a:p>
            <a:pPr marL="400050" lvl="2" indent="228600">
              <a:buFont typeface="Wingdings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금융업계 활용 : 충성도 및 장기 수익성 예측</a:t>
            </a:r>
          </a:p>
        </p:txBody>
      </p:sp>
      <p:pic>
        <p:nvPicPr>
          <p:cNvPr id="10" name="그림 9" descr="Santander Bank NPS &amp; Customer Reviews | Comparably">
            <a:extLst>
              <a:ext uri="{FF2B5EF4-FFF2-40B4-BE49-F238E27FC236}">
                <a16:creationId xmlns:a16="http://schemas.microsoft.com/office/drawing/2014/main" id="{0374E877-A9DC-C142-AC11-91614F6A2E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0" y="3010960"/>
            <a:ext cx="5037667" cy="265641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EC1F296-D1E0-4147-2CA8-2833855BCDDD}"/>
              </a:ext>
            </a:extLst>
          </p:cNvPr>
          <p:cNvSpPr txBox="1"/>
          <p:nvPr/>
        </p:nvSpPr>
        <p:spPr>
          <a:xfrm>
            <a:off x="2063749" y="2589660"/>
            <a:ext cx="8383627" cy="3231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500" dirty="0">
                <a:latin typeface="Microsoft GothicNeo"/>
                <a:ea typeface="Microsoft GothicNeo"/>
                <a:cs typeface="Microsoft GothicNeo"/>
              </a:rPr>
              <a:t>[ 그림 2.1 </a:t>
            </a:r>
            <a:r>
              <a:rPr lang="ko-KR" altLang="en-US" sz="1500" err="1">
                <a:latin typeface="Microsoft GothicNeo"/>
                <a:ea typeface="Microsoft GothicNeo"/>
                <a:cs typeface="Microsoft GothicNeo"/>
              </a:rPr>
              <a:t>산탄데르</a:t>
            </a:r>
            <a:r>
              <a:rPr lang="ko-KR" altLang="en-US" sz="1500" dirty="0">
                <a:latin typeface="Microsoft GothicNeo"/>
                <a:ea typeface="Microsoft GothicNeo"/>
                <a:cs typeface="Microsoft GothicNeo"/>
              </a:rPr>
              <a:t> 은행 NPS 성과 지표 (24' - 25') ]</a:t>
            </a:r>
            <a:endParaRPr lang="ko-KR" altLang="en-US" sz="1500">
              <a:latin typeface="Microsoft GothicNeo"/>
              <a:ea typeface="Microsoft GothicNeo"/>
              <a:cs typeface="Microsoft GothicNeo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3CC7E79-6F0A-4DA2-DA86-8461ACD51F9A}"/>
              </a:ext>
            </a:extLst>
          </p:cNvPr>
          <p:cNvSpPr/>
          <p:nvPr/>
        </p:nvSpPr>
        <p:spPr>
          <a:xfrm>
            <a:off x="455083" y="1026583"/>
            <a:ext cx="52916" cy="112183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2040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BB0A9F-6199-E227-2A14-3D8DEC9C44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8AF6847-62D9-5244-72FB-5D0F43D66920}"/>
              </a:ext>
            </a:extLst>
          </p:cNvPr>
          <p:cNvSpPr/>
          <p:nvPr/>
        </p:nvSpPr>
        <p:spPr>
          <a:xfrm>
            <a:off x="-169334" y="0"/>
            <a:ext cx="12848166" cy="6561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33C51C-6190-A0A9-2187-5BED896BA52A}"/>
              </a:ext>
            </a:extLst>
          </p:cNvPr>
          <p:cNvSpPr txBox="1"/>
          <p:nvPr/>
        </p:nvSpPr>
        <p:spPr>
          <a:xfrm>
            <a:off x="-2" y="179916"/>
            <a:ext cx="7217832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dirty="0">
                <a:solidFill>
                  <a:srgbClr val="747474"/>
                </a:solidFill>
                <a:latin typeface="Microsoft GothicNeo"/>
                <a:ea typeface="Microsoft GothicNeo"/>
                <a:cs typeface="Arial"/>
              </a:rPr>
              <a:t>02-3 문제정의 및 데이터 설명</a:t>
            </a:r>
          </a:p>
        </p:txBody>
      </p:sp>
    </p:spTree>
    <p:extLst>
      <p:ext uri="{BB962C8B-B14F-4D97-AF65-F5344CB8AC3E}">
        <p14:creationId xmlns:p14="http://schemas.microsoft.com/office/powerpoint/2010/main" val="3126530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내용 개체 틀 13">
            <a:extLst>
              <a:ext uri="{FF2B5EF4-FFF2-40B4-BE49-F238E27FC236}">
                <a16:creationId xmlns:a16="http://schemas.microsoft.com/office/drawing/2014/main" id="{31C3C2E4-48FF-628C-2CC7-2A93CF79C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47145391"/>
              </p:ext>
            </p:extLst>
          </p:nvPr>
        </p:nvGraphicFramePr>
        <p:xfrm>
          <a:off x="848783" y="2710554"/>
          <a:ext cx="10515591" cy="3708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35776">
                  <a:extLst>
                    <a:ext uri="{9D8B030D-6E8A-4147-A177-3AD203B41FA5}">
                      <a16:colId xmlns:a16="http://schemas.microsoft.com/office/drawing/2014/main" val="2092996912"/>
                    </a:ext>
                  </a:extLst>
                </a:gridCol>
                <a:gridCol w="955963">
                  <a:extLst>
                    <a:ext uri="{9D8B030D-6E8A-4147-A177-3AD203B41FA5}">
                      <a16:colId xmlns:a16="http://schemas.microsoft.com/office/drawing/2014/main" val="2109184465"/>
                    </a:ext>
                  </a:extLst>
                </a:gridCol>
                <a:gridCol w="955963">
                  <a:extLst>
                    <a:ext uri="{9D8B030D-6E8A-4147-A177-3AD203B41FA5}">
                      <a16:colId xmlns:a16="http://schemas.microsoft.com/office/drawing/2014/main" val="1353602506"/>
                    </a:ext>
                  </a:extLst>
                </a:gridCol>
                <a:gridCol w="955963">
                  <a:extLst>
                    <a:ext uri="{9D8B030D-6E8A-4147-A177-3AD203B41FA5}">
                      <a16:colId xmlns:a16="http://schemas.microsoft.com/office/drawing/2014/main" val="3401753819"/>
                    </a:ext>
                  </a:extLst>
                </a:gridCol>
                <a:gridCol w="955963">
                  <a:extLst>
                    <a:ext uri="{9D8B030D-6E8A-4147-A177-3AD203B41FA5}">
                      <a16:colId xmlns:a16="http://schemas.microsoft.com/office/drawing/2014/main" val="2312508761"/>
                    </a:ext>
                  </a:extLst>
                </a:gridCol>
                <a:gridCol w="955963">
                  <a:extLst>
                    <a:ext uri="{9D8B030D-6E8A-4147-A177-3AD203B41FA5}">
                      <a16:colId xmlns:a16="http://schemas.microsoft.com/office/drawing/2014/main" val="36998241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>
                          <a:latin typeface="Arial Nova"/>
                        </a:rPr>
                        <a:t>구  분</a:t>
                      </a:r>
                    </a:p>
                  </a:txBody>
                  <a:tcPr anchor="ctr">
                    <a:lnR w="19050">
                      <a:solidFill>
                        <a:schemeClr val="bg2"/>
                      </a:solidFill>
                    </a:lnR>
                    <a:lnT w="28575">
                      <a:solidFill>
                        <a:schemeClr val="bg2">
                          <a:lumMod val="50000"/>
                        </a:schemeClr>
                      </a:solidFill>
                    </a:lnT>
                    <a:lnB w="19050">
                      <a:solidFill>
                        <a:schemeClr val="bg2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500" b="1" dirty="0">
                          <a:latin typeface="Arial Nova"/>
                        </a:rPr>
                        <a:t>D4</a:t>
                      </a:r>
                    </a:p>
                  </a:txBody>
                  <a:tcPr anchor="ctr">
                    <a:lnL w="19050">
                      <a:solidFill>
                        <a:schemeClr val="bg2"/>
                      </a:solidFill>
                    </a:lnL>
                    <a:lnR w="19050">
                      <a:solidFill>
                        <a:schemeClr val="bg2"/>
                      </a:solidFill>
                    </a:lnR>
                    <a:lnT w="28575">
                      <a:solidFill>
                        <a:schemeClr val="bg2">
                          <a:lumMod val="50000"/>
                        </a:schemeClr>
                      </a:solidFill>
                    </a:lnT>
                    <a:lnB w="190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500" b="1" dirty="0">
                          <a:latin typeface="Arial Nova"/>
                        </a:rPr>
                        <a:t>D8</a:t>
                      </a:r>
                      <a:endParaRPr lang="ko-KR" sz="1500" b="1">
                        <a:latin typeface="Arial Nova"/>
                      </a:endParaRPr>
                    </a:p>
                  </a:txBody>
                  <a:tcPr anchor="ctr">
                    <a:lnL w="19050">
                      <a:solidFill>
                        <a:schemeClr val="bg2"/>
                      </a:solidFill>
                    </a:lnL>
                    <a:lnR w="19050">
                      <a:solidFill>
                        <a:schemeClr val="bg2"/>
                      </a:solidFill>
                    </a:lnR>
                    <a:lnT w="28575">
                      <a:solidFill>
                        <a:schemeClr val="bg2">
                          <a:lumMod val="50000"/>
                        </a:schemeClr>
                      </a:solidFill>
                    </a:lnT>
                    <a:lnB w="19050">
                      <a:solidFill>
                        <a:schemeClr val="bg2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500" b="1" dirty="0">
                          <a:latin typeface="Arial Nova"/>
                        </a:rPr>
                        <a:t>D12</a:t>
                      </a:r>
                      <a:endParaRPr lang="ko-KR" sz="1500" b="1">
                        <a:latin typeface="Arial Nova"/>
                      </a:endParaRPr>
                    </a:p>
                  </a:txBody>
                  <a:tcPr anchor="ctr">
                    <a:lnL w="19050">
                      <a:solidFill>
                        <a:schemeClr val="bg2"/>
                      </a:solidFill>
                    </a:lnL>
                    <a:lnR w="19050">
                      <a:solidFill>
                        <a:schemeClr val="bg2"/>
                      </a:solidFill>
                    </a:lnR>
                    <a:lnT w="28575">
                      <a:solidFill>
                        <a:schemeClr val="bg2">
                          <a:lumMod val="50000"/>
                        </a:schemeClr>
                      </a:solidFill>
                    </a:lnT>
                    <a:lnB w="19050">
                      <a:solidFill>
                        <a:schemeClr val="bg2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500" b="1" dirty="0">
                          <a:latin typeface="Arial Nova"/>
                        </a:rPr>
                        <a:t>D16</a:t>
                      </a:r>
                      <a:endParaRPr lang="ko-KR" sz="1500" b="1">
                        <a:latin typeface="Arial Nova"/>
                      </a:endParaRPr>
                    </a:p>
                  </a:txBody>
                  <a:tcPr anchor="ctr">
                    <a:lnL w="19050">
                      <a:solidFill>
                        <a:schemeClr val="bg2"/>
                      </a:solidFill>
                    </a:lnL>
                    <a:lnR w="19050">
                      <a:solidFill>
                        <a:schemeClr val="bg2"/>
                      </a:solidFill>
                    </a:lnR>
                    <a:lnT w="28575">
                      <a:solidFill>
                        <a:schemeClr val="bg2">
                          <a:lumMod val="50000"/>
                        </a:schemeClr>
                      </a:solidFill>
                    </a:lnT>
                    <a:lnB w="19050">
                      <a:solidFill>
                        <a:schemeClr val="bg2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ko-KR" altLang="en-US" sz="1500" b="1" dirty="0">
                          <a:latin typeface="Arial Nova"/>
                        </a:rPr>
                        <a:t>D20</a:t>
                      </a:r>
                      <a:endParaRPr lang="ko-KR" sz="1500" b="1">
                        <a:latin typeface="Arial Nova"/>
                      </a:endParaRPr>
                    </a:p>
                  </a:txBody>
                  <a:tcPr anchor="ctr">
                    <a:lnL w="19050">
                      <a:solidFill>
                        <a:schemeClr val="bg2"/>
                      </a:solidFill>
                    </a:lnL>
                    <a:lnR w="19050">
                      <a:solidFill>
                        <a:schemeClr val="bg2"/>
                      </a:solidFill>
                    </a:lnR>
                    <a:lnT w="28575">
                      <a:solidFill>
                        <a:schemeClr val="bg2">
                          <a:lumMod val="50000"/>
                        </a:schemeClr>
                      </a:solidFill>
                    </a:lnT>
                    <a:lnB w="19050">
                      <a:solidFill>
                        <a:schemeClr val="bg2"/>
                      </a:solidFill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32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 latinLnBrk="1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프로젝트 전략 및 계획 수립 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190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190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190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190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190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190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7278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 latinLnBrk="1">
                        <a:buFont typeface="Courier New"/>
                        <a:buChar char="o"/>
                      </a:pP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조원별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업무 배분 및 업무 범위 명확화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5271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 latinLnBrk="1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주제별 데이터셋 파악, </a:t>
                      </a: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전처리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과정 진행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7788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lvl="0" indent="-342900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주제 1 : </a:t>
                      </a: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Kaggle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</a:t>
                      </a: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산탄데르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은행 고객 만족 분석</a:t>
                      </a:r>
                      <a:endParaRPr lang="ko-KR">
                        <a:latin typeface="Microsoft GothicNeo"/>
                        <a:ea typeface="Microsoft GothicNeo"/>
                      </a:endParaRP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2486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lvl="0" indent="-342900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주제 2 : </a:t>
                      </a: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Kaggle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신용카드 사기 검출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6956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lvl="0" indent="-342900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주제 3 : UCI 감성 리뷰 분석 및 문서 유사도 분석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82119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lvl="0" indent="-342900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주제 4 : </a:t>
                      </a: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Kaggle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</a:t>
                      </a:r>
                      <a:r>
                        <a:rPr lang="ko-KR" altLang="en-US" sz="1500" err="1">
                          <a:latin typeface="Microsoft GothicNeo"/>
                          <a:ea typeface="Microsoft GothicNeo"/>
                        </a:rPr>
                        <a:t>Mercari</a:t>
                      </a: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 가격 예측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5742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 latinLnBrk="1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모델 학습 및 성능 고도화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6350">
                      <a:solidFill>
                        <a:schemeClr val="bg2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3934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indent="-342900" latinLnBrk="1">
                        <a:buFont typeface="Courier New"/>
                        <a:buChar char="o"/>
                      </a:pPr>
                      <a:r>
                        <a:rPr lang="ko-KR" altLang="en-US" sz="1500" dirty="0">
                          <a:latin typeface="Microsoft GothicNeo"/>
                          <a:ea typeface="Microsoft GothicNeo"/>
                        </a:rPr>
                        <a:t>리포트 작성 및 발표자료 준비</a:t>
                      </a:r>
                    </a:p>
                  </a:txBody>
                  <a:tcPr anchor="ctr"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28575">
                      <a:solidFill>
                        <a:schemeClr val="bg2">
                          <a:lumMod val="5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chemeClr val="bg2"/>
                      </a:solidFill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chemeClr val="bg2">
                          <a:lumMod val="5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28575">
                      <a:solidFill>
                        <a:schemeClr val="bg2">
                          <a:lumMod val="5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28575">
                      <a:solidFill>
                        <a:schemeClr val="bg2">
                          <a:lumMod val="50000"/>
                        </a:schemeClr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R w="6350">
                      <a:solidFill>
                        <a:schemeClr val="bg2"/>
                      </a:solidFill>
                    </a:lnR>
                    <a:lnT w="6350">
                      <a:solidFill>
                        <a:schemeClr val="bg2"/>
                      </a:solidFill>
                    </a:lnT>
                    <a:lnB w="28575">
                      <a:solidFill>
                        <a:schemeClr val="bg2">
                          <a:lumMod val="50000"/>
                        </a:schemeClr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>
                        <a:latin typeface="Arial Nova"/>
                      </a:endParaRPr>
                    </a:p>
                  </a:txBody>
                  <a:tcPr anchor="ctr">
                    <a:lnL w="6350">
                      <a:solidFill>
                        <a:schemeClr val="bg2"/>
                      </a:solidFill>
                    </a:lnL>
                    <a:lnT w="6350">
                      <a:solidFill>
                        <a:schemeClr val="bg2"/>
                      </a:solidFill>
                    </a:lnT>
                    <a:lnB w="28575">
                      <a:solidFill>
                        <a:schemeClr val="bg2">
                          <a:lumMod val="50000"/>
                        </a:schemeClr>
                      </a:solidFill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478848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128F976E-6F09-1951-48FB-DD5FF628C876}"/>
              </a:ext>
            </a:extLst>
          </p:cNvPr>
          <p:cNvSpPr txBox="1"/>
          <p:nvPr/>
        </p:nvSpPr>
        <p:spPr>
          <a:xfrm>
            <a:off x="1915583" y="2261577"/>
            <a:ext cx="8383627" cy="3539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700" dirty="0">
                <a:latin typeface="Microsoft GothicNeo"/>
                <a:ea typeface="Microsoft GothicNeo"/>
                <a:cs typeface="Microsoft GothicNeo"/>
              </a:rPr>
              <a:t>&lt; </a:t>
            </a:r>
            <a:r>
              <a:rPr lang="ko-KR" altLang="en-US" sz="1700" err="1">
                <a:latin typeface="Microsoft GothicNeo"/>
                <a:ea typeface="Microsoft GothicNeo"/>
                <a:cs typeface="Microsoft GothicNeo"/>
              </a:rPr>
              <a:t>Semi</a:t>
            </a:r>
            <a:r>
              <a:rPr lang="ko-KR" altLang="en-US" sz="1700" dirty="0">
                <a:latin typeface="Microsoft GothicNeo"/>
                <a:ea typeface="Microsoft GothicNeo"/>
                <a:cs typeface="Microsoft GothicNeo"/>
              </a:rPr>
              <a:t>-Project 추진 일정 (11월 18일 ~ 12월 15일) &gt;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30864EF-BE33-C278-F757-615463AABB13}"/>
              </a:ext>
            </a:extLst>
          </p:cNvPr>
          <p:cNvSpPr/>
          <p:nvPr/>
        </p:nvSpPr>
        <p:spPr>
          <a:xfrm>
            <a:off x="-169334" y="0"/>
            <a:ext cx="12848166" cy="6561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7301CD-E511-4F1A-B0EB-19C33374F319}"/>
              </a:ext>
            </a:extLst>
          </p:cNvPr>
          <p:cNvSpPr txBox="1"/>
          <p:nvPr/>
        </p:nvSpPr>
        <p:spPr>
          <a:xfrm>
            <a:off x="52914" y="179916"/>
            <a:ext cx="5704416" cy="47705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sz="2500" dirty="0">
                <a:solidFill>
                  <a:schemeClr val="bg2">
                    <a:lumMod val="49000"/>
                  </a:schemeClr>
                </a:solidFill>
                <a:latin typeface="Microsoft GothicNeo"/>
                <a:ea typeface="Microsoft GothicNeo"/>
                <a:cs typeface="Microsoft GothicNeo"/>
              </a:rPr>
              <a:t>02-4 프로젝트 로드맵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A3E701-172E-695B-5D08-F88F211CB872}"/>
              </a:ext>
            </a:extLst>
          </p:cNvPr>
          <p:cNvSpPr txBox="1"/>
          <p:nvPr/>
        </p:nvSpPr>
        <p:spPr>
          <a:xfrm>
            <a:off x="613833" y="941917"/>
            <a:ext cx="7725833" cy="107240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/>
              <a:buChar char="q"/>
            </a:pPr>
            <a:r>
              <a:rPr lang="ko-KR" altLang="en-US" dirty="0" err="1">
                <a:latin typeface="Microsoft GothicNeo"/>
                <a:ea typeface="Microsoft GothicNeo"/>
                <a:cs typeface="Microsoft GothicNeo"/>
              </a:rPr>
              <a:t>머신러닝</a:t>
            </a:r>
            <a:r>
              <a:rPr lang="ko-KR" altLang="en-US" dirty="0">
                <a:latin typeface="Microsoft GothicNeo"/>
                <a:ea typeface="Microsoft GothicNeo"/>
                <a:cs typeface="Microsoft GothicNeo"/>
              </a:rPr>
              <a:t> 세미프로젝트 로드맵 구성</a:t>
            </a:r>
          </a:p>
          <a:p>
            <a:pPr marL="400050" lvl="2" indent="228600">
              <a:lnSpc>
                <a:spcPct val="150000"/>
              </a:lnSpc>
              <a:buFont typeface="Wingdings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마감 및 프로젝트 일정이 촉박하여 </a:t>
            </a:r>
            <a:r>
              <a:rPr lang="ko-KR" altLang="en-US" sz="1300" dirty="0" err="1">
                <a:latin typeface="Microsoft GothicNeo"/>
                <a:ea typeface="Microsoft GothicNeo"/>
                <a:cs typeface="Microsoft GothicNeo"/>
              </a:rPr>
              <a:t>조원별</a:t>
            </a: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 업무 및 작업을 배분하여 프로젝트 진행</a:t>
            </a:r>
          </a:p>
          <a:p>
            <a:pPr marL="400050" lvl="2" indent="228600">
              <a:lnSpc>
                <a:spcPct val="150000"/>
              </a:lnSpc>
              <a:buFont typeface="Wingdings"/>
              <a:buChar char="§"/>
            </a:pPr>
            <a:r>
              <a:rPr lang="ko-KR" altLang="en-US" sz="1300" dirty="0">
                <a:latin typeface="Microsoft GothicNeo"/>
                <a:ea typeface="Microsoft GothicNeo"/>
                <a:cs typeface="Microsoft GothicNeo"/>
              </a:rPr>
              <a:t>주제별로 차례대로 진행하였으며, 수업 시간의 모델 성능을 타겟으로 고도화 작업에 집중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0F46692-53DA-0494-203F-668EE0154D58}"/>
              </a:ext>
            </a:extLst>
          </p:cNvPr>
          <p:cNvSpPr/>
          <p:nvPr/>
        </p:nvSpPr>
        <p:spPr>
          <a:xfrm>
            <a:off x="455083" y="1026583"/>
            <a:ext cx="52916" cy="112183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26734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와이드스크린</PresentationFormat>
  <Paragraphs>0</Paragraphs>
  <Slides>5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6" baseType="lpstr">
      <vt:lpstr>Office 테마</vt:lpstr>
      <vt:lpstr>Kaggle Santander Bank Customer Satisfaction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525</cp:revision>
  <dcterms:created xsi:type="dcterms:W3CDTF">2025-12-09T14:30:12Z</dcterms:created>
  <dcterms:modified xsi:type="dcterms:W3CDTF">2025-12-09T17:14:23Z</dcterms:modified>
</cp:coreProperties>
</file>