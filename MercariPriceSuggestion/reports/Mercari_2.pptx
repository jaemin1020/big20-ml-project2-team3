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4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6.png"/><Relationship Id="rId21" Type="http://schemas.openxmlformats.org/officeDocument/2006/relationships/image" Target="../media/image52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1.png"/><Relationship Id="rId24" Type="http://schemas.openxmlformats.org/officeDocument/2006/relationships/image" Target="../media/image55.png"/><Relationship Id="rId5" Type="http://schemas.openxmlformats.org/officeDocument/2006/relationships/image" Target="../media/image7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2.png"/><Relationship Id="rId19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7.png"/><Relationship Id="rId15" Type="http://schemas.openxmlformats.org/officeDocument/2006/relationships/image" Target="../media/image6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9" Type="http://schemas.openxmlformats.org/officeDocument/2006/relationships/image" Target="../media/image103.png"/><Relationship Id="rId21" Type="http://schemas.openxmlformats.org/officeDocument/2006/relationships/image" Target="../media/image86.png"/><Relationship Id="rId34" Type="http://schemas.openxmlformats.org/officeDocument/2006/relationships/image" Target="../media/image35.png"/><Relationship Id="rId42" Type="http://schemas.openxmlformats.org/officeDocument/2006/relationships/image" Target="../media/image106.png"/><Relationship Id="rId47" Type="http://schemas.openxmlformats.org/officeDocument/2006/relationships/image" Target="../media/image11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1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image" Target="../media/image101.png"/><Relationship Id="rId40" Type="http://schemas.openxmlformats.org/officeDocument/2006/relationships/image" Target="../media/image104.png"/><Relationship Id="rId45" Type="http://schemas.openxmlformats.org/officeDocument/2006/relationships/image" Target="../media/image109.png"/><Relationship Id="rId5" Type="http://schemas.openxmlformats.org/officeDocument/2006/relationships/image" Target="../media/image7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36" Type="http://schemas.openxmlformats.org/officeDocument/2006/relationships/image" Target="../media/image10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4" Type="http://schemas.openxmlformats.org/officeDocument/2006/relationships/image" Target="../media/image108.png"/><Relationship Id="rId4" Type="http://schemas.openxmlformats.org/officeDocument/2006/relationships/image" Target="../media/image2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png"/><Relationship Id="rId35" Type="http://schemas.openxmlformats.org/officeDocument/2006/relationships/image" Target="../media/image99.png"/><Relationship Id="rId43" Type="http://schemas.openxmlformats.org/officeDocument/2006/relationships/image" Target="../media/image107.png"/><Relationship Id="rId48" Type="http://schemas.openxmlformats.org/officeDocument/2006/relationships/image" Target="../media/image112.png"/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38" Type="http://schemas.openxmlformats.org/officeDocument/2006/relationships/image" Target="../media/image102.png"/><Relationship Id="rId46" Type="http://schemas.openxmlformats.org/officeDocument/2006/relationships/image" Target="../media/image110.png"/><Relationship Id="rId20" Type="http://schemas.openxmlformats.org/officeDocument/2006/relationships/image" Target="../media/image85.png"/><Relationship Id="rId41" Type="http://schemas.openxmlformats.org/officeDocument/2006/relationships/image" Target="../media/image10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.png"/><Relationship Id="rId21" Type="http://schemas.openxmlformats.org/officeDocument/2006/relationships/image" Target="../media/image129.png"/><Relationship Id="rId34" Type="http://schemas.openxmlformats.org/officeDocument/2006/relationships/image" Target="../media/image142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33" Type="http://schemas.openxmlformats.org/officeDocument/2006/relationships/image" Target="../media/image14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32" Type="http://schemas.openxmlformats.org/officeDocument/2006/relationships/image" Target="../media/image140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6.png"/><Relationship Id="rId36" Type="http://schemas.openxmlformats.org/officeDocument/2006/relationships/image" Target="../media/image144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31" Type="http://schemas.openxmlformats.org/officeDocument/2006/relationships/image" Target="../media/image139.png"/><Relationship Id="rId4" Type="http://schemas.openxmlformats.org/officeDocument/2006/relationships/image" Target="../media/image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138.png"/><Relationship Id="rId35" Type="http://schemas.openxmlformats.org/officeDocument/2006/relationships/image" Target="../media/image143.png"/><Relationship Id="rId8" Type="http://schemas.openxmlformats.org/officeDocument/2006/relationships/image" Target="../media/image1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26" Type="http://schemas.openxmlformats.org/officeDocument/2006/relationships/image" Target="../media/image165.png"/><Relationship Id="rId3" Type="http://schemas.openxmlformats.org/officeDocument/2006/relationships/image" Target="../media/image1.png"/><Relationship Id="rId21" Type="http://schemas.openxmlformats.org/officeDocument/2006/relationships/image" Target="../media/image16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5" Type="http://schemas.openxmlformats.org/officeDocument/2006/relationships/image" Target="../media/image16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29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24" Type="http://schemas.openxmlformats.org/officeDocument/2006/relationships/image" Target="../media/image163.png"/><Relationship Id="rId5" Type="http://schemas.openxmlformats.org/officeDocument/2006/relationships/image" Target="../media/image7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28" Type="http://schemas.openxmlformats.org/officeDocument/2006/relationships/image" Target="../media/image167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31" Type="http://schemas.openxmlformats.org/officeDocument/2006/relationships/image" Target="../media/image170.png"/><Relationship Id="rId4" Type="http://schemas.openxmlformats.org/officeDocument/2006/relationships/image" Target="../media/image2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Relationship Id="rId27" Type="http://schemas.openxmlformats.org/officeDocument/2006/relationships/image" Target="../media/image166.png"/><Relationship Id="rId30" Type="http://schemas.openxmlformats.org/officeDocument/2006/relationships/image" Target="../media/image16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png"/><Relationship Id="rId18" Type="http://schemas.openxmlformats.org/officeDocument/2006/relationships/image" Target="../media/image183.png"/><Relationship Id="rId26" Type="http://schemas.openxmlformats.org/officeDocument/2006/relationships/image" Target="../media/image191.png"/><Relationship Id="rId3" Type="http://schemas.openxmlformats.org/officeDocument/2006/relationships/image" Target="../media/image1.png"/><Relationship Id="rId21" Type="http://schemas.openxmlformats.org/officeDocument/2006/relationships/image" Target="../media/image186.png"/><Relationship Id="rId34" Type="http://schemas.openxmlformats.org/officeDocument/2006/relationships/image" Target="../media/image199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5" Type="http://schemas.openxmlformats.org/officeDocument/2006/relationships/image" Target="../media/image190.png"/><Relationship Id="rId33" Type="http://schemas.openxmlformats.org/officeDocument/2006/relationships/image" Target="../media/image19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81.png"/><Relationship Id="rId20" Type="http://schemas.openxmlformats.org/officeDocument/2006/relationships/image" Target="../media/image185.png"/><Relationship Id="rId29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24" Type="http://schemas.openxmlformats.org/officeDocument/2006/relationships/image" Target="../media/image189.png"/><Relationship Id="rId32" Type="http://schemas.openxmlformats.org/officeDocument/2006/relationships/image" Target="../media/image197.png"/><Relationship Id="rId5" Type="http://schemas.openxmlformats.org/officeDocument/2006/relationships/image" Target="../media/image7.png"/><Relationship Id="rId15" Type="http://schemas.openxmlformats.org/officeDocument/2006/relationships/image" Target="../media/image180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36" Type="http://schemas.openxmlformats.org/officeDocument/2006/relationships/image" Target="../media/image201.png"/><Relationship Id="rId10" Type="http://schemas.openxmlformats.org/officeDocument/2006/relationships/image" Target="../media/image175.png"/><Relationship Id="rId19" Type="http://schemas.openxmlformats.org/officeDocument/2006/relationships/image" Target="../media/image184.png"/><Relationship Id="rId31" Type="http://schemas.openxmlformats.org/officeDocument/2006/relationships/image" Target="../media/image196.png"/><Relationship Id="rId4" Type="http://schemas.openxmlformats.org/officeDocument/2006/relationships/image" Target="../media/image2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Relationship Id="rId22" Type="http://schemas.openxmlformats.org/officeDocument/2006/relationships/image" Target="../media/image187.png"/><Relationship Id="rId27" Type="http://schemas.openxmlformats.org/officeDocument/2006/relationships/image" Target="../media/image192.png"/><Relationship Id="rId30" Type="http://schemas.openxmlformats.org/officeDocument/2006/relationships/image" Target="../media/image195.png"/><Relationship Id="rId35" Type="http://schemas.openxmlformats.org/officeDocument/2006/relationships/image" Target="../media/image200.png"/><Relationship Id="rId8" Type="http://schemas.openxmlformats.org/officeDocument/2006/relationships/image" Target="../media/image1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222.png"/><Relationship Id="rId3" Type="http://schemas.openxmlformats.org/officeDocument/2006/relationships/image" Target="../media/image1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5" Type="http://schemas.openxmlformats.org/officeDocument/2006/relationships/image" Target="../media/image2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24" Type="http://schemas.openxmlformats.org/officeDocument/2006/relationships/image" Target="../media/image220.png"/><Relationship Id="rId5" Type="http://schemas.openxmlformats.org/officeDocument/2006/relationships/image" Target="../media/image7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2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Relationship Id="rId27" Type="http://schemas.openxmlformats.org/officeDocument/2006/relationships/image" Target="../media/image2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43600"/>
            <a:ext cx="121920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2933700"/>
            <a:ext cx="9144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1529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1150" y="42481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400" y="41529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0275" y="42481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1529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6538" y="4248150"/>
            <a:ext cx="238125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15315" y="2247900"/>
            <a:ext cx="109613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중고 상품 가격 예측 머신러닝 프로젝트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615315" y="3200400"/>
            <a:ext cx="109613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머신러닝을 활용한 중고 상품 가격 예측 모델 구축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28750"/>
            <a:ext cx="5486400" cy="2171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57350"/>
            <a:ext cx="221307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29" y="176212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428750"/>
            <a:ext cx="5486400" cy="2171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657350"/>
            <a:ext cx="291405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7453" y="176212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29050"/>
            <a:ext cx="11277600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9575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5148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20065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5816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558165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5581650"/>
            <a:ext cx="1143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문제 정의</a:t>
            </a:r>
            <a:endParaRPr lang="en-US" sz="2100" dirty="0"/>
          </a:p>
        </p:txBody>
      </p:sp>
      <p:sp>
        <p:nvSpPr>
          <p:cNvPr id="19" name="Text 1"/>
          <p:cNvSpPr/>
          <p:nvPr/>
        </p:nvSpPr>
        <p:spPr>
          <a:xfrm>
            <a:off x="1059507" y="1657350"/>
            <a:ext cx="46554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059507" y="2000250"/>
            <a:ext cx="465549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Price Suggestion Challenge는 중고 거래 플랫폼 Mercari에 등록된 상품 정보를 기반으로 상품 판매 가격을 예측하는 머신러닝 회귀 문제이다.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059507" y="2686050"/>
            <a:ext cx="465549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상품명·상품 설명과 같은 비정형 텍스트 데이터와 카테고리, 브랜드, 배송 여부 등의 정형 데이터가 함께 제공된다.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920805" y="1657350"/>
            <a:ext cx="4585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특성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920805" y="2000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 상품 가격은 오른쪽으로 치우친 비대칭 분포를 가지며 저가 상품이 다수를 차지하고 고가 상품은 소수 존재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6920805" y="2457450"/>
            <a:ext cx="55024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카테고리 내에서도 브랜드·설명 방식에 따라 가격 편차가 큼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920805" y="2762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특성으로 인해 단순 회귀 모델은 고가 상품 예측에서 한계를 가진다.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990600" y="405765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914400" y="4476750"/>
            <a:ext cx="102212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피처와 구조적 피처를 효과적으로 결합하여 RMSLE 기준 오차를 최소화하는 가격 예측 모델을 구축하는 것이 목표이다.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762000" y="516255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구성 요소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66750" y="55435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4457700" y="5543550"/>
            <a:ext cx="2682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텍스트: 상품명, 상품 설명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8267700" y="5543550"/>
            <a:ext cx="36170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피처: 카테고리, 브랜드, 상태, 배송 여부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096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76350"/>
            <a:ext cx="56007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668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5240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76350"/>
            <a:ext cx="560070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6685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152400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409950"/>
            <a:ext cx="114300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94335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401955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94335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401955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소개 및 모델링 관점</a:t>
            </a:r>
            <a:endParaRPr lang="en-US" sz="2100" dirty="0"/>
          </a:p>
        </p:txBody>
      </p:sp>
      <p:sp>
        <p:nvSpPr>
          <p:cNvPr id="17" name="Text 1"/>
          <p:cNvSpPr/>
          <p:nvPr/>
        </p:nvSpPr>
        <p:spPr>
          <a:xfrm>
            <a:off x="1104900" y="1466850"/>
            <a:ext cx="28116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구성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104900" y="18097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18110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데이터: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25730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상품명, 상품 설명</a:t>
            </a:r>
            <a:endParaRPr lang="en-US" sz="1050" dirty="0"/>
          </a:p>
        </p:txBody>
      </p:sp>
      <p:sp>
        <p:nvSpPr>
          <p:cNvPr id="21" name="Text 5"/>
          <p:cNvSpPr/>
          <p:nvPr/>
        </p:nvSpPr>
        <p:spPr>
          <a:xfrm>
            <a:off x="1181100" y="25717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데이터: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257300" y="28003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카테고리, 브랜드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262503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수치/이진 데이터: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270123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상태, 배송 여부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6934200" y="1466850"/>
            <a:ext cx="34968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피처의 중요성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934200" y="18097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상품의 상태, 브랜드, 사용감 등 가격 결정 정보가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934200" y="20383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컬럼보다 텍스트 설명에 더 많이 포함되어 있음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6934200" y="23050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TF-IDF 및 임베딩 기반 텍스트 표현 기법 활용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571500" y="360045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및 평가 기준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952500" y="398145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방법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762000" y="4324350"/>
            <a:ext cx="6217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트리 기반 모델 사용 (LightGBM, XGBoost 등)</a:t>
            </a:r>
            <a:endParaRPr lang="en-US" sz="1050" dirty="0"/>
          </a:p>
        </p:txBody>
      </p:sp>
      <p:sp>
        <p:nvSpPr>
          <p:cNvPr id="32" name="Text 16"/>
          <p:cNvSpPr/>
          <p:nvPr/>
        </p:nvSpPr>
        <p:spPr>
          <a:xfrm>
            <a:off x="762000" y="451485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텍스트: TF-IDF, 임베딩 기반 표현 기법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762000" y="470535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데이터: Label, One-Hot Encoding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6629400" y="3981450"/>
            <a:ext cx="7824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6629400" y="4324350"/>
            <a:ext cx="4991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(회귀 모델의 경우):</a:t>
            </a:r>
            <a:endParaRPr lang="en-US" sz="1050" dirty="0"/>
          </a:p>
        </p:txBody>
      </p:sp>
      <p:sp>
        <p:nvSpPr>
          <p:cNvPr id="36" name="Text 20"/>
          <p:cNvSpPr/>
          <p:nvPr/>
        </p:nvSpPr>
        <p:spPr>
          <a:xfrm>
            <a:off x="6705600" y="451485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스케일의 오차를 측정</a:t>
            </a:r>
            <a:endParaRPr lang="en-US" sz="1050" dirty="0"/>
          </a:p>
        </p:txBody>
      </p:sp>
      <p:sp>
        <p:nvSpPr>
          <p:cNvPr id="37" name="Text 21"/>
          <p:cNvSpPr/>
          <p:nvPr/>
        </p:nvSpPr>
        <p:spPr>
          <a:xfrm>
            <a:off x="6705600" y="470535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비대칭 가격 분포에 적합</a:t>
            </a:r>
            <a:endParaRPr lang="en-US" sz="1050" dirty="0"/>
          </a:p>
        </p:txBody>
      </p:sp>
      <p:sp>
        <p:nvSpPr>
          <p:cNvPr id="38" name="Text 22"/>
          <p:cNvSpPr/>
          <p:nvPr/>
        </p:nvSpPr>
        <p:spPr>
          <a:xfrm>
            <a:off x="11353205" y="18707100"/>
            <a:ext cx="6407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3/9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3124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273993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72" y="16764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312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581150"/>
            <a:ext cx="379809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1655" y="16764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1962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2669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8003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9209" y="3067050"/>
            <a:ext cx="4496991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5409" y="31813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9209" y="3790950"/>
            <a:ext cx="449699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629150"/>
            <a:ext cx="11277600" cy="2019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85775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505450"/>
            <a:ext cx="10896600" cy="38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5200650"/>
            <a:ext cx="1524000" cy="1257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900" y="5200650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14450" y="537210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0" y="5295900"/>
            <a:ext cx="1524000" cy="1066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91200" y="5295900"/>
            <a:ext cx="60960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00750" y="546735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20300" y="5295900"/>
            <a:ext cx="1524000" cy="1066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77500" y="5295900"/>
            <a:ext cx="60960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87050" y="5467350"/>
            <a:ext cx="190500" cy="2667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</a:t>
            </a:r>
            <a:endParaRPr lang="en-US" sz="2100" dirty="0"/>
          </a:p>
        </p:txBody>
      </p:sp>
      <p:sp>
        <p:nvSpPr>
          <p:cNvPr id="32" name="Text 1"/>
          <p:cNvSpPr/>
          <p:nvPr/>
        </p:nvSpPr>
        <p:spPr>
          <a:xfrm>
            <a:off x="1112193" y="1581150"/>
            <a:ext cx="46028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EDA: 가격 분포 특성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112193" y="1924050"/>
            <a:ext cx="460280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가격은 </a:t>
            </a:r>
            <a:r>
              <a:rPr lang="en-US" sz="1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저가 상품 다수 + 고가 상품 소수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구성된 </a:t>
            </a:r>
            <a:r>
              <a:rPr lang="en-US" sz="1200" b="1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롱테일(long-tail)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구조이며, </a:t>
            </a:r>
            <a:r>
              <a:rPr lang="en-US" sz="1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양의 왜도(skewness &gt; 0)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가진다.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1188393" y="2571750"/>
            <a:ext cx="251031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Original Price 분포</a:t>
            </a:r>
            <a:endParaRPr lang="en-US" sz="900" dirty="0"/>
          </a:p>
        </p:txBody>
      </p:sp>
      <p:sp>
        <p:nvSpPr>
          <p:cNvPr id="35" name="Text 4"/>
          <p:cNvSpPr/>
          <p:nvPr/>
        </p:nvSpPr>
        <p:spPr>
          <a:xfrm>
            <a:off x="3547021" y="2571750"/>
            <a:ext cx="251031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 변환</a:t>
            </a:r>
            <a:endParaRPr lang="en-US" sz="900" dirty="0"/>
          </a:p>
        </p:txBody>
      </p:sp>
      <p:sp>
        <p:nvSpPr>
          <p:cNvPr id="36" name="Text 5"/>
          <p:cNvSpPr/>
          <p:nvPr/>
        </p:nvSpPr>
        <p:spPr>
          <a:xfrm>
            <a:off x="7009209" y="1581150"/>
            <a:ext cx="44969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변환의 필요성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7237809" y="1924050"/>
            <a:ext cx="36984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 안정화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왜도 감소, 정규 분포에 가까워짐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7237809" y="2228850"/>
            <a:ext cx="42683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 샘플 영향 완화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극단적인 고가(outlier)가 분포 시각화를 왜곡함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7237809" y="2762250"/>
            <a:ext cx="49888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목적 함수 정렬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평가 지표와 학습 목표의 일致성 확보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7314009" y="3143250"/>
            <a:ext cx="41159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상한값 Clipping (예: </a:t>
            </a:r>
            <a:r>
              <a:rPr lang="en-US" sz="12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$500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적용으로 극단적인 고가 outilder 분포 왜곡 방지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7085409" y="3867150"/>
            <a:ext cx="43445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 분포로 변환된 데이터로 모델 성능 향상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952500" y="481965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과정 정리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647700" y="5886450"/>
            <a:ext cx="1524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분포 특성 파악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(EDA → 문제점 → 전처리 선택)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5334000" y="59817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log1p(price)</a:t>
            </a:r>
            <a:endParaRPr lang="en-US" sz="105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8785CC81-C856-0C3D-D179-72D1F5CAA03D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81300"/>
            <a:ext cx="2921356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14"/>
          <p:cNvSpPr/>
          <p:nvPr/>
        </p:nvSpPr>
        <p:spPr>
          <a:xfrm>
            <a:off x="10020300" y="59817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아웃라이어 처리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상한값 clipping</a:t>
            </a:r>
            <a:endParaRPr lang="en-US" sz="105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FDEC8AF-2178-343F-4317-0F73801030FC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68" y="2858365"/>
            <a:ext cx="2644732" cy="1295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2971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6764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1924050"/>
            <a:ext cx="4300686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26479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29527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32575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35623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2971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58115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0350" y="16764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19621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2669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5717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2876550"/>
            <a:ext cx="4259610" cy="1066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476750"/>
            <a:ext cx="11277600" cy="1409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705350"/>
            <a:ext cx="21907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08635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30601" y="508635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3650" y="5086350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1295400" y="1581150"/>
            <a:ext cx="43006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카테고리 인코딩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371600" y="2000250"/>
            <a:ext cx="41482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세분화 이유</a:t>
            </a:r>
            <a:endParaRPr lang="en-US" sz="1050" dirty="0"/>
          </a:p>
        </p:txBody>
      </p:sp>
      <p:sp>
        <p:nvSpPr>
          <p:cNvPr id="28" name="Text 3"/>
          <p:cNvSpPr/>
          <p:nvPr/>
        </p:nvSpPr>
        <p:spPr>
          <a:xfrm>
            <a:off x="1371600" y="2228850"/>
            <a:ext cx="49779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결정에 영향을 주는 계층적 정보 보존을 위해 대/중/소분류로 분리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1524000" y="2609850"/>
            <a:ext cx="48865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(3단계) : '대분류/중분류/소분류' 구조로 분리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524000" y="2914650"/>
            <a:ext cx="48448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brand_name : 브랜드 유니크 값이 매우 많아 ("롱테일" 구조)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524000" y="3219450"/>
            <a:ext cx="451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item_condition_id : 제품 상태 (1~5)에 대한 원-핫 인코딩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524000" y="3524250"/>
            <a:ext cx="36279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shipping : 배송비 부담 여부 (1: 무료, 0: 유료)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7086600" y="1581150"/>
            <a:ext cx="42596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 기반 인코딩 전략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7315200" y="1924050"/>
            <a:ext cx="34247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브랜드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카테고리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유니크 값이 많아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롱테일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구조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7315200" y="2228850"/>
            <a:ext cx="48372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빈도 상위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top-k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값만 유지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나머지는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Other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통합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315200" y="2533650"/>
            <a:ext cx="3515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효과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 폭발 방지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과적합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최소화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200900" y="2990850"/>
            <a:ext cx="4031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예측 시 수행 과정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7158782" y="3219450"/>
            <a:ext cx="50658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데이터 집계: 각 카테고리/브랜드별 가격 중앙값 계산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7158782" y="3448050"/>
            <a:ext cx="50658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데이터 매핑: Train 기준으로 통계 행렬 생성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7137499" y="3676650"/>
            <a:ext cx="50658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데이터 누수 금지로 Test 기준 통계 사용 금지</a:t>
            </a:r>
            <a:endParaRPr lang="en-US" sz="900" dirty="0"/>
          </a:p>
        </p:txBody>
      </p:sp>
      <p:sp>
        <p:nvSpPr>
          <p:cNvPr id="41" name="Text 16"/>
          <p:cNvSpPr/>
          <p:nvPr/>
        </p:nvSpPr>
        <p:spPr>
          <a:xfrm>
            <a:off x="981075" y="466725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텍스트 통계 피처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857250" y="5048250"/>
            <a:ext cx="198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 길이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857250" y="5238750"/>
            <a:ext cx="2385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길이 정보는 제품의 세부 정보량을 시사</a:t>
            </a:r>
            <a:endParaRPr lang="en-US" sz="900" dirty="0"/>
          </a:p>
        </p:txBody>
      </p:sp>
      <p:sp>
        <p:nvSpPr>
          <p:cNvPr id="44" name="Text 19"/>
          <p:cNvSpPr/>
          <p:nvPr/>
        </p:nvSpPr>
        <p:spPr>
          <a:xfrm>
            <a:off x="4540151" y="5048250"/>
            <a:ext cx="210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 수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4540151" y="5238750"/>
            <a:ext cx="2522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수량은 가격 결정의 정도를 나타냄</a:t>
            </a:r>
            <a:endParaRPr lang="en-US" sz="900" dirty="0"/>
          </a:p>
        </p:txBody>
      </p:sp>
      <p:sp>
        <p:nvSpPr>
          <p:cNvPr id="46" name="Text 21"/>
          <p:cNvSpPr/>
          <p:nvPr/>
        </p:nvSpPr>
        <p:spPr>
          <a:xfrm>
            <a:off x="8242250" y="5048250"/>
            <a:ext cx="20727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brand_in_name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8242250" y="5238750"/>
            <a:ext cx="20727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명시 여부는 신뢰도에 영향</a:t>
            </a:r>
            <a:endParaRPr lang="en-US" sz="900" dirty="0"/>
          </a:p>
        </p:txBody>
      </p:sp>
      <p:sp>
        <p:nvSpPr>
          <p:cNvPr id="48" name="Text 23"/>
          <p:cNvSpPr/>
          <p:nvPr/>
        </p:nvSpPr>
        <p:spPr>
          <a:xfrm>
            <a:off x="647700" y="5505450"/>
            <a:ext cx="10896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통계 피처는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"상품 정보량/신뢰도"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수치화하기 위해 추가되었으며, 모든 모델에 동일하게 적용되었다.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334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23950"/>
            <a:ext cx="4480471" cy="464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3239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1962150"/>
            <a:ext cx="4175671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076450"/>
            <a:ext cx="1524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533650"/>
            <a:ext cx="4175671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64795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3105150"/>
            <a:ext cx="4175671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2194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676650"/>
            <a:ext cx="4175671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7909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248150"/>
            <a:ext cx="4175671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3624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4895850"/>
            <a:ext cx="4175671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32161" y="5029200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13871" y="1123950"/>
            <a:ext cx="4480620" cy="464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6271" y="1323975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66271" y="1657350"/>
            <a:ext cx="4175820" cy="1828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66271" y="1657350"/>
            <a:ext cx="417582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80571" y="173355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47246" y="180975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66271" y="2114550"/>
            <a:ext cx="417582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80571" y="219075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56771" y="22669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66271" y="2571750"/>
            <a:ext cx="417582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80571" y="264795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7721" y="2724150"/>
            <a:ext cx="1905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66271" y="3028950"/>
            <a:ext cx="417582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80571" y="3105150"/>
            <a:ext cx="304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56771" y="318135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66271" y="3600450"/>
            <a:ext cx="4175820" cy="304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24649" y="4895850"/>
            <a:ext cx="3810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97253" y="4895850"/>
            <a:ext cx="3810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650659" y="4895850"/>
            <a:ext cx="3810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665964" y="4895850"/>
            <a:ext cx="3810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46890" y="1123950"/>
            <a:ext cx="2163961" cy="4648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99290" y="1323975"/>
            <a:ext cx="190500" cy="1714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99290" y="1657350"/>
            <a:ext cx="1859161" cy="7239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99290" y="2495550"/>
            <a:ext cx="1859161" cy="876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99290" y="3486150"/>
            <a:ext cx="1859161" cy="7239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99290" y="4324350"/>
            <a:ext cx="1859161" cy="8382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75490" y="4419600"/>
            <a:ext cx="114300" cy="1143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75490" y="4610100"/>
            <a:ext cx="114300" cy="1143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75490" y="4953000"/>
            <a:ext cx="114300" cy="1143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1000" y="5886450"/>
            <a:ext cx="11430000" cy="3810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95300" y="6000750"/>
            <a:ext cx="114300" cy="152400"/>
          </a:xfrm>
          <a:prstGeom prst="rect">
            <a:avLst/>
          </a:prstGeom>
        </p:spPr>
      </p:pic>
      <p:sp>
        <p:nvSpPr>
          <p:cNvPr id="50" name="Text 0"/>
          <p:cNvSpPr/>
          <p:nvPr/>
        </p:nvSpPr>
        <p:spPr>
          <a:xfrm>
            <a:off x="381000" y="381000"/>
            <a:ext cx="11430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후보 선정 &amp; 평가 기준</a:t>
            </a:r>
            <a:endParaRPr lang="en-US" sz="2100" dirty="0"/>
          </a:p>
        </p:txBody>
      </p:sp>
      <p:sp>
        <p:nvSpPr>
          <p:cNvPr id="51" name="Text 1"/>
          <p:cNvSpPr/>
          <p:nvPr/>
        </p:nvSpPr>
        <p:spPr>
          <a:xfrm>
            <a:off x="781050" y="127635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후보 선정</a:t>
            </a:r>
            <a:endParaRPr lang="en-US" sz="1350" dirty="0"/>
          </a:p>
        </p:txBody>
      </p:sp>
      <p:sp>
        <p:nvSpPr>
          <p:cNvPr id="52" name="Text 2"/>
          <p:cNvSpPr/>
          <p:nvPr/>
        </p:nvSpPr>
        <p:spPr>
          <a:xfrm>
            <a:off x="533400" y="1657350"/>
            <a:ext cx="50108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Mercari 대회 기반 모델 베이스</a:t>
            </a:r>
            <a:endParaRPr lang="en-US" sz="1200" dirty="0"/>
          </a:p>
        </p:txBody>
      </p:sp>
      <p:sp>
        <p:nvSpPr>
          <p:cNvPr id="53" name="Text 3"/>
          <p:cNvSpPr/>
          <p:nvPr/>
        </p:nvSpPr>
        <p:spPr>
          <a:xfrm>
            <a:off x="876300" y="2038350"/>
            <a:ext cx="21337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050" dirty="0"/>
          </a:p>
        </p:txBody>
      </p:sp>
      <p:sp>
        <p:nvSpPr>
          <p:cNvPr id="54" name="Text 4"/>
          <p:cNvSpPr/>
          <p:nvPr/>
        </p:nvSpPr>
        <p:spPr>
          <a:xfrm>
            <a:off x="876300" y="2228850"/>
            <a:ext cx="25604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속도의 가중치 부스팅 기반 트리 모델</a:t>
            </a:r>
            <a:endParaRPr lang="en-US" sz="900" dirty="0"/>
          </a:p>
        </p:txBody>
      </p:sp>
      <p:sp>
        <p:nvSpPr>
          <p:cNvPr id="55" name="Text 5"/>
          <p:cNvSpPr/>
          <p:nvPr/>
        </p:nvSpPr>
        <p:spPr>
          <a:xfrm>
            <a:off x="895350" y="2609850"/>
            <a:ext cx="28512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050" dirty="0"/>
          </a:p>
        </p:txBody>
      </p:sp>
      <p:sp>
        <p:nvSpPr>
          <p:cNvPr id="56" name="Text 6"/>
          <p:cNvSpPr/>
          <p:nvPr/>
        </p:nvSpPr>
        <p:spPr>
          <a:xfrm>
            <a:off x="895350" y="2800350"/>
            <a:ext cx="34214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트리 구조와 정규화 기법을 이용한 순차적 부스팅</a:t>
            </a:r>
            <a:endParaRPr lang="en-US" sz="900" dirty="0"/>
          </a:p>
        </p:txBody>
      </p:sp>
      <p:sp>
        <p:nvSpPr>
          <p:cNvPr id="57" name="Text 7"/>
          <p:cNvSpPr/>
          <p:nvPr/>
        </p:nvSpPr>
        <p:spPr>
          <a:xfrm>
            <a:off x="895350" y="3181350"/>
            <a:ext cx="2413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050" dirty="0"/>
          </a:p>
        </p:txBody>
      </p:sp>
      <p:sp>
        <p:nvSpPr>
          <p:cNvPr id="58" name="Text 8"/>
          <p:cNvSpPr/>
          <p:nvPr/>
        </p:nvSpPr>
        <p:spPr>
          <a:xfrm>
            <a:off x="895350" y="3371850"/>
            <a:ext cx="28957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특성을 효율적으로 처리하는 알고리즘</a:t>
            </a:r>
            <a:endParaRPr lang="en-US" sz="900" dirty="0"/>
          </a:p>
        </p:txBody>
      </p:sp>
      <p:sp>
        <p:nvSpPr>
          <p:cNvPr id="59" name="Text 9"/>
          <p:cNvSpPr/>
          <p:nvPr/>
        </p:nvSpPr>
        <p:spPr>
          <a:xfrm>
            <a:off x="914400" y="3752850"/>
            <a:ext cx="2110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(베이스라인)</a:t>
            </a:r>
            <a:endParaRPr lang="en-US" sz="1050" dirty="0"/>
          </a:p>
        </p:txBody>
      </p:sp>
      <p:sp>
        <p:nvSpPr>
          <p:cNvPr id="60" name="Text 10"/>
          <p:cNvSpPr/>
          <p:nvPr/>
        </p:nvSpPr>
        <p:spPr>
          <a:xfrm>
            <a:off x="914400" y="3943350"/>
            <a:ext cx="2110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모델로 모델의 기저 성능 제공</a:t>
            </a:r>
            <a:endParaRPr lang="en-US" sz="900" dirty="0"/>
          </a:p>
        </p:txBody>
      </p:sp>
      <p:sp>
        <p:nvSpPr>
          <p:cNvPr id="61" name="Text 11"/>
          <p:cNvSpPr/>
          <p:nvPr/>
        </p:nvSpPr>
        <p:spPr>
          <a:xfrm>
            <a:off x="895350" y="4324350"/>
            <a:ext cx="2247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 / Random Forest</a:t>
            </a:r>
            <a:endParaRPr lang="en-US" sz="1050" dirty="0"/>
          </a:p>
        </p:txBody>
      </p:sp>
      <p:sp>
        <p:nvSpPr>
          <p:cNvPr id="62" name="Text 12"/>
          <p:cNvSpPr/>
          <p:nvPr/>
        </p:nvSpPr>
        <p:spPr>
          <a:xfrm>
            <a:off x="895350" y="4514850"/>
            <a:ext cx="22479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앙상블 모델로 최종 성능 확보</a:t>
            </a:r>
            <a:endParaRPr lang="en-US" sz="900" dirty="0"/>
          </a:p>
        </p:txBody>
      </p:sp>
      <p:sp>
        <p:nvSpPr>
          <p:cNvPr id="63" name="Text 13"/>
          <p:cNvSpPr/>
          <p:nvPr/>
        </p:nvSpPr>
        <p:spPr>
          <a:xfrm>
            <a:off x="647700" y="5010150"/>
            <a:ext cx="394707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탐색 범위를 줄이고, 검증된 모델에 집중한 전략</a:t>
            </a:r>
            <a:endParaRPr lang="en-US" sz="900" dirty="0"/>
          </a:p>
        </p:txBody>
      </p:sp>
      <p:sp>
        <p:nvSpPr>
          <p:cNvPr id="64" name="Text 14"/>
          <p:cNvSpPr/>
          <p:nvPr/>
        </p:nvSpPr>
        <p:spPr>
          <a:xfrm>
            <a:off x="647700" y="5200650"/>
            <a:ext cx="39470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Mercari 대회에서 검증된 Winners 기반 모델 후보군 중심의 탐색 전략으로 효율적 자원 활용</a:t>
            </a:r>
            <a:endParaRPr lang="en-US" sz="900" dirty="0"/>
          </a:p>
        </p:txBody>
      </p:sp>
      <p:sp>
        <p:nvSpPr>
          <p:cNvPr id="65" name="Text 15"/>
          <p:cNvSpPr/>
          <p:nvPr/>
        </p:nvSpPr>
        <p:spPr>
          <a:xfrm>
            <a:off x="5413921" y="1276350"/>
            <a:ext cx="4175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</a:t>
            </a:r>
            <a:endParaRPr lang="en-US" sz="1350" dirty="0"/>
          </a:p>
        </p:txBody>
      </p:sp>
      <p:sp>
        <p:nvSpPr>
          <p:cNvPr id="66" name="Text 16"/>
          <p:cNvSpPr/>
          <p:nvPr/>
        </p:nvSpPr>
        <p:spPr>
          <a:xfrm>
            <a:off x="5661571" y="1790700"/>
            <a:ext cx="168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050" dirty="0"/>
          </a:p>
        </p:txBody>
      </p:sp>
      <p:sp>
        <p:nvSpPr>
          <p:cNvPr id="67" name="Text 17"/>
          <p:cNvSpPr/>
          <p:nvPr/>
        </p:nvSpPr>
        <p:spPr>
          <a:xfrm>
            <a:off x="7346007" y="18097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설명력</a:t>
            </a:r>
            <a:endParaRPr lang="en-US" sz="900" dirty="0"/>
          </a:p>
        </p:txBody>
      </p:sp>
      <p:sp>
        <p:nvSpPr>
          <p:cNvPr id="68" name="Text 18"/>
          <p:cNvSpPr/>
          <p:nvPr/>
        </p:nvSpPr>
        <p:spPr>
          <a:xfrm>
            <a:off x="5661571" y="2247900"/>
            <a:ext cx="4623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1050" dirty="0"/>
          </a:p>
        </p:txBody>
      </p:sp>
      <p:sp>
        <p:nvSpPr>
          <p:cNvPr id="69" name="Text 19"/>
          <p:cNvSpPr/>
          <p:nvPr/>
        </p:nvSpPr>
        <p:spPr>
          <a:xfrm>
            <a:off x="7346007" y="22669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제곱근 오차</a:t>
            </a:r>
            <a:endParaRPr lang="en-US" sz="900" dirty="0"/>
          </a:p>
        </p:txBody>
      </p:sp>
      <p:sp>
        <p:nvSpPr>
          <p:cNvPr id="70" name="Text 20"/>
          <p:cNvSpPr/>
          <p:nvPr/>
        </p:nvSpPr>
        <p:spPr>
          <a:xfrm>
            <a:off x="5661571" y="2705100"/>
            <a:ext cx="3468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</a:t>
            </a:r>
            <a:endParaRPr lang="en-US" sz="1050" dirty="0"/>
          </a:p>
        </p:txBody>
      </p:sp>
      <p:sp>
        <p:nvSpPr>
          <p:cNvPr id="71" name="Text 21"/>
          <p:cNvSpPr/>
          <p:nvPr/>
        </p:nvSpPr>
        <p:spPr>
          <a:xfrm>
            <a:off x="7346007" y="27241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절대 오차</a:t>
            </a:r>
            <a:endParaRPr lang="en-US" sz="900" dirty="0"/>
          </a:p>
        </p:txBody>
      </p:sp>
      <p:sp>
        <p:nvSpPr>
          <p:cNvPr id="72" name="Text 22"/>
          <p:cNvSpPr/>
          <p:nvPr/>
        </p:nvSpPr>
        <p:spPr>
          <a:xfrm>
            <a:off x="5661571" y="3162300"/>
            <a:ext cx="5513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1050" dirty="0"/>
          </a:p>
        </p:txBody>
      </p:sp>
      <p:sp>
        <p:nvSpPr>
          <p:cNvPr id="73" name="Text 23"/>
          <p:cNvSpPr/>
          <p:nvPr/>
        </p:nvSpPr>
        <p:spPr>
          <a:xfrm>
            <a:off x="7346007" y="31813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</a:t>
            </a:r>
            <a:endParaRPr lang="en-US" sz="900" dirty="0"/>
          </a:p>
        </p:txBody>
      </p:sp>
      <p:sp>
        <p:nvSpPr>
          <p:cNvPr id="74" name="Text 24"/>
          <p:cNvSpPr/>
          <p:nvPr/>
        </p:nvSpPr>
        <p:spPr>
          <a:xfrm>
            <a:off x="4840129" y="3676650"/>
            <a:ext cx="482810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로그 스케일의 오차를 측정하여 </a:t>
            </a: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가격 상품의 오차에 민감</a:t>
            </a:r>
            <a:endParaRPr lang="en-US" sz="900" dirty="0"/>
          </a:p>
        </p:txBody>
      </p:sp>
      <p:sp>
        <p:nvSpPr>
          <p:cNvPr id="75" name="Text 25"/>
          <p:cNvSpPr/>
          <p:nvPr/>
        </p:nvSpPr>
        <p:spPr>
          <a:xfrm>
            <a:off x="5166271" y="4057650"/>
            <a:ext cx="4175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성능 비교 (RMSLE)</a:t>
            </a:r>
            <a:endParaRPr lang="en-US" sz="1050" dirty="0"/>
          </a:p>
        </p:txBody>
      </p:sp>
      <p:sp>
        <p:nvSpPr>
          <p:cNvPr id="76" name="Text 26"/>
          <p:cNvSpPr/>
          <p:nvPr/>
        </p:nvSpPr>
        <p:spPr>
          <a:xfrm>
            <a:off x="5486549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0.45</a:t>
            </a:r>
            <a:endParaRPr lang="en-US" sz="900" dirty="0"/>
          </a:p>
        </p:txBody>
      </p:sp>
      <p:sp>
        <p:nvSpPr>
          <p:cNvPr id="77" name="Text 27"/>
          <p:cNvSpPr/>
          <p:nvPr/>
        </p:nvSpPr>
        <p:spPr>
          <a:xfrm>
            <a:off x="5461099" y="5086350"/>
            <a:ext cx="6098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00" dirty="0"/>
          </a:p>
        </p:txBody>
      </p:sp>
      <p:sp>
        <p:nvSpPr>
          <p:cNvPr id="78" name="Text 28"/>
          <p:cNvSpPr/>
          <p:nvPr/>
        </p:nvSpPr>
        <p:spPr>
          <a:xfrm>
            <a:off x="6559153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0.47</a:t>
            </a:r>
            <a:endParaRPr lang="en-US" sz="900" dirty="0"/>
          </a:p>
        </p:txBody>
      </p:sp>
      <p:sp>
        <p:nvSpPr>
          <p:cNvPr id="79" name="Text 29"/>
          <p:cNvSpPr/>
          <p:nvPr/>
        </p:nvSpPr>
        <p:spPr>
          <a:xfrm>
            <a:off x="6559004" y="5086350"/>
            <a:ext cx="54899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900" dirty="0"/>
          </a:p>
        </p:txBody>
      </p:sp>
      <p:sp>
        <p:nvSpPr>
          <p:cNvPr id="80" name="Text 30"/>
          <p:cNvSpPr/>
          <p:nvPr/>
        </p:nvSpPr>
        <p:spPr>
          <a:xfrm>
            <a:off x="7612559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</a:t>
            </a:r>
            <a:endParaRPr lang="en-US" sz="900" dirty="0"/>
          </a:p>
        </p:txBody>
      </p:sp>
      <p:sp>
        <p:nvSpPr>
          <p:cNvPr id="81" name="Text 31"/>
          <p:cNvSpPr/>
          <p:nvPr/>
        </p:nvSpPr>
        <p:spPr>
          <a:xfrm>
            <a:off x="7606159" y="5086350"/>
            <a:ext cx="56417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900" dirty="0"/>
          </a:p>
        </p:txBody>
      </p:sp>
      <p:sp>
        <p:nvSpPr>
          <p:cNvPr id="82" name="Text 32"/>
          <p:cNvSpPr/>
          <p:nvPr/>
        </p:nvSpPr>
        <p:spPr>
          <a:xfrm>
            <a:off x="8627864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0.50</a:t>
            </a:r>
            <a:endParaRPr lang="en-US" sz="900" dirty="0"/>
          </a:p>
        </p:txBody>
      </p:sp>
      <p:sp>
        <p:nvSpPr>
          <p:cNvPr id="83" name="Text 33"/>
          <p:cNvSpPr/>
          <p:nvPr/>
        </p:nvSpPr>
        <p:spPr>
          <a:xfrm>
            <a:off x="8707041" y="5086350"/>
            <a:ext cx="3584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</a:t>
            </a:r>
            <a:endParaRPr lang="en-US" sz="900" dirty="0"/>
          </a:p>
        </p:txBody>
      </p:sp>
      <p:sp>
        <p:nvSpPr>
          <p:cNvPr id="84" name="Text 34"/>
          <p:cNvSpPr/>
          <p:nvPr/>
        </p:nvSpPr>
        <p:spPr>
          <a:xfrm>
            <a:off x="10065990" y="1276350"/>
            <a:ext cx="18591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결과</a:t>
            </a:r>
            <a:endParaRPr lang="en-US" sz="1350" dirty="0"/>
          </a:p>
        </p:txBody>
      </p:sp>
      <p:sp>
        <p:nvSpPr>
          <p:cNvPr id="85" name="Text 35"/>
          <p:cNvSpPr/>
          <p:nvPr/>
        </p:nvSpPr>
        <p:spPr>
          <a:xfrm>
            <a:off x="9875490" y="17335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품질 수준</a:t>
            </a:r>
            <a:endParaRPr lang="en-US" sz="1050" dirty="0"/>
          </a:p>
        </p:txBody>
      </p:sp>
      <p:sp>
        <p:nvSpPr>
          <p:cNvPr id="86" name="Text 36"/>
          <p:cNvSpPr/>
          <p:nvPr/>
        </p:nvSpPr>
        <p:spPr>
          <a:xfrm>
            <a:off x="9875490" y="1962150"/>
            <a:ext cx="144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900" dirty="0"/>
          </a:p>
        </p:txBody>
      </p:sp>
      <p:sp>
        <p:nvSpPr>
          <p:cNvPr id="87" name="Text 37"/>
          <p:cNvSpPr/>
          <p:nvPr/>
        </p:nvSpPr>
        <p:spPr>
          <a:xfrm>
            <a:off x="11261229" y="1962150"/>
            <a:ext cx="38522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0.99</a:t>
            </a:r>
            <a:endParaRPr lang="en-US" sz="900" dirty="0"/>
          </a:p>
        </p:txBody>
      </p:sp>
      <p:sp>
        <p:nvSpPr>
          <p:cNvPr id="88" name="Text 38"/>
          <p:cNvSpPr/>
          <p:nvPr/>
        </p:nvSpPr>
        <p:spPr>
          <a:xfrm>
            <a:off x="9875490" y="2152650"/>
            <a:ext cx="17067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성능이 매우 우수</a:t>
            </a:r>
            <a:endParaRPr lang="en-US" sz="900" dirty="0"/>
          </a:p>
        </p:txBody>
      </p:sp>
      <p:sp>
        <p:nvSpPr>
          <p:cNvPr id="89" name="Text 39"/>
          <p:cNvSpPr/>
          <p:nvPr/>
        </p:nvSpPr>
        <p:spPr>
          <a:xfrm>
            <a:off x="9875490" y="25717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모델</a:t>
            </a:r>
            <a:endParaRPr lang="en-US" sz="1050" dirty="0"/>
          </a:p>
        </p:txBody>
      </p:sp>
      <p:sp>
        <p:nvSpPr>
          <p:cNvPr id="90" name="Text 40"/>
          <p:cNvSpPr/>
          <p:nvPr/>
        </p:nvSpPr>
        <p:spPr>
          <a:xfrm>
            <a:off x="9875490" y="2800350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앙상블</a:t>
            </a:r>
            <a:endParaRPr lang="en-US" sz="900" dirty="0"/>
          </a:p>
        </p:txBody>
      </p:sp>
      <p:sp>
        <p:nvSpPr>
          <p:cNvPr id="91" name="Text 41"/>
          <p:cNvSpPr/>
          <p:nvPr/>
        </p:nvSpPr>
        <p:spPr>
          <a:xfrm>
            <a:off x="11093202" y="2800350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</a:t>
            </a:r>
            <a:endParaRPr lang="en-US" sz="900" dirty="0"/>
          </a:p>
        </p:txBody>
      </p:sp>
      <p:sp>
        <p:nvSpPr>
          <p:cNvPr id="92" name="Text 42"/>
          <p:cNvSpPr/>
          <p:nvPr/>
        </p:nvSpPr>
        <p:spPr>
          <a:xfrm>
            <a:off x="9875490" y="2990850"/>
            <a:ext cx="17067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Trees/Random Forest가 최우수</a:t>
            </a:r>
            <a:endParaRPr lang="en-US" sz="900" dirty="0"/>
          </a:p>
        </p:txBody>
      </p:sp>
      <p:sp>
        <p:nvSpPr>
          <p:cNvPr id="93" name="Text 43"/>
          <p:cNvSpPr/>
          <p:nvPr/>
        </p:nvSpPr>
        <p:spPr>
          <a:xfrm>
            <a:off x="9875490" y="35623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한계</a:t>
            </a:r>
            <a:endParaRPr lang="en-US" sz="1050" dirty="0"/>
          </a:p>
        </p:txBody>
      </p:sp>
      <p:sp>
        <p:nvSpPr>
          <p:cNvPr id="94" name="Text 44"/>
          <p:cNvSpPr/>
          <p:nvPr/>
        </p:nvSpPr>
        <p:spPr>
          <a:xfrm>
            <a:off x="9875490" y="3790950"/>
            <a:ext cx="6707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모델</a:t>
            </a:r>
            <a:endParaRPr lang="en-US" sz="900" dirty="0"/>
          </a:p>
        </p:txBody>
      </p:sp>
      <p:sp>
        <p:nvSpPr>
          <p:cNvPr id="95" name="Text 45"/>
          <p:cNvSpPr/>
          <p:nvPr/>
        </p:nvSpPr>
        <p:spPr>
          <a:xfrm>
            <a:off x="11093202" y="3790950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최한</a:t>
            </a:r>
            <a:endParaRPr lang="en-US" sz="900" dirty="0"/>
          </a:p>
        </p:txBody>
      </p:sp>
      <p:sp>
        <p:nvSpPr>
          <p:cNvPr id="96" name="Text 46"/>
          <p:cNvSpPr/>
          <p:nvPr/>
        </p:nvSpPr>
        <p:spPr>
          <a:xfrm>
            <a:off x="9875490" y="3981450"/>
            <a:ext cx="17067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모델 조합 필요</a:t>
            </a:r>
            <a:endParaRPr lang="en-US" sz="900" dirty="0"/>
          </a:p>
        </p:txBody>
      </p:sp>
      <p:sp>
        <p:nvSpPr>
          <p:cNvPr id="97" name="Text 47"/>
          <p:cNvSpPr/>
          <p:nvPr/>
        </p:nvSpPr>
        <p:spPr>
          <a:xfrm>
            <a:off x="10027890" y="4400550"/>
            <a:ext cx="18366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대부분 R² 0.99 이상 달성</a:t>
            </a:r>
            <a:endParaRPr lang="en-US" sz="900" dirty="0"/>
          </a:p>
        </p:txBody>
      </p:sp>
      <p:sp>
        <p:nvSpPr>
          <p:cNvPr id="98" name="Text 48"/>
          <p:cNvSpPr/>
          <p:nvPr/>
        </p:nvSpPr>
        <p:spPr>
          <a:xfrm>
            <a:off x="10027890" y="4591050"/>
            <a:ext cx="15543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Trees/Random Forest가 R,M,MAE 모두 최상</a:t>
            </a:r>
            <a:endParaRPr lang="en-US" sz="900" dirty="0"/>
          </a:p>
        </p:txBody>
      </p:sp>
      <p:sp>
        <p:nvSpPr>
          <p:cNvPr id="99" name="Text 49"/>
          <p:cNvSpPr/>
          <p:nvPr/>
        </p:nvSpPr>
        <p:spPr>
          <a:xfrm>
            <a:off x="10027890" y="4933950"/>
            <a:ext cx="174539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Ridge는 단일 성능 제한 포함</a:t>
            </a:r>
            <a:endParaRPr lang="en-US" sz="900" dirty="0"/>
          </a:p>
        </p:txBody>
      </p:sp>
      <p:sp>
        <p:nvSpPr>
          <p:cNvPr id="100" name="Text 50"/>
          <p:cNvSpPr/>
          <p:nvPr/>
        </p:nvSpPr>
        <p:spPr>
          <a:xfrm>
            <a:off x="685800" y="6000750"/>
            <a:ext cx="75516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 종합: 검증된 모델 아키텍처와 타겟 스케일 특성을 고려하여 합리적 범위 내에서 최적의 모델 후보를 선정한 접근 방식</a:t>
            </a:r>
            <a:endParaRPr lang="en-US" sz="900" dirty="0"/>
          </a:p>
        </p:txBody>
      </p:sp>
      <p:sp>
        <p:nvSpPr>
          <p:cNvPr id="101" name="Text 51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6/10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87611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078111"/>
            <a:ext cx="3759101" cy="1752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30511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344811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221111"/>
            <a:ext cx="3454301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8589" y="2316361"/>
            <a:ext cx="142875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301" y="1078111"/>
            <a:ext cx="3759250" cy="1752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8701" y="1230511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001" y="1344811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8701" y="2373511"/>
            <a:ext cx="3454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27452" y="2468761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7950" y="1078111"/>
            <a:ext cx="3759101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0350" y="1230511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5600" y="1344811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0350" y="2373511"/>
            <a:ext cx="3454301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20064" y="2468761"/>
            <a:ext cx="142875" cy="114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4800" y="2983111"/>
            <a:ext cx="11582400" cy="2057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3183136"/>
            <a:ext cx="1333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3516511"/>
            <a:ext cx="3657600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7200" y="3516511"/>
            <a:ext cx="3657600" cy="876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77200" y="3516511"/>
            <a:ext cx="3657600" cy="876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4507111"/>
            <a:ext cx="112776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21670" y="4602361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4800" y="5192911"/>
            <a:ext cx="11582400" cy="1447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" y="5726311"/>
            <a:ext cx="5419725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95563" y="5993011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671763" y="6069211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38463" y="5993011"/>
            <a:ext cx="304800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4663" y="6069211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81363" y="5993011"/>
            <a:ext cx="30480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38513" y="6069211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29325" y="5993011"/>
            <a:ext cx="133350" cy="2286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29325" y="6012061"/>
            <a:ext cx="1333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05838" y="5993011"/>
            <a:ext cx="304800" cy="3048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62988" y="6069211"/>
            <a:ext cx="1905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948738" y="5993011"/>
            <a:ext cx="304800" cy="3048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24938" y="6069211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91638" y="5993011"/>
            <a:ext cx="304800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7838" y="6069211"/>
            <a:ext cx="152400" cy="152400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304800" y="304800"/>
            <a:ext cx="115824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프레임워크 전략 비교</a:t>
            </a:r>
            <a:endParaRPr lang="en-US" sz="2100" dirty="0"/>
          </a:p>
        </p:txBody>
      </p:sp>
      <p:sp>
        <p:nvSpPr>
          <p:cNvPr id="44" name="Text 1"/>
          <p:cNvSpPr/>
          <p:nvPr/>
        </p:nvSpPr>
        <p:spPr>
          <a:xfrm>
            <a:off x="952500" y="1287661"/>
            <a:ext cx="7777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</a:t>
            </a:r>
            <a:endParaRPr lang="en-US" sz="1350" dirty="0"/>
          </a:p>
        </p:txBody>
      </p:sp>
      <p:sp>
        <p:nvSpPr>
          <p:cNvPr id="45" name="Text 2"/>
          <p:cNvSpPr/>
          <p:nvPr/>
        </p:nvSpPr>
        <p:spPr>
          <a:xfrm>
            <a:off x="457200" y="1687711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단일 모델 비교 및 하이퍼파라미터 튜닝</a:t>
            </a:r>
            <a:endParaRPr lang="en-US" sz="1050" dirty="0"/>
          </a:p>
        </p:txBody>
      </p:sp>
      <p:sp>
        <p:nvSpPr>
          <p:cNvPr id="46" name="Text 3"/>
          <p:cNvSpPr/>
          <p:nvPr/>
        </p:nvSpPr>
        <p:spPr>
          <a:xfrm>
            <a:off x="457200" y="1954411"/>
            <a:ext cx="41451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하이퍼파라미터 범위 내에서 모델 평가, 예측 성능 검증 테스트</a:t>
            </a:r>
            <a:endParaRPr lang="en-US" sz="900" dirty="0"/>
          </a:p>
        </p:txBody>
      </p:sp>
      <p:sp>
        <p:nvSpPr>
          <p:cNvPr id="47" name="Text 4"/>
          <p:cNvSpPr/>
          <p:nvPr/>
        </p:nvSpPr>
        <p:spPr>
          <a:xfrm>
            <a:off x="533400" y="2297311"/>
            <a:ext cx="3301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프로젝트의 실험 중심 엔진</a:t>
            </a:r>
            <a:endParaRPr lang="en-US" sz="900" dirty="0"/>
          </a:p>
        </p:txBody>
      </p:sp>
      <p:sp>
        <p:nvSpPr>
          <p:cNvPr id="48" name="Text 5"/>
          <p:cNvSpPr/>
          <p:nvPr/>
        </p:nvSpPr>
        <p:spPr>
          <a:xfrm>
            <a:off x="4864001" y="1287661"/>
            <a:ext cx="10628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</a:t>
            </a:r>
            <a:endParaRPr lang="en-US" sz="1350" dirty="0"/>
          </a:p>
        </p:txBody>
      </p:sp>
      <p:sp>
        <p:nvSpPr>
          <p:cNvPr id="49" name="Text 6"/>
          <p:cNvSpPr/>
          <p:nvPr/>
        </p:nvSpPr>
        <p:spPr>
          <a:xfrm>
            <a:off x="4368701" y="1687711"/>
            <a:ext cx="3454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자동화된 앙상블 및 스태킹</a:t>
            </a:r>
            <a:endParaRPr lang="en-US" sz="1050" dirty="0"/>
          </a:p>
        </p:txBody>
      </p:sp>
      <p:sp>
        <p:nvSpPr>
          <p:cNvPr id="50" name="Text 7"/>
          <p:cNvSpPr/>
          <p:nvPr/>
        </p:nvSpPr>
        <p:spPr>
          <a:xfrm>
            <a:off x="4368701" y="1954411"/>
            <a:ext cx="34544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모델에 대한 자동화된 앙상블 기법 적용과 자동 하이퍼파라미터 선택, 성능 상한 탐색용</a:t>
            </a:r>
            <a:endParaRPr lang="en-US" sz="900" dirty="0"/>
          </a:p>
        </p:txBody>
      </p:sp>
      <p:sp>
        <p:nvSpPr>
          <p:cNvPr id="51" name="Text 8"/>
          <p:cNvSpPr/>
          <p:nvPr/>
        </p:nvSpPr>
        <p:spPr>
          <a:xfrm>
            <a:off x="4444901" y="2449711"/>
            <a:ext cx="3302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성능 상한 탐색용 블랙박스</a:t>
            </a:r>
            <a:endParaRPr lang="en-US" sz="900" dirty="0"/>
          </a:p>
        </p:txBody>
      </p:sp>
      <p:sp>
        <p:nvSpPr>
          <p:cNvPr id="52" name="Text 9"/>
          <p:cNvSpPr/>
          <p:nvPr/>
        </p:nvSpPr>
        <p:spPr>
          <a:xfrm>
            <a:off x="8775650" y="1287661"/>
            <a:ext cx="1109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53" name="Text 10"/>
          <p:cNvSpPr/>
          <p:nvPr/>
        </p:nvSpPr>
        <p:spPr>
          <a:xfrm>
            <a:off x="8280350" y="1687711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피처 엔지니어링과 Kaggle 상위 전략 재현</a:t>
            </a:r>
            <a:endParaRPr lang="en-US" sz="1050" dirty="0"/>
          </a:p>
        </p:txBody>
      </p:sp>
      <p:sp>
        <p:nvSpPr>
          <p:cNvPr id="54" name="Text 11"/>
          <p:cNvSpPr/>
          <p:nvPr/>
        </p:nvSpPr>
        <p:spPr>
          <a:xfrm>
            <a:off x="8280350" y="1954411"/>
            <a:ext cx="34543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파이프라인 기반 모델 조합, 세밀한 피처 선택 및 트랜스포메이션, 웨이트드 앙상블 방식 구현</a:t>
            </a:r>
            <a:endParaRPr lang="en-US" sz="900" dirty="0"/>
          </a:p>
        </p:txBody>
      </p:sp>
      <p:sp>
        <p:nvSpPr>
          <p:cNvPr id="55" name="Text 12"/>
          <p:cNvSpPr/>
          <p:nvPr/>
        </p:nvSpPr>
        <p:spPr>
          <a:xfrm>
            <a:off x="8356550" y="2449711"/>
            <a:ext cx="3301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Kaggle 상위 전략 재현</a:t>
            </a:r>
            <a:endParaRPr lang="en-US" sz="900" dirty="0"/>
          </a:p>
        </p:txBody>
      </p:sp>
      <p:sp>
        <p:nvSpPr>
          <p:cNvPr id="56" name="Text 13"/>
          <p:cNvSpPr/>
          <p:nvPr/>
        </p:nvSpPr>
        <p:spPr>
          <a:xfrm>
            <a:off x="666750" y="3135511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선택 전략</a:t>
            </a:r>
            <a:endParaRPr lang="en-US" sz="1350" dirty="0"/>
          </a:p>
        </p:txBody>
      </p:sp>
      <p:sp>
        <p:nvSpPr>
          <p:cNvPr id="57" name="Text 14"/>
          <p:cNvSpPr/>
          <p:nvPr/>
        </p:nvSpPr>
        <p:spPr>
          <a:xfrm>
            <a:off x="57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단계</a:t>
            </a:r>
            <a:endParaRPr lang="en-US" sz="1200" dirty="0"/>
          </a:p>
        </p:txBody>
      </p:sp>
      <p:sp>
        <p:nvSpPr>
          <p:cNvPr id="58" name="Text 15"/>
          <p:cNvSpPr/>
          <p:nvPr/>
        </p:nvSpPr>
        <p:spPr>
          <a:xfrm>
            <a:off x="57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PyCaret을 활용한 빠른 모델 후보 선별 및 초기 성능 측정. 각 프레임워크의 기본 품질 구합니다.</a:t>
            </a:r>
            <a:endParaRPr lang="en-US" sz="1050" dirty="0"/>
          </a:p>
        </p:txBody>
      </p:sp>
      <p:sp>
        <p:nvSpPr>
          <p:cNvPr id="59" name="Text 16"/>
          <p:cNvSpPr/>
          <p:nvPr/>
        </p:nvSpPr>
        <p:spPr>
          <a:xfrm>
            <a:off x="438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단계</a:t>
            </a:r>
            <a:endParaRPr lang="en-US" sz="1200" dirty="0"/>
          </a:p>
        </p:txBody>
      </p:sp>
      <p:sp>
        <p:nvSpPr>
          <p:cNvPr id="60" name="Text 17"/>
          <p:cNvSpPr/>
          <p:nvPr/>
        </p:nvSpPr>
        <p:spPr>
          <a:xfrm>
            <a:off x="438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AutoGluon을 활용한 성능 상한 및 최적하 탐색. 하이퍼파라미터 자동화 선별 진행</a:t>
            </a:r>
            <a:endParaRPr lang="en-US" sz="1050" dirty="0"/>
          </a:p>
        </p:txBody>
      </p:sp>
      <p:sp>
        <p:nvSpPr>
          <p:cNvPr id="61" name="Text 18"/>
          <p:cNvSpPr/>
          <p:nvPr/>
        </p:nvSpPr>
        <p:spPr>
          <a:xfrm>
            <a:off x="819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구현</a:t>
            </a:r>
            <a:endParaRPr lang="en-US" sz="1200" dirty="0"/>
          </a:p>
        </p:txBody>
      </p:sp>
      <p:sp>
        <p:nvSpPr>
          <p:cNvPr id="62" name="Text 19"/>
          <p:cNvSpPr/>
          <p:nvPr/>
        </p:nvSpPr>
        <p:spPr>
          <a:xfrm>
            <a:off x="819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기반 세부 튜닝 및 Weighted 앙상블 구현. Kaggle 상위 솔루션 재현 목적</a:t>
            </a:r>
            <a:endParaRPr lang="en-US" sz="1050" dirty="0"/>
          </a:p>
        </p:txBody>
      </p:sp>
      <p:sp>
        <p:nvSpPr>
          <p:cNvPr id="63" name="Text 20"/>
          <p:cNvSpPr/>
          <p:nvPr/>
        </p:nvSpPr>
        <p:spPr>
          <a:xfrm>
            <a:off x="533400" y="4583311"/>
            <a:ext cx="11125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"도구마다 목적이 다르며, 상황에 맞게 병행 활용하는 것이 프로젝트 성패를 좌우함"</a:t>
            </a:r>
            <a:endParaRPr lang="en-US" sz="1200" dirty="0"/>
          </a:p>
        </p:txBody>
      </p:sp>
      <p:sp>
        <p:nvSpPr>
          <p:cNvPr id="64" name="Text 21"/>
          <p:cNvSpPr/>
          <p:nvPr/>
        </p:nvSpPr>
        <p:spPr>
          <a:xfrm>
            <a:off x="457200" y="5345311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사용성 비교</a:t>
            </a:r>
            <a:endParaRPr lang="en-US" sz="1350" dirty="0"/>
          </a:p>
        </p:txBody>
      </p:sp>
      <p:sp>
        <p:nvSpPr>
          <p:cNvPr id="65" name="Text 22"/>
          <p:cNvSpPr/>
          <p:nvPr/>
        </p:nvSpPr>
        <p:spPr>
          <a:xfrm>
            <a:off x="457200" y="5726311"/>
            <a:ext cx="5267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쉬움</a:t>
            </a:r>
            <a:endParaRPr lang="en-US" sz="1200" dirty="0"/>
          </a:p>
        </p:txBody>
      </p:sp>
      <p:sp>
        <p:nvSpPr>
          <p:cNvPr id="66" name="Text 23"/>
          <p:cNvSpPr/>
          <p:nvPr/>
        </p:nvSpPr>
        <p:spPr>
          <a:xfrm>
            <a:off x="457200" y="6335911"/>
            <a:ext cx="52673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 → AutoGluon → Scikit-learn</a:t>
            </a:r>
            <a:endParaRPr lang="en-US" sz="900" dirty="0"/>
          </a:p>
        </p:txBody>
      </p:sp>
      <p:sp>
        <p:nvSpPr>
          <p:cNvPr id="67" name="Text 24"/>
          <p:cNvSpPr/>
          <p:nvPr/>
        </p:nvSpPr>
        <p:spPr>
          <a:xfrm>
            <a:off x="6467475" y="5726311"/>
            <a:ext cx="5267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1200" dirty="0"/>
          </a:p>
        </p:txBody>
      </p:sp>
      <p:sp>
        <p:nvSpPr>
          <p:cNvPr id="68" name="Text 25"/>
          <p:cNvSpPr/>
          <p:nvPr/>
        </p:nvSpPr>
        <p:spPr>
          <a:xfrm>
            <a:off x="6467475" y="6335911"/>
            <a:ext cx="52673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→ PyCaret → AutoGluon</a:t>
            </a:r>
            <a:endParaRPr lang="en-US" sz="900" dirty="0"/>
          </a:p>
        </p:txBody>
      </p:sp>
      <p:sp>
        <p:nvSpPr>
          <p:cNvPr id="69" name="Text 26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7/10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71550"/>
            <a:ext cx="5791200" cy="2247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1334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1428750"/>
            <a:ext cx="55626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1962150"/>
            <a:ext cx="5562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2343150"/>
            <a:ext cx="55626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71550"/>
            <a:ext cx="5791200" cy="2247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133475"/>
            <a:ext cx="219075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1428750"/>
            <a:ext cx="2743200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5900" y="1428750"/>
            <a:ext cx="2743200" cy="647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2152650"/>
            <a:ext cx="5562600" cy="952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2419350"/>
            <a:ext cx="54102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8600" y="3333750"/>
            <a:ext cx="11734800" cy="1257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900" y="3495675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900" y="3790950"/>
            <a:ext cx="2790825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8025" y="3790950"/>
            <a:ext cx="2790825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53150" y="3790950"/>
            <a:ext cx="2790825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58275" y="3790950"/>
            <a:ext cx="2790825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600" y="4705350"/>
            <a:ext cx="11734800" cy="1104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89850" y="5162550"/>
            <a:ext cx="3759101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8600" y="5829300"/>
            <a:ext cx="11734800" cy="1409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63738" y="5857875"/>
            <a:ext cx="6096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54238" y="6010275"/>
            <a:ext cx="2286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05474" y="7067550"/>
            <a:ext cx="730746" cy="190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43635" y="5857875"/>
            <a:ext cx="6096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48422" y="6010275"/>
            <a:ext cx="200025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17220" y="7067550"/>
            <a:ext cx="667196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68788" y="5857875"/>
            <a:ext cx="609600" cy="609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59288" y="6010275"/>
            <a:ext cx="2286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3849" y="7067550"/>
            <a:ext cx="864096" cy="1905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실험 결과 &amp; 최종 결론</a:t>
            </a:r>
            <a:endParaRPr lang="en-US" sz="2100" dirty="0"/>
          </a:p>
        </p:txBody>
      </p:sp>
      <p:sp>
        <p:nvSpPr>
          <p:cNvPr id="35" name="Text 1"/>
          <p:cNvSpPr/>
          <p:nvPr/>
        </p:nvSpPr>
        <p:spPr>
          <a:xfrm>
            <a:off x="590550" y="108585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 실험 결과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457200" y="1504950"/>
            <a:ext cx="5372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medium_quality: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빠른 학습, 안정적 성능
</a:t>
            </a: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로그 변환 가격 점수: RMSLE=0.4658</a:t>
            </a:r>
            <a:endParaRPr lang="en-US" sz="900" dirty="0"/>
          </a:p>
        </p:txBody>
      </p:sp>
      <p:sp>
        <p:nvSpPr>
          <p:cNvPr id="37" name="Text 3"/>
          <p:cNvSpPr/>
          <p:nvPr/>
        </p:nvSpPr>
        <p:spPr>
          <a:xfrm>
            <a:off x="457200" y="2038350"/>
            <a:ext cx="64465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best_quality: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 소폭 개선(0.035), 학습 시간 급증(50배 이상)
</a:t>
            </a:r>
            <a:endParaRPr lang="en-US" sz="900" dirty="0"/>
          </a:p>
        </p:txBody>
      </p:sp>
      <p:sp>
        <p:nvSpPr>
          <p:cNvPr id="38" name="Text 4"/>
          <p:cNvSpPr/>
          <p:nvPr/>
        </p:nvSpPr>
        <p:spPr>
          <a:xfrm>
            <a:off x="457200" y="2419350"/>
            <a:ext cx="5372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개선: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L2, L3 스태킹으로도 성능 개선 제한적
</a:t>
            </a:r>
            <a:r>
              <a:rPr lang="en-US" sz="9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다양한 앙상블 기법에도 극복 불가한 한계 존재</a:t>
            </a:r>
            <a:endParaRPr lang="en-US" sz="900" dirty="0"/>
          </a:p>
        </p:txBody>
      </p:sp>
      <p:sp>
        <p:nvSpPr>
          <p:cNvPr id="39" name="Text 5"/>
          <p:cNvSpPr/>
          <p:nvPr/>
        </p:nvSpPr>
        <p:spPr>
          <a:xfrm>
            <a:off x="6581775" y="108585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실험 결과</a:t>
            </a:r>
            <a:endParaRPr lang="en-US" sz="1350" dirty="0"/>
          </a:p>
        </p:txBody>
      </p:sp>
      <p:sp>
        <p:nvSpPr>
          <p:cNvPr id="40" name="Text 6"/>
          <p:cNvSpPr/>
          <p:nvPr/>
        </p:nvSpPr>
        <p:spPr>
          <a:xfrm>
            <a:off x="6400800" y="1504950"/>
            <a:ext cx="3063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2-Model Ensemble</a:t>
            </a:r>
            <a:endParaRPr lang="en-US" sz="1050" dirty="0"/>
          </a:p>
        </p:txBody>
      </p:sp>
      <p:sp>
        <p:nvSpPr>
          <p:cNvPr id="41" name="Text 7"/>
          <p:cNvSpPr/>
          <p:nvPr/>
        </p:nvSpPr>
        <p:spPr>
          <a:xfrm>
            <a:off x="6400800" y="1695450"/>
            <a:ext cx="255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+ LightGBM 조합
</a:t>
            </a: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RMSLE 기준 최고 성능(0.4505)</a:t>
            </a:r>
            <a:endParaRPr lang="en-US" sz="900" dirty="0"/>
          </a:p>
        </p:txBody>
      </p:sp>
      <p:sp>
        <p:nvSpPr>
          <p:cNvPr id="42" name="Text 8"/>
          <p:cNvSpPr/>
          <p:nvPr/>
        </p:nvSpPr>
        <p:spPr>
          <a:xfrm>
            <a:off x="9220200" y="1504950"/>
            <a:ext cx="2552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4-Model 확장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9220200" y="1695450"/>
            <a:ext cx="255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앙상블 구조
</a:t>
            </a:r>
            <a:r>
              <a:rPr lang="en-US" sz="900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실제 성능 저하 발생, 과적합 우려</a:t>
            </a:r>
            <a:endParaRPr lang="en-US" sz="900" dirty="0"/>
          </a:p>
        </p:txBody>
      </p:sp>
      <p:sp>
        <p:nvSpPr>
          <p:cNvPr id="44" name="Text 10"/>
          <p:cNvSpPr/>
          <p:nvPr/>
        </p:nvSpPr>
        <p:spPr>
          <a:xfrm>
            <a:off x="6362700" y="2228850"/>
            <a:ext cx="541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Comparison (Lower is Better)</a:t>
            </a:r>
            <a:endParaRPr lang="en-US" sz="900" dirty="0"/>
          </a:p>
        </p:txBody>
      </p:sp>
      <p:sp>
        <p:nvSpPr>
          <p:cNvPr id="45" name="Text 11"/>
          <p:cNvSpPr/>
          <p:nvPr/>
        </p:nvSpPr>
        <p:spPr>
          <a:xfrm>
            <a:off x="590550" y="34480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최적화 과정</a:t>
            </a:r>
            <a:endParaRPr lang="en-US" sz="1350" dirty="0"/>
          </a:p>
        </p:txBody>
      </p:sp>
      <p:sp>
        <p:nvSpPr>
          <p:cNvPr id="46" name="Text 12"/>
          <p:cNvSpPr/>
          <p:nvPr/>
        </p:nvSpPr>
        <p:spPr>
          <a:xfrm>
            <a:off x="419100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Optuna/Hyperopt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419100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최적 하이퍼파라미터 탐색 및 Fine-tuning 수행</a:t>
            </a:r>
            <a:endParaRPr lang="en-US" sz="900" dirty="0"/>
          </a:p>
        </p:txBody>
      </p:sp>
      <p:sp>
        <p:nvSpPr>
          <p:cNvPr id="48" name="Text 14"/>
          <p:cNvSpPr/>
          <p:nvPr/>
        </p:nvSpPr>
        <p:spPr>
          <a:xfrm>
            <a:off x="3324225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가속 기술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3324225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연산을 통한 학습 시간 30-40% 감소, 메모리 효율 향상</a:t>
            </a:r>
            <a:endParaRPr lang="en-US" sz="900" dirty="0"/>
          </a:p>
        </p:txBody>
      </p:sp>
      <p:sp>
        <p:nvSpPr>
          <p:cNvPr id="50" name="Text 16"/>
          <p:cNvSpPr/>
          <p:nvPr/>
        </p:nvSpPr>
        <p:spPr>
          <a:xfrm>
            <a:off x="6229350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캐싱 기반 반복 활용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229350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결과 및 벡터화 작업 중복 방지로 실험 효율성 증가</a:t>
            </a:r>
            <a:endParaRPr lang="en-US" sz="900" dirty="0"/>
          </a:p>
        </p:txBody>
      </p:sp>
      <p:sp>
        <p:nvSpPr>
          <p:cNvPr id="52" name="Text 18"/>
          <p:cNvSpPr/>
          <p:nvPr/>
        </p:nvSpPr>
        <p:spPr>
          <a:xfrm>
            <a:off x="9134475" y="3867150"/>
            <a:ext cx="3166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Memory Management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9134475" y="4095750"/>
            <a:ext cx="31661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Garbage Collection으로 메모리 관리 최적화</a:t>
            </a:r>
            <a:endParaRPr lang="en-US" sz="900" dirty="0"/>
          </a:p>
        </p:txBody>
      </p:sp>
      <p:sp>
        <p:nvSpPr>
          <p:cNvPr id="54" name="Text 20"/>
          <p:cNvSpPr/>
          <p:nvPr/>
        </p:nvSpPr>
        <p:spPr>
          <a:xfrm>
            <a:off x="342900" y="48196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350" dirty="0"/>
          </a:p>
        </p:txBody>
      </p:sp>
      <p:sp>
        <p:nvSpPr>
          <p:cNvPr id="55" name="Text 21"/>
          <p:cNvSpPr/>
          <p:nvPr/>
        </p:nvSpPr>
        <p:spPr>
          <a:xfrm>
            <a:off x="342900" y="5162550"/>
            <a:ext cx="7632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수 증가의 한계: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프로젝트에서는 모델 수 증가가 오히려 성능에 부정적인 영향을 미침</a:t>
            </a:r>
            <a:endParaRPr lang="en-US" sz="900" dirty="0"/>
          </a:p>
        </p:txBody>
      </p:sp>
      <p:sp>
        <p:nvSpPr>
          <p:cNvPr id="56" name="Text 22"/>
          <p:cNvSpPr/>
          <p:nvPr/>
        </p:nvSpPr>
        <p:spPr>
          <a:xfrm>
            <a:off x="342900" y="5314950"/>
            <a:ext cx="7632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성공 요소: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엔지니어링 품질과 단순하지만 강력한 앙상블 전략의 조합이 중요함</a:t>
            </a:r>
            <a:endParaRPr lang="en-US" sz="900" dirty="0"/>
          </a:p>
        </p:txBody>
      </p:sp>
      <p:sp>
        <p:nvSpPr>
          <p:cNvPr id="57" name="Text 23"/>
          <p:cNvSpPr/>
          <p:nvPr/>
        </p:nvSpPr>
        <p:spPr>
          <a:xfrm>
            <a:off x="342900" y="5467350"/>
            <a:ext cx="91591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결정의 중요성: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LightGBM과 Ridge 모델을 적절한 비율(0.55+0.45)로 조합하여 최적 가중치 산출</a:t>
            </a:r>
            <a:endParaRPr lang="en-US" sz="900" dirty="0"/>
          </a:p>
        </p:txBody>
      </p:sp>
      <p:sp>
        <p:nvSpPr>
          <p:cNvPr id="58" name="Text 24"/>
          <p:cNvSpPr/>
          <p:nvPr/>
        </p:nvSpPr>
        <p:spPr>
          <a:xfrm>
            <a:off x="8166050" y="5238750"/>
            <a:ext cx="36067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"모델 수 증가보다 피처 엔지니어링 품질과 단순하지만 강력한 앙상블 전략이 가장 효과적"</a:t>
            </a:r>
            <a:endParaRPr lang="en-US" sz="1050" dirty="0"/>
          </a:p>
        </p:txBody>
      </p:sp>
      <p:sp>
        <p:nvSpPr>
          <p:cNvPr id="59" name="Text 25"/>
          <p:cNvSpPr/>
          <p:nvPr/>
        </p:nvSpPr>
        <p:spPr>
          <a:xfrm>
            <a:off x="304800" y="6000750"/>
            <a:ext cx="1158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 공개 선정 (2-Model Ensemble)</a:t>
            </a:r>
            <a:endParaRPr lang="en-US" sz="1200" dirty="0"/>
          </a:p>
        </p:txBody>
      </p:sp>
      <p:sp>
        <p:nvSpPr>
          <p:cNvPr id="60" name="Text 26"/>
          <p:cNvSpPr/>
          <p:nvPr/>
        </p:nvSpPr>
        <p:spPr>
          <a:xfrm>
            <a:off x="4614339" y="6505575"/>
            <a:ext cx="6098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00" dirty="0"/>
          </a:p>
        </p:txBody>
      </p:sp>
      <p:sp>
        <p:nvSpPr>
          <p:cNvPr id="61" name="Text 27"/>
          <p:cNvSpPr/>
          <p:nvPr/>
        </p:nvSpPr>
        <p:spPr>
          <a:xfrm>
            <a:off x="4579365" y="6657975"/>
            <a:ext cx="8768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Alpha: 0.45</a:t>
            </a:r>
            <a:endParaRPr lang="en-US" sz="900" dirty="0"/>
          </a:p>
        </p:txBody>
      </p:sp>
      <p:sp>
        <p:nvSpPr>
          <p:cNvPr id="62" name="Text 28"/>
          <p:cNvSpPr/>
          <p:nvPr/>
        </p:nvSpPr>
        <p:spPr>
          <a:xfrm>
            <a:off x="5799160" y="6505575"/>
            <a:ext cx="3584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</a:t>
            </a:r>
            <a:endParaRPr lang="en-US" sz="900" dirty="0"/>
          </a:p>
        </p:txBody>
      </p:sp>
      <p:sp>
        <p:nvSpPr>
          <p:cNvPr id="63" name="Text 29"/>
          <p:cNvSpPr/>
          <p:nvPr/>
        </p:nvSpPr>
        <p:spPr>
          <a:xfrm>
            <a:off x="5691111" y="6657975"/>
            <a:ext cx="8006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Alpha: 0.8</a:t>
            </a:r>
            <a:endParaRPr lang="en-US" sz="900" dirty="0"/>
          </a:p>
        </p:txBody>
      </p:sp>
      <p:sp>
        <p:nvSpPr>
          <p:cNvPr id="64" name="Text 30"/>
          <p:cNvSpPr/>
          <p:nvPr/>
        </p:nvSpPr>
        <p:spPr>
          <a:xfrm>
            <a:off x="6663107" y="6505575"/>
            <a:ext cx="12251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Weighted Ensemble</a:t>
            </a:r>
            <a:endParaRPr lang="en-US" sz="900" dirty="0"/>
          </a:p>
        </p:txBody>
      </p:sp>
      <p:sp>
        <p:nvSpPr>
          <p:cNvPr id="65" name="Text 31"/>
          <p:cNvSpPr/>
          <p:nvPr/>
        </p:nvSpPr>
        <p:spPr>
          <a:xfrm>
            <a:off x="6817740" y="6657975"/>
            <a:ext cx="10369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Score: 0.4505</a:t>
            </a:r>
            <a:endParaRPr lang="en-US" sz="900" dirty="0"/>
          </a:p>
        </p:txBody>
      </p:sp>
      <p:sp>
        <p:nvSpPr>
          <p:cNvPr id="66" name="Text 32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8/10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33450"/>
            <a:ext cx="3810000" cy="2667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0953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1657350"/>
            <a:ext cx="1752600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1657350"/>
            <a:ext cx="17526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2457450"/>
            <a:ext cx="1752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1700" y="2457450"/>
            <a:ext cx="1752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" y="2800350"/>
            <a:ext cx="3581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933450"/>
            <a:ext cx="3810000" cy="2667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5300" y="1095375"/>
            <a:ext cx="19050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05300" y="1390650"/>
            <a:ext cx="35814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5300" y="2114550"/>
            <a:ext cx="3581400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5300" y="2838450"/>
            <a:ext cx="3581400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933450"/>
            <a:ext cx="3810000" cy="2667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1095375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7700" y="1390650"/>
            <a:ext cx="3581400" cy="647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7700" y="2114550"/>
            <a:ext cx="3581400" cy="914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600" y="3714750"/>
            <a:ext cx="1173480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3876675"/>
            <a:ext cx="1333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4171950"/>
            <a:ext cx="5676900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72200" y="4171950"/>
            <a:ext cx="56769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2900" y="4781550"/>
            <a:ext cx="567690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72200" y="4781550"/>
            <a:ext cx="5676900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0030" y="5214505"/>
            <a:ext cx="11734800" cy="1866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2900" y="5772150"/>
            <a:ext cx="11506200" cy="1333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84587" y="5915025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56182" y="6052705"/>
            <a:ext cx="4572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27632" y="6205105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5607" y="6052705"/>
            <a:ext cx="457200" cy="457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97532" y="6205105"/>
            <a:ext cx="13335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15182" y="6052705"/>
            <a:ext cx="4572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67582" y="6205105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212330" y="6052705"/>
            <a:ext cx="457200" cy="4572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64730" y="6205105"/>
            <a:ext cx="152400" cy="1524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평가 결과 &amp; 핵심 인사이트</a:t>
            </a:r>
            <a:endParaRPr lang="en-US" sz="2100" dirty="0"/>
          </a:p>
        </p:txBody>
      </p:sp>
      <p:sp>
        <p:nvSpPr>
          <p:cNvPr id="39" name="Text 1"/>
          <p:cNvSpPr/>
          <p:nvPr/>
        </p:nvSpPr>
        <p:spPr>
          <a:xfrm>
            <a:off x="59055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350" dirty="0"/>
          </a:p>
        </p:txBody>
      </p:sp>
      <p:sp>
        <p:nvSpPr>
          <p:cNvPr id="40" name="Text 2"/>
          <p:cNvSpPr/>
          <p:nvPr/>
        </p:nvSpPr>
        <p:spPr>
          <a:xfrm>
            <a:off x="342900" y="1390650"/>
            <a:ext cx="4297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평가 지표: </a:t>
            </a:r>
            <a:r>
              <a:rPr lang="en-US" sz="105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중심으로 학습</a:t>
            </a:r>
            <a:endParaRPr lang="en-US" sz="1050" dirty="0"/>
          </a:p>
        </p:txBody>
      </p:sp>
      <p:sp>
        <p:nvSpPr>
          <p:cNvPr id="41" name="Text 3"/>
          <p:cNvSpPr/>
          <p:nvPr/>
        </p:nvSpPr>
        <p:spPr>
          <a:xfrm>
            <a:off x="419100" y="17335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900" dirty="0"/>
          </a:p>
        </p:txBody>
      </p:sp>
      <p:sp>
        <p:nvSpPr>
          <p:cNvPr id="42" name="Text 4"/>
          <p:cNvSpPr/>
          <p:nvPr/>
        </p:nvSpPr>
        <p:spPr>
          <a:xfrm>
            <a:off x="419100" y="1885950"/>
            <a:ext cx="192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endParaRPr lang="en-US" sz="1500" dirty="0"/>
          </a:p>
        </p:txBody>
      </p:sp>
      <p:sp>
        <p:nvSpPr>
          <p:cNvPr id="43" name="Text 5"/>
          <p:cNvSpPr/>
          <p:nvPr/>
        </p:nvSpPr>
        <p:spPr>
          <a:xfrm>
            <a:off x="419100" y="21526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상위권 성능</a:t>
            </a:r>
            <a:endParaRPr lang="en-US" sz="900" dirty="0"/>
          </a:p>
        </p:txBody>
      </p:sp>
      <p:sp>
        <p:nvSpPr>
          <p:cNvPr id="44" name="Text 6"/>
          <p:cNvSpPr/>
          <p:nvPr/>
        </p:nvSpPr>
        <p:spPr>
          <a:xfrm>
            <a:off x="2247900" y="17335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900" dirty="0"/>
          </a:p>
        </p:txBody>
      </p:sp>
      <p:sp>
        <p:nvSpPr>
          <p:cNvPr id="45" name="Text 7"/>
          <p:cNvSpPr/>
          <p:nvPr/>
        </p:nvSpPr>
        <p:spPr>
          <a:xfrm>
            <a:off x="2247900" y="1885950"/>
            <a:ext cx="192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26.95</a:t>
            </a:r>
            <a:endParaRPr lang="en-US" sz="1500" dirty="0"/>
          </a:p>
        </p:txBody>
      </p:sp>
      <p:sp>
        <p:nvSpPr>
          <p:cNvPr id="46" name="Text 8"/>
          <p:cNvSpPr/>
          <p:nvPr/>
        </p:nvSpPr>
        <p:spPr>
          <a:xfrm>
            <a:off x="2247900" y="21526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예측 단위(원)</a:t>
            </a:r>
            <a:endParaRPr lang="en-US" sz="900" dirty="0"/>
          </a:p>
        </p:txBody>
      </p:sp>
      <p:sp>
        <p:nvSpPr>
          <p:cNvPr id="47" name="Text 9"/>
          <p:cNvSpPr/>
          <p:nvPr/>
        </p:nvSpPr>
        <p:spPr>
          <a:xfrm>
            <a:off x="381000" y="2495550"/>
            <a:ext cx="2011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MAE: </a:t>
            </a:r>
            <a:r>
              <a:rPr lang="en-US" sz="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21.91</a:t>
            </a:r>
            <a:endParaRPr lang="en-US" sz="900" dirty="0"/>
          </a:p>
        </p:txBody>
      </p:sp>
      <p:sp>
        <p:nvSpPr>
          <p:cNvPr id="48" name="Text 10"/>
          <p:cNvSpPr/>
          <p:nvPr/>
        </p:nvSpPr>
        <p:spPr>
          <a:xfrm>
            <a:off x="2209800" y="2495550"/>
            <a:ext cx="2011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7E2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R²: </a:t>
            </a:r>
            <a:r>
              <a:rPr lang="en-US" sz="900" b="1" dirty="0">
                <a:solidFill>
                  <a:srgbClr val="581C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0.9904</a:t>
            </a:r>
            <a:endParaRPr lang="en-US" sz="900" dirty="0"/>
          </a:p>
        </p:txBody>
      </p:sp>
      <p:sp>
        <p:nvSpPr>
          <p:cNvPr id="49" name="Text 11"/>
          <p:cNvSpPr/>
          <p:nvPr/>
        </p:nvSpPr>
        <p:spPr>
          <a:xfrm>
            <a:off x="419100" y="2876550"/>
            <a:ext cx="4114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지표: </a:t>
            </a:r>
            <a:r>
              <a:rPr lang="en-US" sz="105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050" dirty="0"/>
          </a:p>
        </p:txBody>
      </p:sp>
      <p:sp>
        <p:nvSpPr>
          <p:cNvPr id="50" name="Text 12"/>
          <p:cNvSpPr/>
          <p:nvPr/>
        </p:nvSpPr>
        <p:spPr>
          <a:xfrm>
            <a:off x="419100" y="3105150"/>
            <a:ext cx="4114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기본적인 재현율 및 성능 추정이 필요할 수 있음</a:t>
            </a:r>
            <a:endParaRPr lang="en-US" sz="900" dirty="0"/>
          </a:p>
        </p:txBody>
      </p:sp>
      <p:sp>
        <p:nvSpPr>
          <p:cNvPr id="51" name="Text 13"/>
          <p:cNvSpPr/>
          <p:nvPr/>
        </p:nvSpPr>
        <p:spPr>
          <a:xfrm>
            <a:off x="457200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성능 임베딩 비교</a:t>
            </a:r>
            <a:endParaRPr lang="en-US" sz="1350" dirty="0"/>
          </a:p>
        </p:txBody>
      </p:sp>
      <p:sp>
        <p:nvSpPr>
          <p:cNvPr id="52" name="Text 14"/>
          <p:cNvSpPr/>
          <p:nvPr/>
        </p:nvSpPr>
        <p:spPr>
          <a:xfrm>
            <a:off x="4419600" y="1466850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+ 트리기반 모델</a:t>
            </a:r>
            <a:endParaRPr lang="en-US" sz="1050" dirty="0"/>
          </a:p>
        </p:txBody>
      </p:sp>
      <p:sp>
        <p:nvSpPr>
          <p:cNvPr id="53" name="Text 15"/>
          <p:cNvSpPr/>
          <p:nvPr/>
        </p:nvSpPr>
        <p:spPr>
          <a:xfrm>
            <a:off x="4419600" y="16573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0.9904</a:t>
            </a:r>
            <a:endParaRPr lang="en-US" sz="900" dirty="0"/>
          </a:p>
        </p:txBody>
      </p:sp>
      <p:sp>
        <p:nvSpPr>
          <p:cNvPr id="54" name="Text 16"/>
          <p:cNvSpPr/>
          <p:nvPr/>
        </p:nvSpPr>
        <p:spPr>
          <a:xfrm>
            <a:off x="4419600" y="18097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데이터 특성 최적화 TF-IDF</a:t>
            </a:r>
            <a:endParaRPr lang="en-US" sz="900" dirty="0"/>
          </a:p>
        </p:txBody>
      </p:sp>
      <p:sp>
        <p:nvSpPr>
          <p:cNvPr id="55" name="Text 17"/>
          <p:cNvSpPr/>
          <p:nvPr/>
        </p:nvSpPr>
        <p:spPr>
          <a:xfrm>
            <a:off x="4419600" y="2190750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GloVe + 트리기반 모델</a:t>
            </a:r>
            <a:endParaRPr lang="en-US" sz="1050" dirty="0"/>
          </a:p>
        </p:txBody>
      </p:sp>
      <p:sp>
        <p:nvSpPr>
          <p:cNvPr id="56" name="Text 18"/>
          <p:cNvSpPr/>
          <p:nvPr/>
        </p:nvSpPr>
        <p:spPr>
          <a:xfrm>
            <a:off x="4419600" y="23812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0.0126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0.9899</a:t>
            </a:r>
            <a:endParaRPr lang="en-US" sz="900" dirty="0"/>
          </a:p>
        </p:txBody>
      </p:sp>
      <p:sp>
        <p:nvSpPr>
          <p:cNvPr id="57" name="Text 19"/>
          <p:cNvSpPr/>
          <p:nvPr/>
        </p:nvSpPr>
        <p:spPr>
          <a:xfrm>
            <a:off x="4419600" y="2533650"/>
            <a:ext cx="3390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TSNE 최적화된 벡터 표현</a:t>
            </a:r>
            <a:endParaRPr lang="en-US" sz="900" dirty="0"/>
          </a:p>
        </p:txBody>
      </p:sp>
      <p:sp>
        <p:nvSpPr>
          <p:cNvPr id="58" name="Text 20"/>
          <p:cNvSpPr/>
          <p:nvPr/>
        </p:nvSpPr>
        <p:spPr>
          <a:xfrm>
            <a:off x="4419600" y="2914650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FastText + 트리기반 모델</a:t>
            </a:r>
            <a:endParaRPr lang="en-US" sz="1050" dirty="0"/>
          </a:p>
        </p:txBody>
      </p:sp>
      <p:sp>
        <p:nvSpPr>
          <p:cNvPr id="59" name="Text 21"/>
          <p:cNvSpPr/>
          <p:nvPr/>
        </p:nvSpPr>
        <p:spPr>
          <a:xfrm>
            <a:off x="4419600" y="31051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0.0127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0.9897</a:t>
            </a:r>
            <a:endParaRPr lang="en-US" sz="900" dirty="0"/>
          </a:p>
        </p:txBody>
      </p:sp>
      <p:sp>
        <p:nvSpPr>
          <p:cNvPr id="60" name="Text 22"/>
          <p:cNvSpPr/>
          <p:nvPr/>
        </p:nvSpPr>
        <p:spPr>
          <a:xfrm>
            <a:off x="4419600" y="3257550"/>
            <a:ext cx="3390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어절 기반 임베딩 효과</a:t>
            </a:r>
            <a:endParaRPr lang="en-US" sz="900" dirty="0"/>
          </a:p>
        </p:txBody>
      </p:sp>
      <p:sp>
        <p:nvSpPr>
          <p:cNvPr id="61" name="Text 23"/>
          <p:cNvSpPr/>
          <p:nvPr/>
        </p:nvSpPr>
        <p:spPr>
          <a:xfrm>
            <a:off x="851535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임베딩 분석</a:t>
            </a:r>
            <a:endParaRPr lang="en-US" sz="1350" dirty="0"/>
          </a:p>
        </p:txBody>
      </p:sp>
      <p:sp>
        <p:nvSpPr>
          <p:cNvPr id="62" name="Text 24"/>
          <p:cNvSpPr/>
          <p:nvPr/>
        </p:nvSpPr>
        <p:spPr>
          <a:xfrm>
            <a:off x="8343900" y="1466850"/>
            <a:ext cx="3429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연산 특성</a:t>
            </a:r>
            <a:endParaRPr lang="en-US" sz="1050" dirty="0"/>
          </a:p>
        </p:txBody>
      </p:sp>
      <p:sp>
        <p:nvSpPr>
          <p:cNvPr id="63" name="Text 25"/>
          <p:cNvSpPr/>
          <p:nvPr/>
        </p:nvSpPr>
        <p:spPr>
          <a:xfrm>
            <a:off x="8343900" y="1657350"/>
            <a:ext cx="4114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Pooling Layer 기반 학습 → 상위권에 진입</a:t>
            </a:r>
            <a:endParaRPr lang="en-US" sz="900" dirty="0"/>
          </a:p>
        </p:txBody>
      </p:sp>
      <p:sp>
        <p:nvSpPr>
          <p:cNvPr id="64" name="Text 26"/>
          <p:cNvSpPr/>
          <p:nvPr/>
        </p:nvSpPr>
        <p:spPr>
          <a:xfrm>
            <a:off x="8343900" y="1809750"/>
            <a:ext cx="3429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RMSLE: </a:t>
            </a:r>
            <a:r>
              <a:rPr lang="en-US" sz="9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0.0128</a:t>
            </a:r>
            <a:endParaRPr lang="en-US" sz="900" dirty="0"/>
          </a:p>
        </p:txBody>
      </p:sp>
      <p:sp>
        <p:nvSpPr>
          <p:cNvPr id="65" name="Text 27"/>
          <p:cNvSpPr/>
          <p:nvPr/>
        </p:nvSpPr>
        <p:spPr>
          <a:xfrm>
            <a:off x="8343900" y="2190750"/>
            <a:ext cx="3429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한계점</a:t>
            </a:r>
            <a:endParaRPr lang="en-US" sz="1050" dirty="0"/>
          </a:p>
        </p:txBody>
      </p:sp>
      <p:sp>
        <p:nvSpPr>
          <p:cNvPr id="66" name="Text 28"/>
          <p:cNvSpPr/>
          <p:nvPr/>
        </p:nvSpPr>
        <p:spPr>
          <a:xfrm>
            <a:off x="8315325" y="24193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텍스트 중심 학습 및 대상 언어 제한</a:t>
            </a:r>
            <a:endParaRPr lang="en-US" sz="900" dirty="0"/>
          </a:p>
        </p:txBody>
      </p:sp>
      <p:sp>
        <p:nvSpPr>
          <p:cNvPr id="67" name="Text 29"/>
          <p:cNvSpPr/>
          <p:nvPr/>
        </p:nvSpPr>
        <p:spPr>
          <a:xfrm>
            <a:off x="8315325" y="26098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 불규칙한 문장 처리 어려움</a:t>
            </a:r>
            <a:endParaRPr lang="en-US" sz="900" dirty="0"/>
          </a:p>
        </p:txBody>
      </p:sp>
      <p:sp>
        <p:nvSpPr>
          <p:cNvPr id="68" name="Text 30"/>
          <p:cNvSpPr/>
          <p:nvPr/>
        </p:nvSpPr>
        <p:spPr>
          <a:xfrm>
            <a:off x="8315325" y="28003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저품질 요소에 과적합 가능성</a:t>
            </a:r>
            <a:endParaRPr lang="en-US" sz="900" dirty="0"/>
          </a:p>
        </p:txBody>
      </p:sp>
      <p:sp>
        <p:nvSpPr>
          <p:cNvPr id="69" name="Text 31"/>
          <p:cNvSpPr/>
          <p:nvPr/>
        </p:nvSpPr>
        <p:spPr>
          <a:xfrm>
            <a:off x="552450" y="38290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</a:t>
            </a:r>
            <a:endParaRPr lang="en-US" sz="1350" dirty="0"/>
          </a:p>
        </p:txBody>
      </p:sp>
      <p:sp>
        <p:nvSpPr>
          <p:cNvPr id="70" name="Text 32"/>
          <p:cNvSpPr/>
          <p:nvPr/>
        </p:nvSpPr>
        <p:spPr>
          <a:xfrm>
            <a:off x="419100" y="4248150"/>
            <a:ext cx="552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특성에 맞는 임베딩: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Mercari 데이터 스타일에 특화된 TF-IDF + 트리기반 모델이 최고 성능</a:t>
            </a:r>
            <a:endParaRPr lang="en-US" sz="1050" dirty="0"/>
          </a:p>
        </p:txBody>
      </p:sp>
      <p:sp>
        <p:nvSpPr>
          <p:cNvPr id="71" name="Text 33"/>
          <p:cNvSpPr/>
          <p:nvPr/>
        </p:nvSpPr>
        <p:spPr>
          <a:xfrm>
            <a:off x="6248400" y="42481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분류 특성: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브랜드, 카테고리, 상태 등 정량정보 텍스트에 강한 가격 예측 처리</a:t>
            </a:r>
            <a:endParaRPr lang="en-US" sz="1050" dirty="0"/>
          </a:p>
        </p:txBody>
      </p:sp>
      <p:sp>
        <p:nvSpPr>
          <p:cNvPr id="72" name="Text 34"/>
          <p:cNvSpPr/>
          <p:nvPr/>
        </p:nvSpPr>
        <p:spPr>
          <a:xfrm>
            <a:off x="419100" y="48577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샘플링 기법 성능 확보: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한정된 월문 샘플 수를 통한 향상된 가중치 조정 학습 구조</a:t>
            </a:r>
            <a:endParaRPr lang="en-US" sz="1050" dirty="0"/>
          </a:p>
        </p:txBody>
      </p:sp>
      <p:sp>
        <p:nvSpPr>
          <p:cNvPr id="73" name="Text 35"/>
          <p:cNvSpPr/>
          <p:nvPr/>
        </p:nvSpPr>
        <p:spPr>
          <a:xfrm>
            <a:off x="6248400" y="48577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 모델 현혹성: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LightGBM과 트리구조 임베딩의 효율적인 조합이 핵심 기술</a:t>
            </a:r>
            <a:endParaRPr lang="en-US" sz="1050" dirty="0"/>
          </a:p>
        </p:txBody>
      </p:sp>
      <p:sp>
        <p:nvSpPr>
          <p:cNvPr id="74" name="Text 36"/>
          <p:cNvSpPr/>
          <p:nvPr/>
        </p:nvSpPr>
        <p:spPr>
          <a:xfrm>
            <a:off x="5729139" y="54673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350" dirty="0"/>
          </a:p>
        </p:txBody>
      </p:sp>
      <p:sp>
        <p:nvSpPr>
          <p:cNvPr id="75" name="Text 37"/>
          <p:cNvSpPr/>
          <p:nvPr/>
        </p:nvSpPr>
        <p:spPr>
          <a:xfrm>
            <a:off x="457200" y="5886450"/>
            <a:ext cx="1127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"복잡한 언어모델보다 데이터 구조에 맞춘 경량 임베딩과 트리 기반 모델이 가장 효과적인 가격 예측 성능"</a:t>
            </a:r>
            <a:endParaRPr lang="en-US" sz="1050" dirty="0"/>
          </a:p>
        </p:txBody>
      </p:sp>
      <p:sp>
        <p:nvSpPr>
          <p:cNvPr id="76" name="Text 38"/>
          <p:cNvSpPr/>
          <p:nvPr/>
        </p:nvSpPr>
        <p:spPr>
          <a:xfrm>
            <a:off x="4322772" y="6548005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유형</a:t>
            </a:r>
            <a:endParaRPr lang="en-US" sz="900" dirty="0"/>
          </a:p>
        </p:txBody>
      </p:sp>
      <p:sp>
        <p:nvSpPr>
          <p:cNvPr id="77" name="Text 39"/>
          <p:cNvSpPr/>
          <p:nvPr/>
        </p:nvSpPr>
        <p:spPr>
          <a:xfrm>
            <a:off x="4467612" y="6700405"/>
            <a:ext cx="4343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</a:t>
            </a:r>
            <a:endParaRPr lang="en-US" sz="900" dirty="0"/>
          </a:p>
        </p:txBody>
      </p:sp>
      <p:sp>
        <p:nvSpPr>
          <p:cNvPr id="78" name="Text 40"/>
          <p:cNvSpPr/>
          <p:nvPr/>
        </p:nvSpPr>
        <p:spPr>
          <a:xfrm>
            <a:off x="5270778" y="6548005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유형</a:t>
            </a:r>
            <a:endParaRPr lang="en-US" sz="900" dirty="0"/>
          </a:p>
        </p:txBody>
      </p:sp>
      <p:sp>
        <p:nvSpPr>
          <p:cNvPr id="79" name="Text 41"/>
          <p:cNvSpPr/>
          <p:nvPr/>
        </p:nvSpPr>
        <p:spPr>
          <a:xfrm>
            <a:off x="5236652" y="6700405"/>
            <a:ext cx="6552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00" dirty="0"/>
          </a:p>
        </p:txBody>
      </p:sp>
      <p:sp>
        <p:nvSpPr>
          <p:cNvPr id="80" name="Text 42"/>
          <p:cNvSpPr/>
          <p:nvPr/>
        </p:nvSpPr>
        <p:spPr>
          <a:xfrm>
            <a:off x="6042000" y="6540501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방식</a:t>
            </a:r>
            <a:endParaRPr lang="en-US" sz="900" dirty="0"/>
          </a:p>
        </p:txBody>
      </p:sp>
      <p:sp>
        <p:nvSpPr>
          <p:cNvPr id="81" name="Text 43"/>
          <p:cNvSpPr/>
          <p:nvPr/>
        </p:nvSpPr>
        <p:spPr>
          <a:xfrm>
            <a:off x="6096000" y="6692901"/>
            <a:ext cx="7013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19.6% 검증</a:t>
            </a:r>
            <a:endParaRPr lang="en-US" sz="900" dirty="0"/>
          </a:p>
        </p:txBody>
      </p:sp>
      <p:sp>
        <p:nvSpPr>
          <p:cNvPr id="82" name="Text 44"/>
          <p:cNvSpPr/>
          <p:nvPr/>
        </p:nvSpPr>
        <p:spPr>
          <a:xfrm>
            <a:off x="7147500" y="6548005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</a:t>
            </a:r>
            <a:endParaRPr lang="en-US" sz="900" dirty="0"/>
          </a:p>
        </p:txBody>
      </p:sp>
      <p:sp>
        <p:nvSpPr>
          <p:cNvPr id="83" name="Text 45"/>
          <p:cNvSpPr/>
          <p:nvPr/>
        </p:nvSpPr>
        <p:spPr>
          <a:xfrm>
            <a:off x="6972107" y="6700405"/>
            <a:ext cx="93779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0.0123</a:t>
            </a:r>
            <a:endParaRPr lang="en-US" sz="900" dirty="0"/>
          </a:p>
        </p:txBody>
      </p:sp>
      <p:sp>
        <p:nvSpPr>
          <p:cNvPr id="84" name="Text 46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9/10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33450"/>
            <a:ext cx="5791200" cy="483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33475"/>
            <a:ext cx="1333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466850"/>
            <a:ext cx="54864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495550"/>
            <a:ext cx="54864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838450"/>
            <a:ext cx="54864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95650"/>
            <a:ext cx="54864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2786" y="3638550"/>
            <a:ext cx="1202829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7172" y="4210050"/>
            <a:ext cx="1973907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33450"/>
            <a:ext cx="5791200" cy="483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133475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466850"/>
            <a:ext cx="5486400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8084" y="2400300"/>
            <a:ext cx="797421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28731" y="2400300"/>
            <a:ext cx="78745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3638550"/>
            <a:ext cx="548640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4095750"/>
            <a:ext cx="548640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4552950"/>
            <a:ext cx="54864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5010150"/>
            <a:ext cx="54864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5153025"/>
            <a:ext cx="104775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600" y="5886450"/>
            <a:ext cx="11734800" cy="1485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6038850"/>
            <a:ext cx="29527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6115050"/>
            <a:ext cx="142875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6762750"/>
            <a:ext cx="114300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94384" y="68961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수치 해석 &amp; 한계점</a:t>
            </a:r>
            <a:endParaRPr lang="en-US" sz="2100" dirty="0"/>
          </a:p>
        </p:txBody>
      </p:sp>
      <p:sp>
        <p:nvSpPr>
          <p:cNvPr id="29" name="Text 1"/>
          <p:cNvSpPr/>
          <p:nvPr/>
        </p:nvSpPr>
        <p:spPr>
          <a:xfrm>
            <a:off x="590550" y="108585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수치 해석</a:t>
            </a:r>
            <a:endParaRPr lang="en-US" sz="1350" dirty="0"/>
          </a:p>
        </p:txBody>
      </p:sp>
      <p:sp>
        <p:nvSpPr>
          <p:cNvPr id="30" name="Text 2"/>
          <p:cNvSpPr/>
          <p:nvPr/>
        </p:nvSpPr>
        <p:spPr>
          <a:xfrm>
            <a:off x="495300" y="158115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프로젝트에서는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가격(price)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변환하여 학습했기 때문에 RMSLE 수치가 로그 공간에서 측정됩니다.</a:t>
            </a:r>
            <a:endParaRPr lang="en-US" sz="1050" dirty="0"/>
          </a:p>
        </p:txBody>
      </p:sp>
      <p:sp>
        <p:nvSpPr>
          <p:cNvPr id="31" name="Text 3"/>
          <p:cNvSpPr/>
          <p:nvPr/>
        </p:nvSpPr>
        <p:spPr>
          <a:xfrm>
            <a:off x="381000" y="2190750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계산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57200" y="2495550"/>
            <a:ext cx="95458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가격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1335584" y="2495550"/>
            <a:ext cx="30381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100원 → 110원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4075033" y="2495550"/>
            <a:ext cx="17923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차이: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10원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457200" y="2838450"/>
            <a:ext cx="95458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727948" y="2838450"/>
            <a:ext cx="364581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log(101) ≈ 4.615 → log(111) ≈ 4.709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4075033" y="2838450"/>
            <a:ext cx="17923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차이: </a:t>
            </a:r>
            <a:r>
              <a:rPr lang="en-US" sz="10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0.094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95300" y="340995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가격 차이 10원은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2402503" y="3638550"/>
            <a:ext cx="14433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100원 → 110원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495300" y="398145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공간에서는 차이가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1939781" y="4210050"/>
            <a:ext cx="23686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log(101) → log(111): 0.094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381000" y="4781550"/>
            <a:ext cx="5486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실험의 최적 모델 RMSLE ≈ 0.0123이 실제 가격 기준으로는 약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1~1.3%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수준의 상대 오차를 의미합니다.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6572250" y="108585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한계점 및 중요한 고려사항</a:t>
            </a:r>
            <a:endParaRPr lang="en-US" sz="1350" dirty="0"/>
          </a:p>
        </p:txBody>
      </p:sp>
      <p:sp>
        <p:nvSpPr>
          <p:cNvPr id="44" name="Text 16"/>
          <p:cNvSpPr/>
          <p:nvPr/>
        </p:nvSpPr>
        <p:spPr>
          <a:xfrm>
            <a:off x="6438900" y="158115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제한성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6438900" y="1791855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/>
              <a:t>RMSLE</a:t>
            </a:r>
            <a:r>
              <a:rPr lang="ko-KR" altLang="en-US" sz="1050" dirty="0"/>
              <a:t>는 </a:t>
            </a:r>
            <a:r>
              <a:rPr lang="en-US" altLang="ko-KR" sz="1050" dirty="0"/>
              <a:t>log(price+1) </a:t>
            </a:r>
            <a:r>
              <a:rPr lang="ko-KR" altLang="en-US" sz="1050" dirty="0"/>
              <a:t>변환 공간에서 계산되는 지표로</a:t>
            </a:r>
            <a:r>
              <a:rPr lang="en-US" altLang="ko-KR" sz="1050" dirty="0"/>
              <a:t>,</a:t>
            </a:r>
            <a:br>
              <a:rPr lang="en-US" altLang="ko-KR" sz="1050" dirty="0"/>
            </a:br>
            <a:r>
              <a:rPr lang="ko-KR" altLang="en-US" sz="1050" dirty="0"/>
              <a:t>원 가격 기준의 </a:t>
            </a:r>
            <a:r>
              <a:rPr lang="en-US" altLang="ko-KR" sz="1050" dirty="0"/>
              <a:t>RMSE</a:t>
            </a:r>
            <a:r>
              <a:rPr lang="ko-KR" altLang="en-US" sz="1050" dirty="0"/>
              <a:t>와 절대값 비교에는 적합하지 않다</a:t>
            </a:r>
            <a:r>
              <a:rPr lang="en-US" altLang="ko-KR" sz="1050" dirty="0"/>
              <a:t>.</a:t>
            </a:r>
            <a:br>
              <a:rPr lang="en-US" altLang="ko-KR" sz="1050" dirty="0"/>
            </a:br>
            <a:r>
              <a:rPr lang="ko-KR" altLang="en-US" sz="1050" dirty="0"/>
              <a:t>본 실험에서는 </a:t>
            </a:r>
            <a:r>
              <a:rPr lang="ko-KR" altLang="en-US" sz="1050" b="1" dirty="0"/>
              <a:t>동일한 </a:t>
            </a:r>
            <a:r>
              <a:rPr lang="ko-KR" altLang="en-US" sz="1050" b="1" dirty="0" err="1"/>
              <a:t>전처리</a:t>
            </a:r>
            <a:r>
              <a:rPr lang="ko-KR" altLang="en-US" sz="1050" b="1" dirty="0"/>
              <a:t> 및 로그 공간 내 모델 간 상대 비교 지표</a:t>
            </a:r>
            <a:r>
              <a:rPr lang="ko-KR" altLang="en-US" sz="1050" dirty="0"/>
              <a:t>로 활용하였다</a:t>
            </a:r>
            <a:r>
              <a:rPr lang="en-US" altLang="ko-KR" sz="1050" dirty="0"/>
              <a:t>.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8109781" y="2476500"/>
            <a:ext cx="7740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900" dirty="0"/>
          </a:p>
        </p:txBody>
      </p:sp>
      <p:sp>
        <p:nvSpPr>
          <p:cNvPr id="47" name="Text 19"/>
          <p:cNvSpPr/>
          <p:nvPr/>
        </p:nvSpPr>
        <p:spPr>
          <a:xfrm>
            <a:off x="8109781" y="2628900"/>
            <a:ext cx="7740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endParaRPr lang="en-US" sz="1500" dirty="0"/>
          </a:p>
        </p:txBody>
      </p:sp>
      <p:sp>
        <p:nvSpPr>
          <p:cNvPr id="48" name="Text 20"/>
          <p:cNvSpPr/>
          <p:nvPr/>
        </p:nvSpPr>
        <p:spPr>
          <a:xfrm>
            <a:off x="8109781" y="2895600"/>
            <a:ext cx="7740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</a:t>
            </a:r>
            <a:endParaRPr lang="en-US" sz="900" dirty="0"/>
          </a:p>
        </p:txBody>
      </p:sp>
      <p:sp>
        <p:nvSpPr>
          <p:cNvPr id="49" name="Text 21"/>
          <p:cNvSpPr/>
          <p:nvPr/>
        </p:nvSpPr>
        <p:spPr>
          <a:xfrm>
            <a:off x="9009805" y="2400300"/>
            <a:ext cx="12555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≠</a:t>
            </a:r>
            <a:endParaRPr lang="en-US" sz="1500" dirty="0"/>
          </a:p>
        </p:txBody>
      </p:sp>
      <p:sp>
        <p:nvSpPr>
          <p:cNvPr id="50" name="Text 22"/>
          <p:cNvSpPr/>
          <p:nvPr/>
        </p:nvSpPr>
        <p:spPr>
          <a:xfrm>
            <a:off x="9304931" y="2476500"/>
            <a:ext cx="635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900" dirty="0"/>
          </a:p>
        </p:txBody>
      </p:sp>
      <p:sp>
        <p:nvSpPr>
          <p:cNvPr id="51" name="Text 23"/>
          <p:cNvSpPr/>
          <p:nvPr/>
        </p:nvSpPr>
        <p:spPr>
          <a:xfrm>
            <a:off x="9304931" y="2628900"/>
            <a:ext cx="635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500" dirty="0"/>
          </a:p>
        </p:txBody>
      </p:sp>
      <p:sp>
        <p:nvSpPr>
          <p:cNvPr id="52" name="Text 24"/>
          <p:cNvSpPr/>
          <p:nvPr/>
        </p:nvSpPr>
        <p:spPr>
          <a:xfrm>
            <a:off x="9241426" y="2895600"/>
            <a:ext cx="762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 기준 추정</a:t>
            </a:r>
            <a:endParaRPr lang="en-US" sz="900" dirty="0"/>
          </a:p>
        </p:txBody>
      </p:sp>
      <p:sp>
        <p:nvSpPr>
          <p:cNvPr id="53" name="Text 25"/>
          <p:cNvSpPr/>
          <p:nvPr/>
        </p:nvSpPr>
        <p:spPr>
          <a:xfrm>
            <a:off x="6324600" y="3333750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인터프리테이션 중요성</a:t>
            </a:r>
            <a:endParaRPr lang="en-US" sz="1200" dirty="0"/>
          </a:p>
        </p:txBody>
      </p:sp>
      <p:sp>
        <p:nvSpPr>
          <p:cNvPr id="54" name="Text 26"/>
          <p:cNvSpPr/>
          <p:nvPr/>
        </p:nvSpPr>
        <p:spPr>
          <a:xfrm>
            <a:off x="6438900" y="371475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RMSLE가 낮다고 해서 실제 비즈니스 상황에서 가장 우수하다고 볼 수 없음</a:t>
            </a:r>
            <a:endParaRPr lang="en-US" sz="1050" dirty="0"/>
          </a:p>
        </p:txBody>
      </p:sp>
      <p:sp>
        <p:nvSpPr>
          <p:cNvPr id="55" name="Text 27"/>
          <p:cNvSpPr/>
          <p:nvPr/>
        </p:nvSpPr>
        <p:spPr>
          <a:xfrm>
            <a:off x="6438900" y="417195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오차 평가 방식: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로그 변환 성능을 원 단위 오차로 해석 필요</a:t>
            </a:r>
            <a:endParaRPr lang="en-US" sz="1050" dirty="0"/>
          </a:p>
        </p:txBody>
      </p:sp>
      <p:sp>
        <p:nvSpPr>
          <p:cNvPr id="56" name="Text 28"/>
          <p:cNvSpPr/>
          <p:nvPr/>
        </p:nvSpPr>
        <p:spPr>
          <a:xfrm>
            <a:off x="6438900" y="4629150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활용: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메트릭으로 동결시키기보다 병행 평가 필요</a:t>
            </a:r>
            <a:endParaRPr lang="en-US" sz="1050" dirty="0"/>
          </a:p>
        </p:txBody>
      </p:sp>
      <p:sp>
        <p:nvSpPr>
          <p:cNvPr id="57" name="Text 29"/>
          <p:cNvSpPr/>
          <p:nvPr/>
        </p:nvSpPr>
        <p:spPr>
          <a:xfrm>
            <a:off x="6581775" y="512445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실무적 활용: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 외 다른 메트릭(RMSE, MAE 등)을 함께 고려하여 사용하는 것이 적절함</a:t>
            </a:r>
            <a:endParaRPr lang="en-US" sz="1050" dirty="0"/>
          </a:p>
        </p:txBody>
      </p:sp>
      <p:sp>
        <p:nvSpPr>
          <p:cNvPr id="58" name="Text 30"/>
          <p:cNvSpPr/>
          <p:nvPr/>
        </p:nvSpPr>
        <p:spPr>
          <a:xfrm>
            <a:off x="828675" y="6038850"/>
            <a:ext cx="81820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수치 자체가 정확도를 대변하면 안 됨. 로그 변환 환경에서의 측정치이므로 실제 가격 기준으로 해석 필요"</a:t>
            </a:r>
            <a:endParaRPr lang="en-US" sz="1050" dirty="0"/>
          </a:p>
        </p:txBody>
      </p:sp>
      <p:sp>
        <p:nvSpPr>
          <p:cNvPr id="59" name="Text 31"/>
          <p:cNvSpPr/>
          <p:nvPr/>
        </p:nvSpPr>
        <p:spPr>
          <a:xfrm>
            <a:off x="828675" y="6324600"/>
            <a:ext cx="2984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= √(1/n × Σ(log(y+1) - log(ŷ+1))²)</a:t>
            </a:r>
            <a:endParaRPr lang="en-US" sz="1050" dirty="0"/>
          </a:p>
        </p:txBody>
      </p:sp>
      <p:sp>
        <p:nvSpPr>
          <p:cNvPr id="60" name="Text 32"/>
          <p:cNvSpPr/>
          <p:nvPr/>
        </p:nvSpPr>
        <p:spPr>
          <a:xfrm>
            <a:off x="828675" y="6496050"/>
            <a:ext cx="252516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y: 실제 가격, ŷ: 예측 가격</a:t>
            </a:r>
            <a:endParaRPr lang="en-US" sz="900" dirty="0"/>
          </a:p>
        </p:txBody>
      </p:sp>
      <p:sp>
        <p:nvSpPr>
          <p:cNvPr id="61" name="Text 33"/>
          <p:cNvSpPr/>
          <p:nvPr/>
        </p:nvSpPr>
        <p:spPr>
          <a:xfrm>
            <a:off x="1104900" y="6388966"/>
            <a:ext cx="11201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RMSLE는 로그 변환 환경에서 매우 효과적인 지표이지만, 수치 자체보다 의미 해석이 중요합니다."</a:t>
            </a:r>
            <a:endParaRPr lang="en-US" sz="1200" dirty="0"/>
          </a:p>
        </p:txBody>
      </p:sp>
      <p:sp>
        <p:nvSpPr>
          <p:cNvPr id="62" name="Text 34"/>
          <p:cNvSpPr/>
          <p:nvPr/>
        </p:nvSpPr>
        <p:spPr>
          <a:xfrm>
            <a:off x="11204972" y="6515100"/>
            <a:ext cx="8186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10/10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1760</Words>
  <Application>Microsoft Office PowerPoint</Application>
  <PresentationFormat>와이드스크린</PresentationFormat>
  <Paragraphs>282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TJ</cp:lastModifiedBy>
  <cp:revision>2</cp:revision>
  <dcterms:created xsi:type="dcterms:W3CDTF">2025-12-15T04:34:20Z</dcterms:created>
  <dcterms:modified xsi:type="dcterms:W3CDTF">2025-12-15T09:32:57Z</dcterms:modified>
</cp:coreProperties>
</file>