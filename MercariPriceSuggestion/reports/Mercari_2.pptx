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4-27.png"/><Relationship Id="rId28" Type="http://schemas.openxmlformats.org/officeDocument/2006/relationships/image" Target="../media/image-4-28.png"/><Relationship Id="rId29" Type="http://schemas.openxmlformats.org/officeDocument/2006/relationships/image" Target="../media/image-4-29.png"/><Relationship Id="rId30" Type="http://schemas.openxmlformats.org/officeDocument/2006/relationships/image" Target="../media/image-4-30.png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png"/><Relationship Id="rId24" Type="http://schemas.openxmlformats.org/officeDocument/2006/relationships/image" Target="../media/image-5-24.png"/><Relationship Id="rId25" Type="http://schemas.openxmlformats.org/officeDocument/2006/relationships/slideLayout" Target="../slideLayouts/slideLayout1.xml"/><Relationship Id="rId2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image" Target="../media/image-6-21.png"/><Relationship Id="rId22" Type="http://schemas.openxmlformats.org/officeDocument/2006/relationships/image" Target="../media/image-6-22.png"/><Relationship Id="rId23" Type="http://schemas.openxmlformats.org/officeDocument/2006/relationships/image" Target="../media/image-6-23.png"/><Relationship Id="rId24" Type="http://schemas.openxmlformats.org/officeDocument/2006/relationships/image" Target="../media/image-6-24.png"/><Relationship Id="rId25" Type="http://schemas.openxmlformats.org/officeDocument/2006/relationships/image" Target="../media/image-6-25.png"/><Relationship Id="rId26" Type="http://schemas.openxmlformats.org/officeDocument/2006/relationships/image" Target="../media/image-6-26.png"/><Relationship Id="rId27" Type="http://schemas.openxmlformats.org/officeDocument/2006/relationships/image" Target="../media/image-6-27.png"/><Relationship Id="rId28" Type="http://schemas.openxmlformats.org/officeDocument/2006/relationships/image" Target="../media/image-6-28.png"/><Relationship Id="rId29" Type="http://schemas.openxmlformats.org/officeDocument/2006/relationships/image" Target="../media/image-6-29.png"/><Relationship Id="rId30" Type="http://schemas.openxmlformats.org/officeDocument/2006/relationships/image" Target="../media/image-6-30.png"/><Relationship Id="rId31" Type="http://schemas.openxmlformats.org/officeDocument/2006/relationships/image" Target="../media/image-6-31.png"/><Relationship Id="rId32" Type="http://schemas.openxmlformats.org/officeDocument/2006/relationships/image" Target="../media/image-6-32.png"/><Relationship Id="rId33" Type="http://schemas.openxmlformats.org/officeDocument/2006/relationships/image" Target="../media/image-6-33.png"/><Relationship Id="rId34" Type="http://schemas.openxmlformats.org/officeDocument/2006/relationships/image" Target="../media/image-6-34.png"/><Relationship Id="rId35" Type="http://schemas.openxmlformats.org/officeDocument/2006/relationships/image" Target="../media/image-6-35.png"/><Relationship Id="rId36" Type="http://schemas.openxmlformats.org/officeDocument/2006/relationships/image" Target="../media/image-6-36.png"/><Relationship Id="rId37" Type="http://schemas.openxmlformats.org/officeDocument/2006/relationships/image" Target="../media/image-6-37.png"/><Relationship Id="rId38" Type="http://schemas.openxmlformats.org/officeDocument/2006/relationships/image" Target="../media/image-6-38.png"/><Relationship Id="rId39" Type="http://schemas.openxmlformats.org/officeDocument/2006/relationships/image" Target="../media/image-6-39.png"/><Relationship Id="rId40" Type="http://schemas.openxmlformats.org/officeDocument/2006/relationships/image" Target="../media/image-6-40.png"/><Relationship Id="rId41" Type="http://schemas.openxmlformats.org/officeDocument/2006/relationships/image" Target="../media/image-6-41.png"/><Relationship Id="rId42" Type="http://schemas.openxmlformats.org/officeDocument/2006/relationships/image" Target="../media/image-6-42.png"/><Relationship Id="rId43" Type="http://schemas.openxmlformats.org/officeDocument/2006/relationships/image" Target="../media/image-6-43.png"/><Relationship Id="rId44" Type="http://schemas.openxmlformats.org/officeDocument/2006/relationships/image" Target="../media/image-6-44.png"/><Relationship Id="rId45" Type="http://schemas.openxmlformats.org/officeDocument/2006/relationships/image" Target="../media/image-6-45.png"/><Relationship Id="rId46" Type="http://schemas.openxmlformats.org/officeDocument/2006/relationships/image" Target="../media/image-6-46.png"/><Relationship Id="rId47" Type="http://schemas.openxmlformats.org/officeDocument/2006/relationships/image" Target="../media/image-6-47.png"/><Relationship Id="rId48" Type="http://schemas.openxmlformats.org/officeDocument/2006/relationships/image" Target="../media/image-6-48.png"/><Relationship Id="rId49" Type="http://schemas.openxmlformats.org/officeDocument/2006/relationships/image" Target="../media/image-6-49.png"/><Relationship Id="rId50" Type="http://schemas.openxmlformats.org/officeDocument/2006/relationships/slideLayout" Target="../slideLayouts/slideLayout1.xml"/><Relationship Id="rId5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image" Target="../media/image-7-27.png"/><Relationship Id="rId28" Type="http://schemas.openxmlformats.org/officeDocument/2006/relationships/image" Target="../media/image-7-28.png"/><Relationship Id="rId29" Type="http://schemas.openxmlformats.org/officeDocument/2006/relationships/image" Target="../media/image-7-29.png"/><Relationship Id="rId30" Type="http://schemas.openxmlformats.org/officeDocument/2006/relationships/image" Target="../media/image-7-30.png"/><Relationship Id="rId31" Type="http://schemas.openxmlformats.org/officeDocument/2006/relationships/image" Target="../media/image-7-31.png"/><Relationship Id="rId32" Type="http://schemas.openxmlformats.org/officeDocument/2006/relationships/image" Target="../media/image-7-32.png"/><Relationship Id="rId33" Type="http://schemas.openxmlformats.org/officeDocument/2006/relationships/image" Target="../media/image-7-33.png"/><Relationship Id="rId34" Type="http://schemas.openxmlformats.org/officeDocument/2006/relationships/image" Target="../media/image-7-34.png"/><Relationship Id="rId35" Type="http://schemas.openxmlformats.org/officeDocument/2006/relationships/image" Target="../media/image-7-35.png"/><Relationship Id="rId36" Type="http://schemas.openxmlformats.org/officeDocument/2006/relationships/image" Target="../media/image-7-36.png"/><Relationship Id="rId37" Type="http://schemas.openxmlformats.org/officeDocument/2006/relationships/image" Target="../media/image-7-37.png"/><Relationship Id="rId38" Type="http://schemas.openxmlformats.org/officeDocument/2006/relationships/image" Target="../media/image-7-38.png"/><Relationship Id="rId39" Type="http://schemas.openxmlformats.org/officeDocument/2006/relationships/image" Target="../media/image-7-39.png"/><Relationship Id="rId40" Type="http://schemas.openxmlformats.org/officeDocument/2006/relationships/image" Target="../media/image-7-40.png"/><Relationship Id="rId41" Type="http://schemas.openxmlformats.org/officeDocument/2006/relationships/image" Target="../media/image-7-41.png"/><Relationship Id="rId42" Type="http://schemas.openxmlformats.org/officeDocument/2006/relationships/image" Target="../media/image-7-42.png"/><Relationship Id="rId43" Type="http://schemas.openxmlformats.org/officeDocument/2006/relationships/slideLayout" Target="../slideLayouts/slideLayout1.xml"/><Relationship Id="rId4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1.png"/><Relationship Id="rId22" Type="http://schemas.openxmlformats.org/officeDocument/2006/relationships/image" Target="../media/image-8-22.png"/><Relationship Id="rId23" Type="http://schemas.openxmlformats.org/officeDocument/2006/relationships/image" Target="../media/image-8-23.png"/><Relationship Id="rId24" Type="http://schemas.openxmlformats.org/officeDocument/2006/relationships/image" Target="../media/image-8-24.png"/><Relationship Id="rId25" Type="http://schemas.openxmlformats.org/officeDocument/2006/relationships/image" Target="../media/image-8-25.png"/><Relationship Id="rId26" Type="http://schemas.openxmlformats.org/officeDocument/2006/relationships/image" Target="../media/image-8-26.png"/><Relationship Id="rId27" Type="http://schemas.openxmlformats.org/officeDocument/2006/relationships/image" Target="../media/image-8-27.png"/><Relationship Id="rId28" Type="http://schemas.openxmlformats.org/officeDocument/2006/relationships/image" Target="../media/image-8-28.png"/><Relationship Id="rId29" Type="http://schemas.openxmlformats.org/officeDocument/2006/relationships/image" Target="../media/image-8-29.png"/><Relationship Id="rId30" Type="http://schemas.openxmlformats.org/officeDocument/2006/relationships/image" Target="../media/image-8-30.png"/><Relationship Id="rId31" Type="http://schemas.openxmlformats.org/officeDocument/2006/relationships/image" Target="../media/image-8-31.png"/><Relationship Id="rId32" Type="http://schemas.openxmlformats.org/officeDocument/2006/relationships/image" Target="../media/image-8-32.png"/><Relationship Id="rId33" Type="http://schemas.openxmlformats.org/officeDocument/2006/relationships/image" Target="../media/image-8-33.png"/><Relationship Id="rId34" Type="http://schemas.openxmlformats.org/officeDocument/2006/relationships/slideLayout" Target="../slideLayouts/slideLayout1.xml"/><Relationship Id="rId3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5.png"/><Relationship Id="rId26" Type="http://schemas.openxmlformats.org/officeDocument/2006/relationships/image" Target="../media/image-9-26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9-29.png"/><Relationship Id="rId30" Type="http://schemas.openxmlformats.org/officeDocument/2006/relationships/image" Target="../media/image-9-30.png"/><Relationship Id="rId31" Type="http://schemas.openxmlformats.org/officeDocument/2006/relationships/image" Target="../media/image-9-31.png"/><Relationship Id="rId32" Type="http://schemas.openxmlformats.org/officeDocument/2006/relationships/image" Target="../media/image-9-32.png"/><Relationship Id="rId33" Type="http://schemas.openxmlformats.org/officeDocument/2006/relationships/image" Target="../media/image-9-33.png"/><Relationship Id="rId34" Type="http://schemas.openxmlformats.org/officeDocument/2006/relationships/image" Target="../media/image-9-34.png"/><Relationship Id="rId35" Type="http://schemas.openxmlformats.org/officeDocument/2006/relationships/image" Target="../media/image-9-35.png"/><Relationship Id="rId36" Type="http://schemas.openxmlformats.org/officeDocument/2006/relationships/image" Target="../media/image-9-36.png"/><Relationship Id="rId37" Type="http://schemas.openxmlformats.org/officeDocument/2006/relationships/image" Target="../media/image-9-37.pn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image" Target="../media/image-10-21.png"/><Relationship Id="rId22" Type="http://schemas.openxmlformats.org/officeDocument/2006/relationships/image" Target="../media/image-10-22.png"/><Relationship Id="rId23" Type="http://schemas.openxmlformats.org/officeDocument/2006/relationships/image" Target="../media/image-10-23.png"/><Relationship Id="rId24" Type="http://schemas.openxmlformats.org/officeDocument/2006/relationships/image" Target="../media/image-10-24.png"/><Relationship Id="rId25" Type="http://schemas.openxmlformats.org/officeDocument/2006/relationships/image" Target="../media/image-10-25.png"/><Relationship Id="rId26" Type="http://schemas.openxmlformats.org/officeDocument/2006/relationships/image" Target="../media/image-10-26.png"/><Relationship Id="rId27" Type="http://schemas.openxmlformats.org/officeDocument/2006/relationships/image" Target="../media/image-10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9144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943600"/>
            <a:ext cx="12192000" cy="9144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0" y="17145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0" y="51435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4000" y="51435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51435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38800" y="2933700"/>
            <a:ext cx="914400" cy="381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57800" y="4152900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91150" y="4248150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67400" y="4152900"/>
            <a:ext cx="457200" cy="4572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10275" y="4248150"/>
            <a:ext cx="171450" cy="2667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77000" y="4152900"/>
            <a:ext cx="457200" cy="4572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586538" y="4248150"/>
            <a:ext cx="238125" cy="266700"/>
          </a:xfrm>
          <a:prstGeom prst="rect">
            <a:avLst/>
          </a:prstGeom>
        </p:spPr>
      </p:pic>
      <p:sp>
        <p:nvSpPr>
          <p:cNvPr id="20" name="Text 0"/>
          <p:cNvSpPr/>
          <p:nvPr/>
        </p:nvSpPr>
        <p:spPr>
          <a:xfrm>
            <a:off x="615315" y="2247900"/>
            <a:ext cx="10961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중고 상품 가격 예측 머신러닝 프로젝트</a:t>
            </a:r>
            <a:endParaRPr lang="en-US" sz="3600" dirty="0"/>
          </a:p>
        </p:txBody>
      </p:sp>
      <p:sp>
        <p:nvSpPr>
          <p:cNvPr id="21" name="Text 1"/>
          <p:cNvSpPr/>
          <p:nvPr/>
        </p:nvSpPr>
        <p:spPr>
          <a:xfrm>
            <a:off x="615315" y="3200400"/>
            <a:ext cx="1096137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머신러닝을 활용한 중고 상품 가격 예측 모델 구축</a:t>
            </a:r>
            <a:endParaRPr lang="en-US" sz="2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858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428750"/>
            <a:ext cx="5486400" cy="21717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657350"/>
            <a:ext cx="221307" cy="47625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129" y="1762125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1428750"/>
            <a:ext cx="5486400" cy="21717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657350"/>
            <a:ext cx="291405" cy="47625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7453" y="1762125"/>
            <a:ext cx="190500" cy="2667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3829050"/>
            <a:ext cx="11277600" cy="11049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4095750"/>
            <a:ext cx="190500" cy="1905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5800" y="45148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20065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5581650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5581650"/>
            <a:ext cx="114300" cy="1524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5581650"/>
            <a:ext cx="114300" cy="1524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457200" y="457200"/>
            <a:ext cx="11277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 및 문제 정의</a:t>
            </a:r>
            <a:endParaRPr lang="en-US" sz="2100" dirty="0"/>
          </a:p>
        </p:txBody>
      </p:sp>
      <p:sp>
        <p:nvSpPr>
          <p:cNvPr id="19" name="Text 1"/>
          <p:cNvSpPr/>
          <p:nvPr/>
        </p:nvSpPr>
        <p:spPr>
          <a:xfrm>
            <a:off x="1059507" y="1657350"/>
            <a:ext cx="46554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20" name="Text 2"/>
          <p:cNvSpPr/>
          <p:nvPr/>
        </p:nvSpPr>
        <p:spPr>
          <a:xfrm>
            <a:off x="1059507" y="2000250"/>
            <a:ext cx="46554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Price Suggestion Challenge는 중고 거래 플랫폼 Mercari에 등록된 상품 정보를 기반으로 상품 판매 가격을 예측하는 머신러닝 회귀 문제이다.</a:t>
            </a:r>
            <a:endParaRPr lang="en-US" sz="1200" dirty="0"/>
          </a:p>
        </p:txBody>
      </p:sp>
      <p:sp>
        <p:nvSpPr>
          <p:cNvPr id="21" name="Text 3"/>
          <p:cNvSpPr/>
          <p:nvPr/>
        </p:nvSpPr>
        <p:spPr>
          <a:xfrm>
            <a:off x="1059507" y="2686050"/>
            <a:ext cx="46554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상품명·상품 설명과 같은 비정형 텍스트 데이터와 카테고리, 브랜드, 배송 여부 등의 정형 데이터가 함께 제공된다.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6920805" y="1657350"/>
            <a:ext cx="458539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특성</a:t>
            </a:r>
            <a:endParaRPr lang="en-US" sz="1500" dirty="0"/>
          </a:p>
        </p:txBody>
      </p:sp>
      <p:sp>
        <p:nvSpPr>
          <p:cNvPr id="23" name="Text 5"/>
          <p:cNvSpPr/>
          <p:nvPr/>
        </p:nvSpPr>
        <p:spPr>
          <a:xfrm>
            <a:off x="6920805" y="2000250"/>
            <a:ext cx="4585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중고 상품 가격은 오른쪽으로 치우친 비대칭 분포를 가지며 저가 상품이 다수를 차지하고 고가 상품은 소수 존재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6920805" y="2457450"/>
            <a:ext cx="55024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카테고리 내에서도 브랜드·설명 방식에 따라 가격 편차가 큼</a:t>
            </a:r>
            <a:endParaRPr lang="en-US" sz="1200" dirty="0"/>
          </a:p>
        </p:txBody>
      </p:sp>
      <p:sp>
        <p:nvSpPr>
          <p:cNvPr id="25" name="Text 7"/>
          <p:cNvSpPr/>
          <p:nvPr/>
        </p:nvSpPr>
        <p:spPr>
          <a:xfrm>
            <a:off x="6920805" y="2762250"/>
            <a:ext cx="45853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이러한 특성으로 인해 단순 회귀 모델은 고가 상품 예측에서 한계를 가진다.</a:t>
            </a:r>
            <a:endParaRPr lang="en-US" sz="1200" dirty="0"/>
          </a:p>
        </p:txBody>
      </p:sp>
      <p:sp>
        <p:nvSpPr>
          <p:cNvPr id="26" name="Text 8"/>
          <p:cNvSpPr/>
          <p:nvPr/>
        </p:nvSpPr>
        <p:spPr>
          <a:xfrm>
            <a:off x="990600" y="4057650"/>
            <a:ext cx="10820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500" dirty="0"/>
          </a:p>
        </p:txBody>
      </p:sp>
      <p:sp>
        <p:nvSpPr>
          <p:cNvPr id="27" name="Text 9"/>
          <p:cNvSpPr/>
          <p:nvPr/>
        </p:nvSpPr>
        <p:spPr>
          <a:xfrm>
            <a:off x="914400" y="4476750"/>
            <a:ext cx="102212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피처와 구조적 피처를 효과적으로 결합하여 RMSLE 기준 오차를 최소화하는 가격 예측 모델을 구축하는 것이 목표이다.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762000" y="5162550"/>
            <a:ext cx="11277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구성 요소</a:t>
            </a:r>
            <a:endParaRPr lang="en-US" sz="1500" dirty="0"/>
          </a:p>
        </p:txBody>
      </p:sp>
      <p:sp>
        <p:nvSpPr>
          <p:cNvPr id="29" name="Text 11"/>
          <p:cNvSpPr/>
          <p:nvPr/>
        </p:nvSpPr>
        <p:spPr>
          <a:xfrm>
            <a:off x="666750" y="5543550"/>
            <a:ext cx="3373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학습 데이터: 총 1,482,535개 상품</a:t>
            </a:r>
            <a:endParaRPr lang="en-US" sz="1200" dirty="0"/>
          </a:p>
        </p:txBody>
      </p:sp>
      <p:sp>
        <p:nvSpPr>
          <p:cNvPr id="30" name="Text 12"/>
          <p:cNvSpPr/>
          <p:nvPr/>
        </p:nvSpPr>
        <p:spPr>
          <a:xfrm>
            <a:off x="4457700" y="5543550"/>
            <a:ext cx="2682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비정형 텍스트: 상품명, 상품 설명</a:t>
            </a:r>
            <a:endParaRPr lang="en-US" sz="1200" dirty="0"/>
          </a:p>
        </p:txBody>
      </p:sp>
      <p:sp>
        <p:nvSpPr>
          <p:cNvPr id="31" name="Text 13"/>
          <p:cNvSpPr/>
          <p:nvPr/>
        </p:nvSpPr>
        <p:spPr>
          <a:xfrm>
            <a:off x="8267700" y="5543550"/>
            <a:ext cx="3617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피처: 카테고리, 브랜드, 상태, 배송 여부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0096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76350"/>
            <a:ext cx="5600700" cy="1905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466850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275" y="1524000"/>
            <a:ext cx="171450" cy="2667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0300" y="1276350"/>
            <a:ext cx="5600700" cy="19050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1466850"/>
            <a:ext cx="381000" cy="3810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575" y="1524000"/>
            <a:ext cx="171450" cy="2667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3409950"/>
            <a:ext cx="11430000" cy="16764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3943350"/>
            <a:ext cx="304800" cy="3048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50" y="4019550"/>
            <a:ext cx="190500" cy="1524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8400" y="3943350"/>
            <a:ext cx="304800" cy="3048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4019550"/>
            <a:ext cx="152400" cy="1524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 및 모델링 관점</a:t>
            </a:r>
            <a:endParaRPr lang="en-US" sz="2100" dirty="0"/>
          </a:p>
        </p:txBody>
      </p:sp>
      <p:sp>
        <p:nvSpPr>
          <p:cNvPr id="17" name="Text 1"/>
          <p:cNvSpPr/>
          <p:nvPr/>
        </p:nvSpPr>
        <p:spPr>
          <a:xfrm>
            <a:off x="1104900" y="1466850"/>
            <a:ext cx="28116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구성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104900" y="1809750"/>
            <a:ext cx="3373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학습 데이터: 총 1,482,535개 상품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1181100" y="2114550"/>
            <a:ext cx="1549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데이터:</a:t>
            </a:r>
            <a:endParaRPr lang="en-US" sz="1200" dirty="0"/>
          </a:p>
        </p:txBody>
      </p:sp>
      <p:sp>
        <p:nvSpPr>
          <p:cNvPr id="20" name="Text 4"/>
          <p:cNvSpPr/>
          <p:nvPr/>
        </p:nvSpPr>
        <p:spPr>
          <a:xfrm>
            <a:off x="1257300" y="2343150"/>
            <a:ext cx="14583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상품명, 상품 설명</a:t>
            </a:r>
            <a:endParaRPr lang="en-US" sz="1050" dirty="0"/>
          </a:p>
        </p:txBody>
      </p:sp>
      <p:sp>
        <p:nvSpPr>
          <p:cNvPr id="21" name="Text 5"/>
          <p:cNvSpPr/>
          <p:nvPr/>
        </p:nvSpPr>
        <p:spPr>
          <a:xfrm>
            <a:off x="1181100" y="2571750"/>
            <a:ext cx="1549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범주형 데이터:</a:t>
            </a:r>
            <a:endParaRPr lang="en-US" sz="1200" dirty="0"/>
          </a:p>
        </p:txBody>
      </p:sp>
      <p:sp>
        <p:nvSpPr>
          <p:cNvPr id="22" name="Text 6"/>
          <p:cNvSpPr/>
          <p:nvPr/>
        </p:nvSpPr>
        <p:spPr>
          <a:xfrm>
            <a:off x="1257300" y="2800350"/>
            <a:ext cx="14583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카테고리, 브랜드</a:t>
            </a:r>
            <a:endParaRPr lang="en-US" sz="1050" dirty="0"/>
          </a:p>
        </p:txBody>
      </p:sp>
      <p:sp>
        <p:nvSpPr>
          <p:cNvPr id="23" name="Text 7"/>
          <p:cNvSpPr/>
          <p:nvPr/>
        </p:nvSpPr>
        <p:spPr>
          <a:xfrm>
            <a:off x="2625030" y="2114550"/>
            <a:ext cx="15498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수치/이진 데이터: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2701230" y="2343150"/>
            <a:ext cx="14583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상태, 배송 여부</a:t>
            </a:r>
            <a:endParaRPr lang="en-US" sz="1050" dirty="0"/>
          </a:p>
        </p:txBody>
      </p:sp>
      <p:sp>
        <p:nvSpPr>
          <p:cNvPr id="25" name="Text 9"/>
          <p:cNvSpPr/>
          <p:nvPr/>
        </p:nvSpPr>
        <p:spPr>
          <a:xfrm>
            <a:off x="6934200" y="1466850"/>
            <a:ext cx="349686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피처의 중요성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6934200" y="1809750"/>
            <a:ext cx="41962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상품의 상태, 브랜드, 사용감 등 가격 결정 정보가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6934200" y="2038350"/>
            <a:ext cx="41962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컬럼보다 텍스트 설명에 더 많이 포함되어 있음</a:t>
            </a:r>
            <a:endParaRPr lang="en-US" sz="1200" dirty="0"/>
          </a:p>
        </p:txBody>
      </p:sp>
      <p:sp>
        <p:nvSpPr>
          <p:cNvPr id="28" name="Text 12"/>
          <p:cNvSpPr/>
          <p:nvPr/>
        </p:nvSpPr>
        <p:spPr>
          <a:xfrm>
            <a:off x="6934200" y="2305050"/>
            <a:ext cx="41962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TF-IDF 및 임베딩 기반 텍스트 표현 기법 활용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571500" y="3600450"/>
            <a:ext cx="11049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및 평가 기준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952500" y="3981450"/>
            <a:ext cx="965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방법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762000" y="4324350"/>
            <a:ext cx="62179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회귀 트리 기반 모델 사용 (LightGBM, XGBoost 등)</a:t>
            </a:r>
            <a:endParaRPr lang="en-US" sz="1050" dirty="0"/>
          </a:p>
        </p:txBody>
      </p:sp>
      <p:sp>
        <p:nvSpPr>
          <p:cNvPr id="32" name="Text 16"/>
          <p:cNvSpPr/>
          <p:nvPr/>
        </p:nvSpPr>
        <p:spPr>
          <a:xfrm>
            <a:off x="762000" y="4514850"/>
            <a:ext cx="5181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텍스트: TF-IDF, 임베딩 기반 표현 기법</a:t>
            </a:r>
            <a:endParaRPr lang="en-US" sz="1050" dirty="0"/>
          </a:p>
        </p:txBody>
      </p:sp>
      <p:sp>
        <p:nvSpPr>
          <p:cNvPr id="33" name="Text 17"/>
          <p:cNvSpPr/>
          <p:nvPr/>
        </p:nvSpPr>
        <p:spPr>
          <a:xfrm>
            <a:off x="762000" y="4705350"/>
            <a:ext cx="5181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정형 데이터: Label, One-Hot Encoding</a:t>
            </a:r>
            <a:endParaRPr lang="en-US" sz="1050" dirty="0"/>
          </a:p>
        </p:txBody>
      </p:sp>
      <p:sp>
        <p:nvSpPr>
          <p:cNvPr id="34" name="Text 18"/>
          <p:cNvSpPr/>
          <p:nvPr/>
        </p:nvSpPr>
        <p:spPr>
          <a:xfrm>
            <a:off x="6629400" y="3981450"/>
            <a:ext cx="7824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</a:t>
            </a:r>
            <a:endParaRPr lang="en-US" sz="1200" dirty="0"/>
          </a:p>
        </p:txBody>
      </p:sp>
      <p:sp>
        <p:nvSpPr>
          <p:cNvPr id="35" name="Text 19"/>
          <p:cNvSpPr/>
          <p:nvPr/>
        </p:nvSpPr>
        <p:spPr>
          <a:xfrm>
            <a:off x="6629400" y="4324350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(회귀 모델의 경우):</a:t>
            </a:r>
            <a:endParaRPr lang="en-US" sz="1050" dirty="0"/>
          </a:p>
        </p:txBody>
      </p:sp>
      <p:sp>
        <p:nvSpPr>
          <p:cNvPr id="36" name="Text 20"/>
          <p:cNvSpPr/>
          <p:nvPr/>
        </p:nvSpPr>
        <p:spPr>
          <a:xfrm>
            <a:off x="6705600" y="4514850"/>
            <a:ext cx="491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스케일의 오차를 측정</a:t>
            </a:r>
            <a:endParaRPr lang="en-US" sz="1050" dirty="0"/>
          </a:p>
        </p:txBody>
      </p:sp>
      <p:sp>
        <p:nvSpPr>
          <p:cNvPr id="37" name="Text 21"/>
          <p:cNvSpPr/>
          <p:nvPr/>
        </p:nvSpPr>
        <p:spPr>
          <a:xfrm>
            <a:off x="6705600" y="4705350"/>
            <a:ext cx="4914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비대칭 가격 분포에 적합</a:t>
            </a:r>
            <a:endParaRPr lang="en-US" sz="1050" dirty="0"/>
          </a:p>
        </p:txBody>
      </p:sp>
      <p:sp>
        <p:nvSpPr>
          <p:cNvPr id="38" name="Text 22"/>
          <p:cNvSpPr/>
          <p:nvPr/>
        </p:nvSpPr>
        <p:spPr>
          <a:xfrm>
            <a:off x="11353205" y="18707100"/>
            <a:ext cx="6407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3/9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10565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10565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858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52550"/>
            <a:ext cx="5486400" cy="31242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581150"/>
            <a:ext cx="273993" cy="4572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472" y="167640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2193" y="2495550"/>
            <a:ext cx="4602807" cy="9525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94621" y="2571750"/>
            <a:ext cx="2244328" cy="8001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1352550"/>
            <a:ext cx="5486400" cy="31242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1581150"/>
            <a:ext cx="379809" cy="4572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1655" y="1676400"/>
            <a:ext cx="190500" cy="2667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09209" y="1962150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09209" y="226695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09209" y="280035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09209" y="3067050"/>
            <a:ext cx="4496991" cy="6096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85409" y="318135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09209" y="3790950"/>
            <a:ext cx="4496991" cy="3429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4629150"/>
            <a:ext cx="11277600" cy="20193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47700" y="4857750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" y="5505450"/>
            <a:ext cx="10896600" cy="381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" y="5200650"/>
            <a:ext cx="1524000" cy="125730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04900" y="5200650"/>
            <a:ext cx="609600" cy="6096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14450" y="5372100"/>
            <a:ext cx="190500" cy="2667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334000" y="5295900"/>
            <a:ext cx="1524000" cy="10668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791200" y="5295900"/>
            <a:ext cx="609600" cy="6096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000750" y="5467350"/>
            <a:ext cx="190500" cy="266700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020300" y="5295900"/>
            <a:ext cx="1524000" cy="1066800"/>
          </a:xfrm>
          <a:prstGeom prst="rect">
            <a:avLst/>
          </a:prstGeom>
        </p:spPr>
      </p:pic>
      <p:pic>
        <p:nvPicPr>
          <p:cNvPr id="29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477500" y="5295900"/>
            <a:ext cx="609600" cy="609600"/>
          </a:xfrm>
          <a:prstGeom prst="rect">
            <a:avLst/>
          </a:prstGeom>
        </p:spPr>
      </p:pic>
      <p:pic>
        <p:nvPicPr>
          <p:cNvPr id="30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687050" y="5467350"/>
            <a:ext cx="190500" cy="266700"/>
          </a:xfrm>
          <a:prstGeom prst="rect">
            <a:avLst/>
          </a:prstGeom>
        </p:spPr>
      </p:pic>
      <p:sp>
        <p:nvSpPr>
          <p:cNvPr id="31" name="Text 0"/>
          <p:cNvSpPr/>
          <p:nvPr/>
        </p:nvSpPr>
        <p:spPr>
          <a:xfrm>
            <a:off x="457200" y="457200"/>
            <a:ext cx="11277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전처리</a:t>
            </a:r>
            <a:endParaRPr lang="en-US" sz="2100" dirty="0"/>
          </a:p>
        </p:txBody>
      </p:sp>
      <p:sp>
        <p:nvSpPr>
          <p:cNvPr id="32" name="Text 1"/>
          <p:cNvSpPr/>
          <p:nvPr/>
        </p:nvSpPr>
        <p:spPr>
          <a:xfrm>
            <a:off x="1112193" y="1581150"/>
            <a:ext cx="46028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EDA: 가격 분포 특성</a:t>
            </a:r>
            <a:endParaRPr lang="en-US" sz="1500" dirty="0"/>
          </a:p>
        </p:txBody>
      </p:sp>
      <p:sp>
        <p:nvSpPr>
          <p:cNvPr id="33" name="Text 2"/>
          <p:cNvSpPr/>
          <p:nvPr/>
        </p:nvSpPr>
        <p:spPr>
          <a:xfrm>
            <a:off x="1112193" y="1924050"/>
            <a:ext cx="4602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가격은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973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저가 상품 다수 + 고가 상품 소수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구성된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A85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롱테일(long-tail)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구조이며,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973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양의 왜도(skewness &gt; 0)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가진다.</a:t>
            </a:r>
            <a:endParaRPr lang="en-US" sz="1200" dirty="0"/>
          </a:p>
        </p:txBody>
      </p:sp>
      <p:sp>
        <p:nvSpPr>
          <p:cNvPr id="34" name="Text 3"/>
          <p:cNvSpPr/>
          <p:nvPr/>
        </p:nvSpPr>
        <p:spPr>
          <a:xfrm>
            <a:off x="1188393" y="2571750"/>
            <a:ext cx="25103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 Price 분포</a:t>
            </a:r>
            <a:endParaRPr lang="en-US" sz="900" dirty="0"/>
          </a:p>
        </p:txBody>
      </p:sp>
      <p:sp>
        <p:nvSpPr>
          <p:cNvPr id="35" name="Text 4"/>
          <p:cNvSpPr/>
          <p:nvPr/>
        </p:nvSpPr>
        <p:spPr>
          <a:xfrm>
            <a:off x="3547021" y="2571750"/>
            <a:ext cx="25103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Log(Price+1) 변환</a:t>
            </a:r>
            <a:endParaRPr lang="en-US" sz="900" dirty="0"/>
          </a:p>
        </p:txBody>
      </p:sp>
      <p:sp>
        <p:nvSpPr>
          <p:cNvPr id="36" name="Text 5"/>
          <p:cNvSpPr/>
          <p:nvPr/>
        </p:nvSpPr>
        <p:spPr>
          <a:xfrm>
            <a:off x="7009209" y="1581150"/>
            <a:ext cx="449699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변환의 필요성</a:t>
            </a:r>
            <a:endParaRPr lang="en-US" sz="1500" dirty="0"/>
          </a:p>
        </p:txBody>
      </p:sp>
      <p:sp>
        <p:nvSpPr>
          <p:cNvPr id="37" name="Text 6"/>
          <p:cNvSpPr/>
          <p:nvPr/>
        </p:nvSpPr>
        <p:spPr>
          <a:xfrm>
            <a:off x="7237809" y="1924050"/>
            <a:ext cx="3698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 안정화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왜도 감소, 정규 분포에 가까워짐</a:t>
            </a:r>
            <a:endParaRPr lang="en-US" sz="1200" dirty="0"/>
          </a:p>
        </p:txBody>
      </p:sp>
      <p:sp>
        <p:nvSpPr>
          <p:cNvPr id="38" name="Text 7"/>
          <p:cNvSpPr/>
          <p:nvPr/>
        </p:nvSpPr>
        <p:spPr>
          <a:xfrm>
            <a:off x="7237809" y="2228850"/>
            <a:ext cx="42683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 샘플 영향 완화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극단적인 고가(outlier)가 분포 시각화를 왜곡함</a:t>
            </a:r>
            <a:endParaRPr lang="en-US" sz="1200" dirty="0"/>
          </a:p>
        </p:txBody>
      </p:sp>
      <p:sp>
        <p:nvSpPr>
          <p:cNvPr id="39" name="Text 8"/>
          <p:cNvSpPr/>
          <p:nvPr/>
        </p:nvSpPr>
        <p:spPr>
          <a:xfrm>
            <a:off x="7237809" y="2762250"/>
            <a:ext cx="49888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목적 함수 정렬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평가 지표와 학습 목표의 일致성 확보</a:t>
            </a:r>
            <a:endParaRPr lang="en-US" sz="1200" dirty="0"/>
          </a:p>
        </p:txBody>
      </p:sp>
      <p:sp>
        <p:nvSpPr>
          <p:cNvPr id="40" name="Text 9"/>
          <p:cNvSpPr/>
          <p:nvPr/>
        </p:nvSpPr>
        <p:spPr>
          <a:xfrm>
            <a:off x="7314009" y="3143250"/>
            <a:ext cx="41159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상한값 Clipping (예: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$500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적용으로 극단적인 고가 outilder 분포 왜곡 방지</a:t>
            </a:r>
            <a:endParaRPr lang="en-US" sz="1200" dirty="0"/>
          </a:p>
        </p:txBody>
      </p:sp>
      <p:sp>
        <p:nvSpPr>
          <p:cNvPr id="41" name="Text 10"/>
          <p:cNvSpPr/>
          <p:nvPr/>
        </p:nvSpPr>
        <p:spPr>
          <a:xfrm>
            <a:off x="7085409" y="3867150"/>
            <a:ext cx="43445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 분포로 변환된 데이터로 모델 성능 향상</a:t>
            </a:r>
            <a:endParaRPr lang="en-US" sz="1050" dirty="0"/>
          </a:p>
        </p:txBody>
      </p:sp>
      <p:sp>
        <p:nvSpPr>
          <p:cNvPr id="42" name="Text 11"/>
          <p:cNvSpPr/>
          <p:nvPr/>
        </p:nvSpPr>
        <p:spPr>
          <a:xfrm>
            <a:off x="952500" y="4819650"/>
            <a:ext cx="10896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과정 정리</a:t>
            </a:r>
            <a:endParaRPr lang="en-US" sz="1500" dirty="0"/>
          </a:p>
        </p:txBody>
      </p:sp>
      <p:sp>
        <p:nvSpPr>
          <p:cNvPr id="43" name="Text 12"/>
          <p:cNvSpPr/>
          <p:nvPr/>
        </p:nvSpPr>
        <p:spPr>
          <a:xfrm>
            <a:off x="647700" y="58864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분포 특성 파악</a:t>
            </a:r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(EDA → 문제점 → 전처리 선택)</a:t>
            </a:r>
            <a:endParaRPr lang="en-US" sz="1050" dirty="0"/>
          </a:p>
        </p:txBody>
      </p:sp>
      <p:sp>
        <p:nvSpPr>
          <p:cNvPr id="44" name="Text 13"/>
          <p:cNvSpPr/>
          <p:nvPr/>
        </p:nvSpPr>
        <p:spPr>
          <a:xfrm>
            <a:off x="5334000" y="59817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변환</a:t>
            </a:r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log1p(price)</a:t>
            </a:r>
            <a:endParaRPr lang="en-US" sz="1050" dirty="0"/>
          </a:p>
        </p:txBody>
      </p:sp>
      <p:sp>
        <p:nvSpPr>
          <p:cNvPr id="45" name="Text 14"/>
          <p:cNvSpPr/>
          <p:nvPr/>
        </p:nvSpPr>
        <p:spPr>
          <a:xfrm>
            <a:off x="10020300" y="59817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아웃라이어 처리</a:t>
            </a:r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상한값 clipping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0858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52550"/>
            <a:ext cx="5486400" cy="29718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581150"/>
            <a:ext cx="457200" cy="4572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50" y="1676400"/>
            <a:ext cx="190500" cy="2667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" y="1924050"/>
            <a:ext cx="4300686" cy="5715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5400" y="264795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" y="295275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5400" y="325755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5400" y="356235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400" y="1352550"/>
            <a:ext cx="5486400" cy="29718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1581150"/>
            <a:ext cx="457200" cy="4572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10350" y="1676400"/>
            <a:ext cx="190500" cy="2667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086600" y="19621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086600" y="226695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086600" y="257175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86600" y="2876550"/>
            <a:ext cx="4259610" cy="10668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7200" y="4476750"/>
            <a:ext cx="11277600" cy="14097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7700" y="4705350"/>
            <a:ext cx="219075" cy="1905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7700" y="5086350"/>
            <a:ext cx="133350" cy="15240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30601" y="5086350"/>
            <a:ext cx="133350" cy="1524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13650" y="5086350"/>
            <a:ext cx="152400" cy="1524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457200" y="457200"/>
            <a:ext cx="11277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엔지니어링</a:t>
            </a:r>
            <a:endParaRPr lang="en-US" sz="2100" dirty="0"/>
          </a:p>
        </p:txBody>
      </p:sp>
      <p:sp>
        <p:nvSpPr>
          <p:cNvPr id="26" name="Text 1"/>
          <p:cNvSpPr/>
          <p:nvPr/>
        </p:nvSpPr>
        <p:spPr>
          <a:xfrm>
            <a:off x="1295400" y="1581150"/>
            <a:ext cx="430068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계층적 카테고리 인코딩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1371600" y="2000250"/>
            <a:ext cx="414828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category_name 세분화 이유</a:t>
            </a:r>
            <a:endParaRPr lang="en-US" sz="1050" dirty="0"/>
          </a:p>
        </p:txBody>
      </p:sp>
      <p:sp>
        <p:nvSpPr>
          <p:cNvPr id="28" name="Text 3"/>
          <p:cNvSpPr/>
          <p:nvPr/>
        </p:nvSpPr>
        <p:spPr>
          <a:xfrm>
            <a:off x="1371600" y="2228850"/>
            <a:ext cx="49779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결정에 영향을 주는 계층적 정보 보존을 위해 대/중/소분류로 분리</a:t>
            </a:r>
            <a:endParaRPr lang="en-US" sz="1050" dirty="0"/>
          </a:p>
        </p:txBody>
      </p:sp>
      <p:sp>
        <p:nvSpPr>
          <p:cNvPr id="29" name="Text 4"/>
          <p:cNvSpPr/>
          <p:nvPr/>
        </p:nvSpPr>
        <p:spPr>
          <a:xfrm>
            <a:off x="1524000" y="2609850"/>
            <a:ext cx="4886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category_name (3단계)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'대분류/중분류/소분류' 구조로 분리</a:t>
            </a:r>
            <a:endParaRPr lang="en-US" sz="1200" dirty="0"/>
          </a:p>
        </p:txBody>
      </p:sp>
      <p:sp>
        <p:nvSpPr>
          <p:cNvPr id="30" name="Text 5"/>
          <p:cNvSpPr/>
          <p:nvPr/>
        </p:nvSpPr>
        <p:spPr>
          <a:xfrm>
            <a:off x="1524000" y="2914650"/>
            <a:ext cx="48448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brand_name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브랜드 유니크 값이 매우 많아 ("롱테일" 구조)</a:t>
            </a:r>
            <a:endParaRPr lang="en-US" sz="1200" dirty="0"/>
          </a:p>
        </p:txBody>
      </p:sp>
      <p:sp>
        <p:nvSpPr>
          <p:cNvPr id="31" name="Text 6"/>
          <p:cNvSpPr/>
          <p:nvPr/>
        </p:nvSpPr>
        <p:spPr>
          <a:xfrm>
            <a:off x="1524000" y="3219450"/>
            <a:ext cx="4517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item_condition_id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제품 상태 (1~5)에 대한 원-핫 인코딩</a:t>
            </a:r>
            <a:endParaRPr lang="en-US" sz="1200" dirty="0"/>
          </a:p>
        </p:txBody>
      </p:sp>
      <p:sp>
        <p:nvSpPr>
          <p:cNvPr id="32" name="Text 7"/>
          <p:cNvSpPr/>
          <p:nvPr/>
        </p:nvSpPr>
        <p:spPr>
          <a:xfrm>
            <a:off x="1524000" y="3524250"/>
            <a:ext cx="36279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shipping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배송비 부담 여부 (1: 무료, 0: 유료)</a:t>
            </a:r>
            <a:endParaRPr lang="en-US" sz="1200" dirty="0"/>
          </a:p>
        </p:txBody>
      </p:sp>
      <p:sp>
        <p:nvSpPr>
          <p:cNvPr id="33" name="Text 8"/>
          <p:cNvSpPr/>
          <p:nvPr/>
        </p:nvSpPr>
        <p:spPr>
          <a:xfrm>
            <a:off x="7086600" y="1581150"/>
            <a:ext cx="42596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기반 인코딩 전략</a:t>
            </a:r>
            <a:endParaRPr lang="en-US" sz="1500" dirty="0"/>
          </a:p>
        </p:txBody>
      </p:sp>
      <p:sp>
        <p:nvSpPr>
          <p:cNvPr id="34" name="Text 9"/>
          <p:cNvSpPr/>
          <p:nvPr/>
        </p:nvSpPr>
        <p:spPr>
          <a:xfrm>
            <a:off x="7315200" y="1924050"/>
            <a:ext cx="3424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브랜드/카테고리 extbf{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상위 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 유지</a:t>
            </a:r>
            <a:endParaRPr lang="en-US" sz="1200" dirty="0"/>
          </a:p>
        </p:txBody>
      </p:sp>
      <p:sp>
        <p:nvSpPr>
          <p:cNvPr id="35" name="Text 10"/>
          <p:cNvSpPr/>
          <p:nvPr/>
        </p:nvSpPr>
        <p:spPr>
          <a:xfrm>
            <a:off x="7315200" y="2228850"/>
            <a:ext cx="4837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나머지\vspace{0.2cm}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라벨 통합: </a:t>
            </a:r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Other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메타 레이블로 처리</a:t>
            </a:r>
            <a:endParaRPr lang="en-US" sz="1200" dirty="0"/>
          </a:p>
        </p:txBody>
      </p:sp>
      <p:sp>
        <p:nvSpPr>
          <p:cNvPr id="36" name="Text 11"/>
          <p:cNvSpPr/>
          <p:nvPr/>
        </p:nvSpPr>
        <p:spPr>
          <a:xfrm>
            <a:off x="7315200" y="2533650"/>
            <a:ext cx="35154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효과: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인코딩 차원 폭발 방지, 과적합 최소화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7200900" y="2990850"/>
            <a:ext cx="40310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예측 시 수행 과정</a:t>
            </a:r>
            <a:endParaRPr lang="en-US" sz="1050" dirty="0"/>
          </a:p>
        </p:txBody>
      </p:sp>
      <p:sp>
        <p:nvSpPr>
          <p:cNvPr id="38" name="Text 13"/>
          <p:cNvSpPr/>
          <p:nvPr/>
        </p:nvSpPr>
        <p:spPr>
          <a:xfrm>
            <a:off x="7158782" y="3219450"/>
            <a:ext cx="50658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Train 데이터 집계: 각 카테고리/브랜드별 가격 중앙값 계산</a:t>
            </a:r>
            <a:endParaRPr lang="en-US" sz="1050" dirty="0"/>
          </a:p>
        </p:txBody>
      </p:sp>
      <p:sp>
        <p:nvSpPr>
          <p:cNvPr id="39" name="Text 14"/>
          <p:cNvSpPr/>
          <p:nvPr/>
        </p:nvSpPr>
        <p:spPr>
          <a:xfrm>
            <a:off x="7158782" y="3448050"/>
            <a:ext cx="50658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 데이터 매핑: Train 기준으로 통계 행렬 생성</a:t>
            </a:r>
            <a:endParaRPr lang="en-US" sz="1050" dirty="0"/>
          </a:p>
        </p:txBody>
      </p:sp>
      <p:sp>
        <p:nvSpPr>
          <p:cNvPr id="40" name="Text 15"/>
          <p:cNvSpPr/>
          <p:nvPr/>
        </p:nvSpPr>
        <p:spPr>
          <a:xfrm>
            <a:off x="7137499" y="3676650"/>
            <a:ext cx="5065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데이터 누수 금지로 Test 기준 통계 사용 금지</a:t>
            </a:r>
            <a:endParaRPr lang="en-US" sz="900" dirty="0"/>
          </a:p>
        </p:txBody>
      </p:sp>
      <p:sp>
        <p:nvSpPr>
          <p:cNvPr id="41" name="Text 16"/>
          <p:cNvSpPr/>
          <p:nvPr/>
        </p:nvSpPr>
        <p:spPr>
          <a:xfrm>
            <a:off x="981075" y="4667250"/>
            <a:ext cx="10896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 텍스트 통계 피처</a:t>
            </a:r>
            <a:endParaRPr lang="en-US" sz="1500" dirty="0"/>
          </a:p>
        </p:txBody>
      </p:sp>
      <p:sp>
        <p:nvSpPr>
          <p:cNvPr id="42" name="Text 17"/>
          <p:cNvSpPr/>
          <p:nvPr/>
        </p:nvSpPr>
        <p:spPr>
          <a:xfrm>
            <a:off x="857250" y="5048250"/>
            <a:ext cx="1987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길이</a:t>
            </a:r>
            <a:endParaRPr lang="en-US" sz="1050" dirty="0"/>
          </a:p>
        </p:txBody>
      </p:sp>
      <p:sp>
        <p:nvSpPr>
          <p:cNvPr id="43" name="Text 18"/>
          <p:cNvSpPr/>
          <p:nvPr/>
        </p:nvSpPr>
        <p:spPr>
          <a:xfrm>
            <a:off x="857250" y="5238750"/>
            <a:ext cx="23851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길이 정보는 제품의 세부 정보량을 시사</a:t>
            </a:r>
            <a:endParaRPr lang="en-US" sz="900" dirty="0"/>
          </a:p>
        </p:txBody>
      </p:sp>
      <p:sp>
        <p:nvSpPr>
          <p:cNvPr id="44" name="Text 19"/>
          <p:cNvSpPr/>
          <p:nvPr/>
        </p:nvSpPr>
        <p:spPr>
          <a:xfrm>
            <a:off x="4540151" y="5048250"/>
            <a:ext cx="2101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단어 수</a:t>
            </a:r>
            <a:endParaRPr lang="en-US" sz="1050" dirty="0"/>
          </a:p>
        </p:txBody>
      </p:sp>
      <p:sp>
        <p:nvSpPr>
          <p:cNvPr id="45" name="Text 20"/>
          <p:cNvSpPr/>
          <p:nvPr/>
        </p:nvSpPr>
        <p:spPr>
          <a:xfrm>
            <a:off x="4540151" y="5238750"/>
            <a:ext cx="2522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수량은 가격 결정의 정도를 나타냄</a:t>
            </a:r>
            <a:endParaRPr lang="en-US" sz="900" dirty="0"/>
          </a:p>
        </p:txBody>
      </p:sp>
      <p:sp>
        <p:nvSpPr>
          <p:cNvPr id="46" name="Text 21"/>
          <p:cNvSpPr/>
          <p:nvPr/>
        </p:nvSpPr>
        <p:spPr>
          <a:xfrm>
            <a:off x="8242250" y="5048250"/>
            <a:ext cx="207275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brand_in_name</a:t>
            </a:r>
            <a:endParaRPr lang="en-US" sz="1050" dirty="0"/>
          </a:p>
        </p:txBody>
      </p:sp>
      <p:sp>
        <p:nvSpPr>
          <p:cNvPr id="47" name="Text 22"/>
          <p:cNvSpPr/>
          <p:nvPr/>
        </p:nvSpPr>
        <p:spPr>
          <a:xfrm>
            <a:off x="8242250" y="5238750"/>
            <a:ext cx="20727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 명시 여부는 신뢰도에 영향</a:t>
            </a:r>
            <a:endParaRPr lang="en-US" sz="900" dirty="0"/>
          </a:p>
        </p:txBody>
      </p:sp>
      <p:sp>
        <p:nvSpPr>
          <p:cNvPr id="48" name="Text 23"/>
          <p:cNvSpPr/>
          <p:nvPr/>
        </p:nvSpPr>
        <p:spPr>
          <a:xfrm>
            <a:off x="647700" y="5505450"/>
            <a:ext cx="10896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통계 피처는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"상품 정보량/신뢰도"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수치화하기 위해 추가되었으며, 모든 모델에 동일하게 적용되었다.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9334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23950"/>
            <a:ext cx="4480471" cy="46482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23975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1962150"/>
            <a:ext cx="4175671" cy="4953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076450"/>
            <a:ext cx="152400" cy="2667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2533650"/>
            <a:ext cx="4175671" cy="4953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2647950"/>
            <a:ext cx="171450" cy="2667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400" y="3105150"/>
            <a:ext cx="4175671" cy="4953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3219450"/>
            <a:ext cx="171450" cy="2667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3676650"/>
            <a:ext cx="4175671" cy="4953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00" y="3790950"/>
            <a:ext cx="190500" cy="2667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4248150"/>
            <a:ext cx="4175671" cy="4953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4362450"/>
            <a:ext cx="171450" cy="2667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3400" y="4895850"/>
            <a:ext cx="4175671" cy="7239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32161" y="5029200"/>
            <a:ext cx="114300" cy="1143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13871" y="1123950"/>
            <a:ext cx="4480620" cy="46482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166271" y="1323975"/>
            <a:ext cx="171450" cy="17145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66271" y="1657350"/>
            <a:ext cx="4175820" cy="18288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66271" y="1657350"/>
            <a:ext cx="4175820" cy="45720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280571" y="1733550"/>
            <a:ext cx="304800" cy="3048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47246" y="1809750"/>
            <a:ext cx="171450" cy="1524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166271" y="2114550"/>
            <a:ext cx="4175820" cy="4572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280571" y="2190750"/>
            <a:ext cx="304800" cy="3048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356771" y="2266950"/>
            <a:ext cx="152400" cy="152400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166271" y="2571750"/>
            <a:ext cx="4175820" cy="457200"/>
          </a:xfrm>
          <a:prstGeom prst="rect">
            <a:avLst/>
          </a:prstGeom>
        </p:spPr>
      </p:pic>
      <p:pic>
        <p:nvPicPr>
          <p:cNvPr id="29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280571" y="2647950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337721" y="2724150"/>
            <a:ext cx="190500" cy="152400"/>
          </a:xfrm>
          <a:prstGeom prst="rect">
            <a:avLst/>
          </a:prstGeom>
        </p:spPr>
      </p:pic>
      <p:pic>
        <p:nvPicPr>
          <p:cNvPr id="31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5166271" y="3028950"/>
            <a:ext cx="4175820" cy="457200"/>
          </a:xfrm>
          <a:prstGeom prst="rect">
            <a:avLst/>
          </a:prstGeom>
        </p:spPr>
      </p:pic>
      <p:pic>
        <p:nvPicPr>
          <p:cNvPr id="32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280571" y="3105150"/>
            <a:ext cx="304800" cy="304800"/>
          </a:xfrm>
          <a:prstGeom prst="rect">
            <a:avLst/>
          </a:prstGeom>
        </p:spPr>
      </p:pic>
      <p:pic>
        <p:nvPicPr>
          <p:cNvPr id="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356771" y="3181350"/>
            <a:ext cx="152400" cy="152400"/>
          </a:xfrm>
          <a:prstGeom prst="rect">
            <a:avLst/>
          </a:prstGeom>
        </p:spPr>
      </p:pic>
      <p:pic>
        <p:nvPicPr>
          <p:cNvPr id="34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66271" y="3600450"/>
            <a:ext cx="4175820" cy="304800"/>
          </a:xfrm>
          <a:prstGeom prst="rect">
            <a:avLst/>
          </a:prstGeom>
        </p:spPr>
      </p:pic>
      <p:pic>
        <p:nvPicPr>
          <p:cNvPr id="35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524649" y="4895850"/>
            <a:ext cx="381000" cy="152400"/>
          </a:xfrm>
          <a:prstGeom prst="rect">
            <a:avLst/>
          </a:prstGeom>
        </p:spPr>
      </p:pic>
      <p:pic>
        <p:nvPicPr>
          <p:cNvPr id="36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597253" y="4895850"/>
            <a:ext cx="381000" cy="152400"/>
          </a:xfrm>
          <a:prstGeom prst="rect">
            <a:avLst/>
          </a:prstGeom>
        </p:spPr>
      </p:pic>
      <p:pic>
        <p:nvPicPr>
          <p:cNvPr id="37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650659" y="4895850"/>
            <a:ext cx="381000" cy="152400"/>
          </a:xfrm>
          <a:prstGeom prst="rect">
            <a:avLst/>
          </a:prstGeom>
        </p:spPr>
      </p:pic>
      <p:pic>
        <p:nvPicPr>
          <p:cNvPr id="38" name="Image 36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665964" y="4895850"/>
            <a:ext cx="381000" cy="152400"/>
          </a:xfrm>
          <a:prstGeom prst="rect">
            <a:avLst/>
          </a:prstGeom>
        </p:spPr>
      </p:pic>
      <p:pic>
        <p:nvPicPr>
          <p:cNvPr id="39" name="Image 37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46890" y="1123950"/>
            <a:ext cx="2163961" cy="4648200"/>
          </a:xfrm>
          <a:prstGeom prst="rect">
            <a:avLst/>
          </a:prstGeom>
        </p:spPr>
      </p:pic>
      <p:pic>
        <p:nvPicPr>
          <p:cNvPr id="40" name="Image 38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799290" y="1323975"/>
            <a:ext cx="190500" cy="171450"/>
          </a:xfrm>
          <a:prstGeom prst="rect">
            <a:avLst/>
          </a:prstGeom>
        </p:spPr>
      </p:pic>
      <p:pic>
        <p:nvPicPr>
          <p:cNvPr id="41" name="Image 39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799290" y="1657350"/>
            <a:ext cx="1859161" cy="723900"/>
          </a:xfrm>
          <a:prstGeom prst="rect">
            <a:avLst/>
          </a:prstGeom>
        </p:spPr>
      </p:pic>
      <p:pic>
        <p:nvPicPr>
          <p:cNvPr id="42" name="Image 40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799290" y="2495550"/>
            <a:ext cx="1859161" cy="876300"/>
          </a:xfrm>
          <a:prstGeom prst="rect">
            <a:avLst/>
          </a:prstGeom>
        </p:spPr>
      </p:pic>
      <p:pic>
        <p:nvPicPr>
          <p:cNvPr id="43" name="Image 41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799290" y="3486150"/>
            <a:ext cx="1859161" cy="723900"/>
          </a:xfrm>
          <a:prstGeom prst="rect">
            <a:avLst/>
          </a:prstGeom>
        </p:spPr>
      </p:pic>
      <p:pic>
        <p:nvPicPr>
          <p:cNvPr id="44" name="Image 42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799290" y="4324350"/>
            <a:ext cx="1859161" cy="838200"/>
          </a:xfrm>
          <a:prstGeom prst="rect">
            <a:avLst/>
          </a:prstGeom>
        </p:spPr>
      </p:pic>
      <p:pic>
        <p:nvPicPr>
          <p:cNvPr id="45" name="Image 43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875490" y="4419600"/>
            <a:ext cx="114300" cy="114300"/>
          </a:xfrm>
          <a:prstGeom prst="rect">
            <a:avLst/>
          </a:prstGeom>
        </p:spPr>
      </p:pic>
      <p:pic>
        <p:nvPicPr>
          <p:cNvPr id="46" name="Image 44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9875490" y="4610100"/>
            <a:ext cx="114300" cy="114300"/>
          </a:xfrm>
          <a:prstGeom prst="rect">
            <a:avLst/>
          </a:prstGeom>
        </p:spPr>
      </p:pic>
      <p:pic>
        <p:nvPicPr>
          <p:cNvPr id="47" name="Image 45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9875490" y="4953000"/>
            <a:ext cx="114300" cy="114300"/>
          </a:xfrm>
          <a:prstGeom prst="rect">
            <a:avLst/>
          </a:prstGeom>
        </p:spPr>
      </p:pic>
      <p:pic>
        <p:nvPicPr>
          <p:cNvPr id="48" name="Image 46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381000" y="5886450"/>
            <a:ext cx="11430000" cy="381000"/>
          </a:xfrm>
          <a:prstGeom prst="rect">
            <a:avLst/>
          </a:prstGeom>
        </p:spPr>
      </p:pic>
      <p:pic>
        <p:nvPicPr>
          <p:cNvPr id="49" name="Image 47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95300" y="6000750"/>
            <a:ext cx="114300" cy="152400"/>
          </a:xfrm>
          <a:prstGeom prst="rect">
            <a:avLst/>
          </a:prstGeom>
        </p:spPr>
      </p:pic>
      <p:sp>
        <p:nvSpPr>
          <p:cNvPr id="50" name="Text 0"/>
          <p:cNvSpPr/>
          <p:nvPr/>
        </p:nvSpPr>
        <p:spPr>
          <a:xfrm>
            <a:off x="381000" y="381000"/>
            <a:ext cx="1143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후보 선정 &amp; 평가 기준</a:t>
            </a:r>
            <a:endParaRPr lang="en-US" sz="2100" dirty="0"/>
          </a:p>
        </p:txBody>
      </p:sp>
      <p:sp>
        <p:nvSpPr>
          <p:cNvPr id="51" name="Text 1"/>
          <p:cNvSpPr/>
          <p:nvPr/>
        </p:nvSpPr>
        <p:spPr>
          <a:xfrm>
            <a:off x="781050" y="1276350"/>
            <a:ext cx="41756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후보 선정</a:t>
            </a:r>
            <a:endParaRPr lang="en-US" sz="1350" dirty="0"/>
          </a:p>
        </p:txBody>
      </p:sp>
      <p:sp>
        <p:nvSpPr>
          <p:cNvPr id="52" name="Text 2"/>
          <p:cNvSpPr/>
          <p:nvPr/>
        </p:nvSpPr>
        <p:spPr>
          <a:xfrm>
            <a:off x="533400" y="1657350"/>
            <a:ext cx="5010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Mercari 대회 기반 모델 베이스</a:t>
            </a:r>
            <a:endParaRPr lang="en-US" sz="1200" dirty="0"/>
          </a:p>
        </p:txBody>
      </p:sp>
      <p:sp>
        <p:nvSpPr>
          <p:cNvPr id="53" name="Text 3"/>
          <p:cNvSpPr/>
          <p:nvPr/>
        </p:nvSpPr>
        <p:spPr>
          <a:xfrm>
            <a:off x="876300" y="2038350"/>
            <a:ext cx="21337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050" dirty="0"/>
          </a:p>
        </p:txBody>
      </p:sp>
      <p:sp>
        <p:nvSpPr>
          <p:cNvPr id="54" name="Text 4"/>
          <p:cNvSpPr/>
          <p:nvPr/>
        </p:nvSpPr>
        <p:spPr>
          <a:xfrm>
            <a:off x="876300" y="2228850"/>
            <a:ext cx="2560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속도의 가중치 부스팅 기반 트리 모델</a:t>
            </a:r>
            <a:endParaRPr lang="en-US" sz="900" dirty="0"/>
          </a:p>
        </p:txBody>
      </p:sp>
      <p:sp>
        <p:nvSpPr>
          <p:cNvPr id="55" name="Text 5"/>
          <p:cNvSpPr/>
          <p:nvPr/>
        </p:nvSpPr>
        <p:spPr>
          <a:xfrm>
            <a:off x="895350" y="2609850"/>
            <a:ext cx="285124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1050" dirty="0"/>
          </a:p>
        </p:txBody>
      </p:sp>
      <p:sp>
        <p:nvSpPr>
          <p:cNvPr id="56" name="Text 6"/>
          <p:cNvSpPr/>
          <p:nvPr/>
        </p:nvSpPr>
        <p:spPr>
          <a:xfrm>
            <a:off x="895350" y="2800350"/>
            <a:ext cx="34214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트리 구조와 정규화 기법을 이용한 순차적 부스팅</a:t>
            </a:r>
            <a:endParaRPr lang="en-US" sz="900" dirty="0"/>
          </a:p>
        </p:txBody>
      </p:sp>
      <p:sp>
        <p:nvSpPr>
          <p:cNvPr id="57" name="Text 7"/>
          <p:cNvSpPr/>
          <p:nvPr/>
        </p:nvSpPr>
        <p:spPr>
          <a:xfrm>
            <a:off x="895350" y="3181350"/>
            <a:ext cx="24130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050" dirty="0"/>
          </a:p>
        </p:txBody>
      </p:sp>
      <p:sp>
        <p:nvSpPr>
          <p:cNvPr id="58" name="Text 8"/>
          <p:cNvSpPr/>
          <p:nvPr/>
        </p:nvSpPr>
        <p:spPr>
          <a:xfrm>
            <a:off x="895350" y="3371850"/>
            <a:ext cx="28957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특성을 효율적으로 처리하는 알고리즘</a:t>
            </a:r>
            <a:endParaRPr lang="en-US" sz="900" dirty="0"/>
          </a:p>
        </p:txBody>
      </p:sp>
      <p:sp>
        <p:nvSpPr>
          <p:cNvPr id="59" name="Text 9"/>
          <p:cNvSpPr/>
          <p:nvPr/>
        </p:nvSpPr>
        <p:spPr>
          <a:xfrm>
            <a:off x="914400" y="3752850"/>
            <a:ext cx="2110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 (베이스라인)</a:t>
            </a:r>
            <a:endParaRPr lang="en-US" sz="1050" dirty="0"/>
          </a:p>
        </p:txBody>
      </p:sp>
      <p:sp>
        <p:nvSpPr>
          <p:cNvPr id="60" name="Text 10"/>
          <p:cNvSpPr/>
          <p:nvPr/>
        </p:nvSpPr>
        <p:spPr>
          <a:xfrm>
            <a:off x="914400" y="3943350"/>
            <a:ext cx="2110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모델로 모델의 기저 성능 제공</a:t>
            </a:r>
            <a:endParaRPr lang="en-US" sz="900" dirty="0"/>
          </a:p>
        </p:txBody>
      </p:sp>
      <p:sp>
        <p:nvSpPr>
          <p:cNvPr id="61" name="Text 11"/>
          <p:cNvSpPr/>
          <p:nvPr/>
        </p:nvSpPr>
        <p:spPr>
          <a:xfrm>
            <a:off x="895350" y="4324350"/>
            <a:ext cx="22479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Extra Trees / Random Forest</a:t>
            </a:r>
            <a:endParaRPr lang="en-US" sz="1050" dirty="0"/>
          </a:p>
        </p:txBody>
      </p:sp>
      <p:sp>
        <p:nvSpPr>
          <p:cNvPr id="62" name="Text 12"/>
          <p:cNvSpPr/>
          <p:nvPr/>
        </p:nvSpPr>
        <p:spPr>
          <a:xfrm>
            <a:off x="895350" y="4514850"/>
            <a:ext cx="22479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앙상블 모델로 최종 성능 확보</a:t>
            </a:r>
            <a:endParaRPr lang="en-US" sz="900" dirty="0"/>
          </a:p>
        </p:txBody>
      </p:sp>
      <p:sp>
        <p:nvSpPr>
          <p:cNvPr id="63" name="Text 13"/>
          <p:cNvSpPr/>
          <p:nvPr/>
        </p:nvSpPr>
        <p:spPr>
          <a:xfrm>
            <a:off x="647700" y="5010150"/>
            <a:ext cx="39470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탐색 범위를 줄이고, 검증된 모델에 집중한 전략</a:t>
            </a:r>
            <a:endParaRPr lang="en-US" sz="900" dirty="0"/>
          </a:p>
        </p:txBody>
      </p:sp>
      <p:sp>
        <p:nvSpPr>
          <p:cNvPr id="64" name="Text 14"/>
          <p:cNvSpPr/>
          <p:nvPr/>
        </p:nvSpPr>
        <p:spPr>
          <a:xfrm>
            <a:off x="647700" y="5200650"/>
            <a:ext cx="394707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Mercari 대회에서 검증된 Winners 기반 모델 후보군 중심의 탐색 전략으로 효율적 자원 활용</a:t>
            </a:r>
            <a:endParaRPr lang="en-US" sz="900" dirty="0"/>
          </a:p>
        </p:txBody>
      </p:sp>
      <p:sp>
        <p:nvSpPr>
          <p:cNvPr id="65" name="Text 15"/>
          <p:cNvSpPr/>
          <p:nvPr/>
        </p:nvSpPr>
        <p:spPr>
          <a:xfrm>
            <a:off x="5413921" y="1276350"/>
            <a:ext cx="41758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</a:t>
            </a:r>
            <a:endParaRPr lang="en-US" sz="1350" dirty="0"/>
          </a:p>
        </p:txBody>
      </p:sp>
      <p:sp>
        <p:nvSpPr>
          <p:cNvPr id="66" name="Text 16"/>
          <p:cNvSpPr/>
          <p:nvPr/>
        </p:nvSpPr>
        <p:spPr>
          <a:xfrm>
            <a:off x="5661571" y="1790700"/>
            <a:ext cx="168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</a:t>
            </a:r>
            <a:endParaRPr lang="en-US" sz="1050" dirty="0"/>
          </a:p>
        </p:txBody>
      </p:sp>
      <p:sp>
        <p:nvSpPr>
          <p:cNvPr id="67" name="Text 17"/>
          <p:cNvSpPr/>
          <p:nvPr/>
        </p:nvSpPr>
        <p:spPr>
          <a:xfrm>
            <a:off x="7346007" y="1809750"/>
            <a:ext cx="1881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 설명력</a:t>
            </a:r>
            <a:endParaRPr lang="en-US" sz="900" dirty="0"/>
          </a:p>
        </p:txBody>
      </p:sp>
      <p:sp>
        <p:nvSpPr>
          <p:cNvPr id="68" name="Text 18"/>
          <p:cNvSpPr/>
          <p:nvPr/>
        </p:nvSpPr>
        <p:spPr>
          <a:xfrm>
            <a:off x="5661571" y="2247900"/>
            <a:ext cx="4623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endParaRPr lang="en-US" sz="1050" dirty="0"/>
          </a:p>
        </p:txBody>
      </p:sp>
      <p:sp>
        <p:nvSpPr>
          <p:cNvPr id="69" name="Text 19"/>
          <p:cNvSpPr/>
          <p:nvPr/>
        </p:nvSpPr>
        <p:spPr>
          <a:xfrm>
            <a:off x="7346007" y="2266950"/>
            <a:ext cx="1881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제곱근 오차</a:t>
            </a:r>
            <a:endParaRPr lang="en-US" sz="900" dirty="0"/>
          </a:p>
        </p:txBody>
      </p:sp>
      <p:sp>
        <p:nvSpPr>
          <p:cNvPr id="70" name="Text 20"/>
          <p:cNvSpPr/>
          <p:nvPr/>
        </p:nvSpPr>
        <p:spPr>
          <a:xfrm>
            <a:off x="5661571" y="2705100"/>
            <a:ext cx="3468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</a:t>
            </a:r>
            <a:endParaRPr lang="en-US" sz="1050" dirty="0"/>
          </a:p>
        </p:txBody>
      </p:sp>
      <p:sp>
        <p:nvSpPr>
          <p:cNvPr id="71" name="Text 21"/>
          <p:cNvSpPr/>
          <p:nvPr/>
        </p:nvSpPr>
        <p:spPr>
          <a:xfrm>
            <a:off x="7346007" y="2724150"/>
            <a:ext cx="1881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평균 절대 오차</a:t>
            </a:r>
            <a:endParaRPr lang="en-US" sz="900" dirty="0"/>
          </a:p>
        </p:txBody>
      </p:sp>
      <p:sp>
        <p:nvSpPr>
          <p:cNvPr id="72" name="Text 22"/>
          <p:cNvSpPr/>
          <p:nvPr/>
        </p:nvSpPr>
        <p:spPr>
          <a:xfrm>
            <a:off x="5661571" y="3162300"/>
            <a:ext cx="55131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endParaRPr lang="en-US" sz="1050" dirty="0"/>
          </a:p>
        </p:txBody>
      </p:sp>
      <p:sp>
        <p:nvSpPr>
          <p:cNvPr id="73" name="Text 23"/>
          <p:cNvSpPr/>
          <p:nvPr/>
        </p:nvSpPr>
        <p:spPr>
          <a:xfrm>
            <a:off x="7346007" y="3181350"/>
            <a:ext cx="18817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지표</a:t>
            </a:r>
            <a:endParaRPr lang="en-US" sz="900" dirty="0"/>
          </a:p>
        </p:txBody>
      </p:sp>
      <p:sp>
        <p:nvSpPr>
          <p:cNvPr id="74" name="Text 24"/>
          <p:cNvSpPr/>
          <p:nvPr/>
        </p:nvSpPr>
        <p:spPr>
          <a:xfrm>
            <a:off x="4840129" y="3676650"/>
            <a:ext cx="48281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로그 스케일의 오차를 측정하여 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가격 상품의 오차에 민감</a:t>
            </a:r>
            <a:endParaRPr lang="en-US" sz="900" dirty="0"/>
          </a:p>
        </p:txBody>
      </p:sp>
      <p:sp>
        <p:nvSpPr>
          <p:cNvPr id="75" name="Text 25"/>
          <p:cNvSpPr/>
          <p:nvPr/>
        </p:nvSpPr>
        <p:spPr>
          <a:xfrm>
            <a:off x="5166271" y="4057650"/>
            <a:ext cx="41758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성능 비교 (RMSLE)</a:t>
            </a:r>
            <a:endParaRPr lang="en-US" sz="1050" dirty="0"/>
          </a:p>
        </p:txBody>
      </p:sp>
      <p:sp>
        <p:nvSpPr>
          <p:cNvPr id="76" name="Text 26"/>
          <p:cNvSpPr/>
          <p:nvPr/>
        </p:nvSpPr>
        <p:spPr>
          <a:xfrm>
            <a:off x="5486549" y="4895850"/>
            <a:ext cx="457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0.45</a:t>
            </a:r>
            <a:endParaRPr lang="en-US" sz="900" dirty="0"/>
          </a:p>
        </p:txBody>
      </p:sp>
      <p:sp>
        <p:nvSpPr>
          <p:cNvPr id="77" name="Text 27"/>
          <p:cNvSpPr/>
          <p:nvPr/>
        </p:nvSpPr>
        <p:spPr>
          <a:xfrm>
            <a:off x="5461099" y="5086350"/>
            <a:ext cx="6098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00" dirty="0"/>
          </a:p>
        </p:txBody>
      </p:sp>
      <p:sp>
        <p:nvSpPr>
          <p:cNvPr id="78" name="Text 28"/>
          <p:cNvSpPr/>
          <p:nvPr/>
        </p:nvSpPr>
        <p:spPr>
          <a:xfrm>
            <a:off x="6559153" y="4895850"/>
            <a:ext cx="457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0.47</a:t>
            </a:r>
            <a:endParaRPr lang="en-US" sz="900" dirty="0"/>
          </a:p>
        </p:txBody>
      </p:sp>
      <p:sp>
        <p:nvSpPr>
          <p:cNvPr id="79" name="Text 29"/>
          <p:cNvSpPr/>
          <p:nvPr/>
        </p:nvSpPr>
        <p:spPr>
          <a:xfrm>
            <a:off x="6559004" y="5086350"/>
            <a:ext cx="5489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00" dirty="0"/>
          </a:p>
        </p:txBody>
      </p:sp>
      <p:sp>
        <p:nvSpPr>
          <p:cNvPr id="80" name="Text 30"/>
          <p:cNvSpPr/>
          <p:nvPr/>
        </p:nvSpPr>
        <p:spPr>
          <a:xfrm>
            <a:off x="7612559" y="4895850"/>
            <a:ext cx="457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endParaRPr lang="en-US" sz="900" dirty="0"/>
          </a:p>
        </p:txBody>
      </p:sp>
      <p:sp>
        <p:nvSpPr>
          <p:cNvPr id="81" name="Text 31"/>
          <p:cNvSpPr/>
          <p:nvPr/>
        </p:nvSpPr>
        <p:spPr>
          <a:xfrm>
            <a:off x="7606159" y="5086350"/>
            <a:ext cx="5641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00" dirty="0"/>
          </a:p>
        </p:txBody>
      </p:sp>
      <p:sp>
        <p:nvSpPr>
          <p:cNvPr id="82" name="Text 32"/>
          <p:cNvSpPr/>
          <p:nvPr/>
        </p:nvSpPr>
        <p:spPr>
          <a:xfrm>
            <a:off x="8627864" y="4895850"/>
            <a:ext cx="457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0.50</a:t>
            </a:r>
            <a:endParaRPr lang="en-US" sz="900" dirty="0"/>
          </a:p>
        </p:txBody>
      </p:sp>
      <p:sp>
        <p:nvSpPr>
          <p:cNvPr id="83" name="Text 33"/>
          <p:cNvSpPr/>
          <p:nvPr/>
        </p:nvSpPr>
        <p:spPr>
          <a:xfrm>
            <a:off x="8707041" y="5086350"/>
            <a:ext cx="3584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</a:t>
            </a:r>
            <a:endParaRPr lang="en-US" sz="900" dirty="0"/>
          </a:p>
        </p:txBody>
      </p:sp>
      <p:sp>
        <p:nvSpPr>
          <p:cNvPr id="84" name="Text 34"/>
          <p:cNvSpPr/>
          <p:nvPr/>
        </p:nvSpPr>
        <p:spPr>
          <a:xfrm>
            <a:off x="10065990" y="1276350"/>
            <a:ext cx="18591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결과</a:t>
            </a:r>
            <a:endParaRPr lang="en-US" sz="1350" dirty="0"/>
          </a:p>
        </p:txBody>
      </p:sp>
      <p:sp>
        <p:nvSpPr>
          <p:cNvPr id="85" name="Text 35"/>
          <p:cNvSpPr/>
          <p:nvPr/>
        </p:nvSpPr>
        <p:spPr>
          <a:xfrm>
            <a:off x="9875490" y="1733550"/>
            <a:ext cx="17067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품질 수준</a:t>
            </a:r>
            <a:endParaRPr lang="en-US" sz="1050" dirty="0"/>
          </a:p>
        </p:txBody>
      </p:sp>
      <p:sp>
        <p:nvSpPr>
          <p:cNvPr id="86" name="Text 36"/>
          <p:cNvSpPr/>
          <p:nvPr/>
        </p:nvSpPr>
        <p:spPr>
          <a:xfrm>
            <a:off x="9875490" y="1962150"/>
            <a:ext cx="144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</a:t>
            </a:r>
            <a:endParaRPr lang="en-US" sz="900" dirty="0"/>
          </a:p>
        </p:txBody>
      </p:sp>
      <p:sp>
        <p:nvSpPr>
          <p:cNvPr id="87" name="Text 37"/>
          <p:cNvSpPr/>
          <p:nvPr/>
        </p:nvSpPr>
        <p:spPr>
          <a:xfrm>
            <a:off x="11261229" y="1962150"/>
            <a:ext cx="385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&gt; 0.99</a:t>
            </a:r>
            <a:endParaRPr lang="en-US" sz="900" dirty="0"/>
          </a:p>
        </p:txBody>
      </p:sp>
      <p:sp>
        <p:nvSpPr>
          <p:cNvPr id="88" name="Text 38"/>
          <p:cNvSpPr/>
          <p:nvPr/>
        </p:nvSpPr>
        <p:spPr>
          <a:xfrm>
            <a:off x="9875490" y="2152650"/>
            <a:ext cx="17067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성능이 매우 우수</a:t>
            </a:r>
            <a:endParaRPr lang="en-US" sz="900" dirty="0"/>
          </a:p>
        </p:txBody>
      </p:sp>
      <p:sp>
        <p:nvSpPr>
          <p:cNvPr id="89" name="Text 39"/>
          <p:cNvSpPr/>
          <p:nvPr/>
        </p:nvSpPr>
        <p:spPr>
          <a:xfrm>
            <a:off x="9875490" y="2571750"/>
            <a:ext cx="17067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모델</a:t>
            </a:r>
            <a:endParaRPr lang="en-US" sz="1050" dirty="0"/>
          </a:p>
        </p:txBody>
      </p:sp>
      <p:sp>
        <p:nvSpPr>
          <p:cNvPr id="90" name="Text 40"/>
          <p:cNvSpPr/>
          <p:nvPr/>
        </p:nvSpPr>
        <p:spPr>
          <a:xfrm>
            <a:off x="9875490" y="2800350"/>
            <a:ext cx="7240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 앙상블</a:t>
            </a:r>
            <a:endParaRPr lang="en-US" sz="900" dirty="0"/>
          </a:p>
        </p:txBody>
      </p:sp>
      <p:sp>
        <p:nvSpPr>
          <p:cNvPr id="91" name="Text 41"/>
          <p:cNvSpPr/>
          <p:nvPr/>
        </p:nvSpPr>
        <p:spPr>
          <a:xfrm>
            <a:off x="11093202" y="2800350"/>
            <a:ext cx="586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최적</a:t>
            </a:r>
            <a:endParaRPr lang="en-US" sz="900" dirty="0"/>
          </a:p>
        </p:txBody>
      </p:sp>
      <p:sp>
        <p:nvSpPr>
          <p:cNvPr id="92" name="Text 42"/>
          <p:cNvSpPr/>
          <p:nvPr/>
        </p:nvSpPr>
        <p:spPr>
          <a:xfrm>
            <a:off x="9875490" y="2990850"/>
            <a:ext cx="170676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Extra Trees/Random Forest가 최우수</a:t>
            </a:r>
            <a:endParaRPr lang="en-US" sz="900" dirty="0"/>
          </a:p>
        </p:txBody>
      </p:sp>
      <p:sp>
        <p:nvSpPr>
          <p:cNvPr id="93" name="Text 43"/>
          <p:cNvSpPr/>
          <p:nvPr/>
        </p:nvSpPr>
        <p:spPr>
          <a:xfrm>
            <a:off x="9875490" y="3562350"/>
            <a:ext cx="17067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한계</a:t>
            </a:r>
            <a:endParaRPr lang="en-US" sz="1050" dirty="0"/>
          </a:p>
        </p:txBody>
      </p:sp>
      <p:sp>
        <p:nvSpPr>
          <p:cNvPr id="94" name="Text 44"/>
          <p:cNvSpPr/>
          <p:nvPr/>
        </p:nvSpPr>
        <p:spPr>
          <a:xfrm>
            <a:off x="9875490" y="3790950"/>
            <a:ext cx="6707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 모델</a:t>
            </a:r>
            <a:endParaRPr lang="en-US" sz="900" dirty="0"/>
          </a:p>
        </p:txBody>
      </p:sp>
      <p:sp>
        <p:nvSpPr>
          <p:cNvPr id="95" name="Text 45"/>
          <p:cNvSpPr/>
          <p:nvPr/>
        </p:nvSpPr>
        <p:spPr>
          <a:xfrm>
            <a:off x="11093202" y="3790950"/>
            <a:ext cx="586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최한</a:t>
            </a:r>
            <a:endParaRPr lang="en-US" sz="900" dirty="0"/>
          </a:p>
        </p:txBody>
      </p:sp>
      <p:sp>
        <p:nvSpPr>
          <p:cNvPr id="96" name="Text 46"/>
          <p:cNvSpPr/>
          <p:nvPr/>
        </p:nvSpPr>
        <p:spPr>
          <a:xfrm>
            <a:off x="9875490" y="3981450"/>
            <a:ext cx="17067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모델 조합 필요</a:t>
            </a:r>
            <a:endParaRPr lang="en-US" sz="900" dirty="0"/>
          </a:p>
        </p:txBody>
      </p:sp>
      <p:sp>
        <p:nvSpPr>
          <p:cNvPr id="97" name="Text 47"/>
          <p:cNvSpPr/>
          <p:nvPr/>
        </p:nvSpPr>
        <p:spPr>
          <a:xfrm>
            <a:off x="10027890" y="4400550"/>
            <a:ext cx="18366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대부분 R² 0.99 이상 달성</a:t>
            </a:r>
            <a:endParaRPr lang="en-US" sz="900" dirty="0"/>
          </a:p>
        </p:txBody>
      </p:sp>
      <p:sp>
        <p:nvSpPr>
          <p:cNvPr id="98" name="Text 48"/>
          <p:cNvSpPr/>
          <p:nvPr/>
        </p:nvSpPr>
        <p:spPr>
          <a:xfrm>
            <a:off x="10027890" y="4591050"/>
            <a:ext cx="155436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Extra Trees/Random Forest가 R,M,MAE 모두 최상</a:t>
            </a:r>
            <a:endParaRPr lang="en-US" sz="900" dirty="0"/>
          </a:p>
        </p:txBody>
      </p:sp>
      <p:sp>
        <p:nvSpPr>
          <p:cNvPr id="99" name="Text 49"/>
          <p:cNvSpPr/>
          <p:nvPr/>
        </p:nvSpPr>
        <p:spPr>
          <a:xfrm>
            <a:off x="10027890" y="4933950"/>
            <a:ext cx="1745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Ridge는 단일 성능 제한 포함</a:t>
            </a:r>
            <a:endParaRPr lang="en-US" sz="900" dirty="0"/>
          </a:p>
        </p:txBody>
      </p:sp>
      <p:sp>
        <p:nvSpPr>
          <p:cNvPr id="100" name="Text 50"/>
          <p:cNvSpPr/>
          <p:nvPr/>
        </p:nvSpPr>
        <p:spPr>
          <a:xfrm>
            <a:off x="685800" y="6000750"/>
            <a:ext cx="75516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방법론 종합: 검증된 모델 아키텍처와 타겟 스케일 특성을 고려하여 합리적 범위 내에서 최적의 모델 후보를 선정한 접근 방식</a:t>
            </a:r>
            <a:endParaRPr lang="en-US" sz="900" dirty="0"/>
          </a:p>
        </p:txBody>
      </p:sp>
      <p:sp>
        <p:nvSpPr>
          <p:cNvPr id="101" name="Text 51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6/10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887611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78111"/>
            <a:ext cx="3759101" cy="17526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30511"/>
            <a:ext cx="381000" cy="38100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" y="1344811"/>
            <a:ext cx="114300" cy="1524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221111"/>
            <a:ext cx="3454301" cy="3048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28589" y="2316361"/>
            <a:ext cx="142875" cy="1143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16301" y="1078111"/>
            <a:ext cx="3759250" cy="17526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68701" y="1230511"/>
            <a:ext cx="381000" cy="3810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83001" y="1344811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68701" y="2373511"/>
            <a:ext cx="3454450" cy="3048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27452" y="2468761"/>
            <a:ext cx="114300" cy="1143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7950" y="1078111"/>
            <a:ext cx="3759101" cy="17526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80350" y="1230511"/>
            <a:ext cx="381000" cy="3810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75600" y="1344811"/>
            <a:ext cx="190500" cy="1524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80350" y="2373511"/>
            <a:ext cx="3454301" cy="3048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20064" y="2468761"/>
            <a:ext cx="142875" cy="1143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04800" y="2983111"/>
            <a:ext cx="11582400" cy="20574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57200" y="3183136"/>
            <a:ext cx="133350" cy="17145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57200" y="3516511"/>
            <a:ext cx="3657600" cy="87630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267200" y="3516511"/>
            <a:ext cx="3657600" cy="8763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77200" y="3516511"/>
            <a:ext cx="3657600" cy="8763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7200" y="4507111"/>
            <a:ext cx="11277600" cy="3810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121670" y="4602361"/>
            <a:ext cx="190500" cy="1524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04800" y="5192911"/>
            <a:ext cx="11582400" cy="1447800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7200" y="5726311"/>
            <a:ext cx="5419725" cy="762000"/>
          </a:xfrm>
          <a:prstGeom prst="rect">
            <a:avLst/>
          </a:prstGeom>
        </p:spPr>
      </p:pic>
      <p:pic>
        <p:nvPicPr>
          <p:cNvPr id="29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95563" y="5993011"/>
            <a:ext cx="304800" cy="304800"/>
          </a:xfrm>
          <a:prstGeom prst="rect">
            <a:avLst/>
          </a:prstGeom>
        </p:spPr>
      </p:pic>
      <p:pic>
        <p:nvPicPr>
          <p:cNvPr id="30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671763" y="6069211"/>
            <a:ext cx="152400" cy="152400"/>
          </a:xfrm>
          <a:prstGeom prst="rect">
            <a:avLst/>
          </a:prstGeom>
        </p:spPr>
      </p:pic>
      <p:pic>
        <p:nvPicPr>
          <p:cNvPr id="31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938463" y="5993011"/>
            <a:ext cx="304800" cy="304800"/>
          </a:xfrm>
          <a:prstGeom prst="rect">
            <a:avLst/>
          </a:prstGeom>
        </p:spPr>
      </p:pic>
      <p:pic>
        <p:nvPicPr>
          <p:cNvPr id="32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014663" y="6069211"/>
            <a:ext cx="152400" cy="152400"/>
          </a:xfrm>
          <a:prstGeom prst="rect">
            <a:avLst/>
          </a:prstGeom>
        </p:spPr>
      </p:pic>
      <p:pic>
        <p:nvPicPr>
          <p:cNvPr id="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281363" y="5993011"/>
            <a:ext cx="304800" cy="304800"/>
          </a:xfrm>
          <a:prstGeom prst="rect">
            <a:avLst/>
          </a:prstGeom>
        </p:spPr>
      </p:pic>
      <p:pic>
        <p:nvPicPr>
          <p:cNvPr id="34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3338513" y="6069211"/>
            <a:ext cx="190500" cy="152400"/>
          </a:xfrm>
          <a:prstGeom prst="rect">
            <a:avLst/>
          </a:prstGeom>
        </p:spPr>
      </p:pic>
      <p:pic>
        <p:nvPicPr>
          <p:cNvPr id="35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029325" y="5993011"/>
            <a:ext cx="133350" cy="228600"/>
          </a:xfrm>
          <a:prstGeom prst="rect">
            <a:avLst/>
          </a:prstGeom>
        </p:spPr>
      </p:pic>
      <p:pic>
        <p:nvPicPr>
          <p:cNvPr id="36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6029325" y="6012061"/>
            <a:ext cx="133350" cy="152400"/>
          </a:xfrm>
          <a:prstGeom prst="rect">
            <a:avLst/>
          </a:prstGeom>
        </p:spPr>
      </p:pic>
      <p:pic>
        <p:nvPicPr>
          <p:cNvPr id="37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605838" y="5993011"/>
            <a:ext cx="304800" cy="304800"/>
          </a:xfrm>
          <a:prstGeom prst="rect">
            <a:avLst/>
          </a:prstGeom>
        </p:spPr>
      </p:pic>
      <p:pic>
        <p:nvPicPr>
          <p:cNvPr id="38" name="Image 36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662988" y="6069211"/>
            <a:ext cx="190500" cy="152400"/>
          </a:xfrm>
          <a:prstGeom prst="rect">
            <a:avLst/>
          </a:prstGeom>
        </p:spPr>
      </p:pic>
      <p:pic>
        <p:nvPicPr>
          <p:cNvPr id="39" name="Image 37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948738" y="5993011"/>
            <a:ext cx="304800" cy="304800"/>
          </a:xfrm>
          <a:prstGeom prst="rect">
            <a:avLst/>
          </a:prstGeom>
        </p:spPr>
      </p:pic>
      <p:pic>
        <p:nvPicPr>
          <p:cNvPr id="40" name="Image 38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024938" y="6069211"/>
            <a:ext cx="152400" cy="152400"/>
          </a:xfrm>
          <a:prstGeom prst="rect">
            <a:avLst/>
          </a:prstGeom>
        </p:spPr>
      </p:pic>
      <p:pic>
        <p:nvPicPr>
          <p:cNvPr id="41" name="Image 39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9291638" y="5993011"/>
            <a:ext cx="304800" cy="304800"/>
          </a:xfrm>
          <a:prstGeom prst="rect">
            <a:avLst/>
          </a:prstGeom>
        </p:spPr>
      </p:pic>
      <p:pic>
        <p:nvPicPr>
          <p:cNvPr id="42" name="Image 40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367838" y="6069211"/>
            <a:ext cx="152400" cy="152400"/>
          </a:xfrm>
          <a:prstGeom prst="rect">
            <a:avLst/>
          </a:prstGeom>
        </p:spPr>
      </p:pic>
      <p:sp>
        <p:nvSpPr>
          <p:cNvPr id="43" name="Text 0"/>
          <p:cNvSpPr/>
          <p:nvPr/>
        </p:nvSpPr>
        <p:spPr>
          <a:xfrm>
            <a:off x="304800" y="304800"/>
            <a:ext cx="115824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프레임워크 전략 비교</a:t>
            </a:r>
            <a:endParaRPr lang="en-US" sz="2100" dirty="0"/>
          </a:p>
        </p:txBody>
      </p:sp>
      <p:sp>
        <p:nvSpPr>
          <p:cNvPr id="44" name="Text 1"/>
          <p:cNvSpPr/>
          <p:nvPr/>
        </p:nvSpPr>
        <p:spPr>
          <a:xfrm>
            <a:off x="952500" y="1287661"/>
            <a:ext cx="7777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</a:t>
            </a:r>
            <a:endParaRPr lang="en-US" sz="1350" dirty="0"/>
          </a:p>
        </p:txBody>
      </p:sp>
      <p:sp>
        <p:nvSpPr>
          <p:cNvPr id="45" name="Text 2"/>
          <p:cNvSpPr/>
          <p:nvPr/>
        </p:nvSpPr>
        <p:spPr>
          <a:xfrm>
            <a:off x="457200" y="1687711"/>
            <a:ext cx="41451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단일 모델 비교 및 하이퍼파라미터 튜닝</a:t>
            </a:r>
            <a:endParaRPr lang="en-US" sz="1050" dirty="0"/>
          </a:p>
        </p:txBody>
      </p:sp>
      <p:sp>
        <p:nvSpPr>
          <p:cNvPr id="46" name="Text 3"/>
          <p:cNvSpPr/>
          <p:nvPr/>
        </p:nvSpPr>
        <p:spPr>
          <a:xfrm>
            <a:off x="457200" y="1954411"/>
            <a:ext cx="41451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하이퍼파라미터 범위 내에서 모델 평가, 예측 성능 검증 테스트</a:t>
            </a:r>
            <a:endParaRPr lang="en-US" sz="900" dirty="0"/>
          </a:p>
        </p:txBody>
      </p:sp>
      <p:sp>
        <p:nvSpPr>
          <p:cNvPr id="47" name="Text 4"/>
          <p:cNvSpPr/>
          <p:nvPr/>
        </p:nvSpPr>
        <p:spPr>
          <a:xfrm>
            <a:off x="533400" y="2297311"/>
            <a:ext cx="3301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 프로젝트의 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중심 엔진</a:t>
            </a:r>
            <a:endParaRPr lang="en-US" sz="900" dirty="0"/>
          </a:p>
        </p:txBody>
      </p:sp>
      <p:sp>
        <p:nvSpPr>
          <p:cNvPr id="48" name="Text 5"/>
          <p:cNvSpPr/>
          <p:nvPr/>
        </p:nvSpPr>
        <p:spPr>
          <a:xfrm>
            <a:off x="4864001" y="1287661"/>
            <a:ext cx="10628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AutoGluon</a:t>
            </a:r>
            <a:endParaRPr lang="en-US" sz="1350" dirty="0"/>
          </a:p>
        </p:txBody>
      </p:sp>
      <p:sp>
        <p:nvSpPr>
          <p:cNvPr id="49" name="Text 6"/>
          <p:cNvSpPr/>
          <p:nvPr/>
        </p:nvSpPr>
        <p:spPr>
          <a:xfrm>
            <a:off x="4368701" y="1687711"/>
            <a:ext cx="3454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 자동화된 앙상블 및 스태킹</a:t>
            </a:r>
            <a:endParaRPr lang="en-US" sz="1050" dirty="0"/>
          </a:p>
        </p:txBody>
      </p:sp>
      <p:sp>
        <p:nvSpPr>
          <p:cNvPr id="50" name="Text 7"/>
          <p:cNvSpPr/>
          <p:nvPr/>
        </p:nvSpPr>
        <p:spPr>
          <a:xfrm>
            <a:off x="4368701" y="1954411"/>
            <a:ext cx="34544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모델에 대한 자동화된 앙상블 기법 적용과 자동 하이퍼파라미터 선택, 성능 상한 탐색용</a:t>
            </a:r>
            <a:endParaRPr lang="en-US" sz="900" dirty="0"/>
          </a:p>
        </p:txBody>
      </p:sp>
      <p:sp>
        <p:nvSpPr>
          <p:cNvPr id="51" name="Text 8"/>
          <p:cNvSpPr/>
          <p:nvPr/>
        </p:nvSpPr>
        <p:spPr>
          <a:xfrm>
            <a:off x="4444901" y="2449711"/>
            <a:ext cx="3302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성능 상한 탐색용 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블랙박스</a:t>
            </a:r>
            <a:endParaRPr lang="en-US" sz="900" dirty="0"/>
          </a:p>
        </p:txBody>
      </p:sp>
      <p:sp>
        <p:nvSpPr>
          <p:cNvPr id="52" name="Text 9"/>
          <p:cNvSpPr/>
          <p:nvPr/>
        </p:nvSpPr>
        <p:spPr>
          <a:xfrm>
            <a:off x="8775650" y="1287661"/>
            <a:ext cx="110924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</a:t>
            </a:r>
            <a:endParaRPr lang="en-US" sz="1350" dirty="0"/>
          </a:p>
        </p:txBody>
      </p:sp>
      <p:sp>
        <p:nvSpPr>
          <p:cNvPr id="53" name="Text 10"/>
          <p:cNvSpPr/>
          <p:nvPr/>
        </p:nvSpPr>
        <p:spPr>
          <a:xfrm>
            <a:off x="8280350" y="1687711"/>
            <a:ext cx="41451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피처 엔지니어링과 Kaggle 상위 전략 재현</a:t>
            </a:r>
            <a:endParaRPr lang="en-US" sz="1050" dirty="0"/>
          </a:p>
        </p:txBody>
      </p:sp>
      <p:sp>
        <p:nvSpPr>
          <p:cNvPr id="54" name="Text 11"/>
          <p:cNvSpPr/>
          <p:nvPr/>
        </p:nvSpPr>
        <p:spPr>
          <a:xfrm>
            <a:off x="8280350" y="1954411"/>
            <a:ext cx="345430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커스텀 파이프라인 기반 모델 조합, 세밀한 피처 선택 및 트랜스포메이션, 웨이트드 앙상블 방식 구현</a:t>
            </a:r>
            <a:endParaRPr lang="en-US" sz="900" dirty="0"/>
          </a:p>
        </p:txBody>
      </p:sp>
      <p:sp>
        <p:nvSpPr>
          <p:cNvPr id="55" name="Text 12"/>
          <p:cNvSpPr/>
          <p:nvPr/>
        </p:nvSpPr>
        <p:spPr>
          <a:xfrm>
            <a:off x="8356550" y="2449711"/>
            <a:ext cx="33019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Kaggle 상위 전략 </a:t>
            </a:r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</a:t>
            </a:r>
            <a:endParaRPr lang="en-US" sz="900" dirty="0"/>
          </a:p>
        </p:txBody>
      </p:sp>
      <p:sp>
        <p:nvSpPr>
          <p:cNvPr id="56" name="Text 13"/>
          <p:cNvSpPr/>
          <p:nvPr/>
        </p:nvSpPr>
        <p:spPr>
          <a:xfrm>
            <a:off x="666750" y="3135511"/>
            <a:ext cx="11277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프레임워크 선택 전략</a:t>
            </a:r>
            <a:endParaRPr lang="en-US" sz="1350" dirty="0"/>
          </a:p>
        </p:txBody>
      </p:sp>
      <p:sp>
        <p:nvSpPr>
          <p:cNvPr id="57" name="Text 14"/>
          <p:cNvSpPr/>
          <p:nvPr/>
        </p:nvSpPr>
        <p:spPr>
          <a:xfrm>
            <a:off x="571500" y="3630811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단계</a:t>
            </a:r>
            <a:endParaRPr lang="en-US" sz="1200" dirty="0"/>
          </a:p>
        </p:txBody>
      </p:sp>
      <p:sp>
        <p:nvSpPr>
          <p:cNvPr id="58" name="Text 15"/>
          <p:cNvSpPr/>
          <p:nvPr/>
        </p:nvSpPr>
        <p:spPr>
          <a:xfrm>
            <a:off x="571500" y="3897511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PyCaret을 활용한 빠른 모델 후보 선별 및 초기 성능 측정. 각 프레임워크의 기본 품질 구합니다.</a:t>
            </a:r>
            <a:endParaRPr lang="en-US" sz="1050" dirty="0"/>
          </a:p>
        </p:txBody>
      </p:sp>
      <p:sp>
        <p:nvSpPr>
          <p:cNvPr id="59" name="Text 16"/>
          <p:cNvSpPr/>
          <p:nvPr/>
        </p:nvSpPr>
        <p:spPr>
          <a:xfrm>
            <a:off x="4381500" y="3630811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최적화 단계</a:t>
            </a:r>
            <a:endParaRPr lang="en-US" sz="1200" dirty="0"/>
          </a:p>
        </p:txBody>
      </p:sp>
      <p:sp>
        <p:nvSpPr>
          <p:cNvPr id="60" name="Text 17"/>
          <p:cNvSpPr/>
          <p:nvPr/>
        </p:nvSpPr>
        <p:spPr>
          <a:xfrm>
            <a:off x="4381500" y="3897511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AutoGluon을 활용한 성능 상한 및 최적하 탐색. 하이퍼파라미터 자동화 선별 진행</a:t>
            </a:r>
            <a:endParaRPr lang="en-US" sz="1050" dirty="0"/>
          </a:p>
        </p:txBody>
      </p:sp>
      <p:sp>
        <p:nvSpPr>
          <p:cNvPr id="61" name="Text 18"/>
          <p:cNvSpPr/>
          <p:nvPr/>
        </p:nvSpPr>
        <p:spPr>
          <a:xfrm>
            <a:off x="8191500" y="3630811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구현</a:t>
            </a:r>
            <a:endParaRPr lang="en-US" sz="1200" dirty="0"/>
          </a:p>
        </p:txBody>
      </p:sp>
      <p:sp>
        <p:nvSpPr>
          <p:cNvPr id="62" name="Text 19"/>
          <p:cNvSpPr/>
          <p:nvPr/>
        </p:nvSpPr>
        <p:spPr>
          <a:xfrm>
            <a:off x="8191500" y="3897511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 기반 세부 튜닝 및 Weighted 앙상블 구현. Kaggle 상위 솔루션 재현 목적</a:t>
            </a:r>
            <a:endParaRPr lang="en-US" sz="1050" dirty="0"/>
          </a:p>
        </p:txBody>
      </p:sp>
      <p:sp>
        <p:nvSpPr>
          <p:cNvPr id="63" name="Text 20"/>
          <p:cNvSpPr/>
          <p:nvPr/>
        </p:nvSpPr>
        <p:spPr>
          <a:xfrm>
            <a:off x="533400" y="4583311"/>
            <a:ext cx="1112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"도구마다 목적이 다르며, 상황에 맞게 병행 활용하는 것이 프로젝트 성패를 좌우함"</a:t>
            </a:r>
            <a:endParaRPr lang="en-US" sz="1200" dirty="0"/>
          </a:p>
        </p:txBody>
      </p:sp>
      <p:sp>
        <p:nvSpPr>
          <p:cNvPr id="64" name="Text 21"/>
          <p:cNvSpPr/>
          <p:nvPr/>
        </p:nvSpPr>
        <p:spPr>
          <a:xfrm>
            <a:off x="457200" y="5345311"/>
            <a:ext cx="11277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사용성 비교</a:t>
            </a:r>
            <a:endParaRPr lang="en-US" sz="1350" dirty="0"/>
          </a:p>
        </p:txBody>
      </p:sp>
      <p:sp>
        <p:nvSpPr>
          <p:cNvPr id="65" name="Text 22"/>
          <p:cNvSpPr/>
          <p:nvPr/>
        </p:nvSpPr>
        <p:spPr>
          <a:xfrm>
            <a:off x="457200" y="5726311"/>
            <a:ext cx="526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쉬움</a:t>
            </a:r>
            <a:endParaRPr lang="en-US" sz="1200" dirty="0"/>
          </a:p>
        </p:txBody>
      </p:sp>
      <p:sp>
        <p:nvSpPr>
          <p:cNvPr id="66" name="Text 23"/>
          <p:cNvSpPr/>
          <p:nvPr/>
        </p:nvSpPr>
        <p:spPr>
          <a:xfrm>
            <a:off x="457200" y="6335911"/>
            <a:ext cx="5267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PyCaret → AutoGluon → Scikit-learn</a:t>
            </a:r>
            <a:endParaRPr lang="en-US" sz="900" dirty="0"/>
          </a:p>
        </p:txBody>
      </p:sp>
      <p:sp>
        <p:nvSpPr>
          <p:cNvPr id="67" name="Text 24"/>
          <p:cNvSpPr/>
          <p:nvPr/>
        </p:nvSpPr>
        <p:spPr>
          <a:xfrm>
            <a:off x="6467475" y="5726311"/>
            <a:ext cx="5267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효율성</a:t>
            </a:r>
            <a:endParaRPr lang="en-US" sz="1200" dirty="0"/>
          </a:p>
        </p:txBody>
      </p:sp>
      <p:sp>
        <p:nvSpPr>
          <p:cNvPr id="68" name="Text 25"/>
          <p:cNvSpPr/>
          <p:nvPr/>
        </p:nvSpPr>
        <p:spPr>
          <a:xfrm>
            <a:off x="6467475" y="6335911"/>
            <a:ext cx="52673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 → PyCaret → AutoGluon</a:t>
            </a:r>
            <a:endParaRPr lang="en-US" sz="900" dirty="0"/>
          </a:p>
        </p:txBody>
      </p:sp>
      <p:sp>
        <p:nvSpPr>
          <p:cNvPr id="69" name="Text 26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7/10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7810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71550"/>
            <a:ext cx="5791200" cy="22479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" y="1133475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" y="1428750"/>
            <a:ext cx="5562600" cy="4572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" y="1962150"/>
            <a:ext cx="5562600" cy="3048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900" y="2343150"/>
            <a:ext cx="5562600" cy="4572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2200" y="971550"/>
            <a:ext cx="5791200" cy="22479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1133475"/>
            <a:ext cx="219075" cy="17145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86500" y="1428750"/>
            <a:ext cx="2743200" cy="6477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05900" y="1428750"/>
            <a:ext cx="2743200" cy="6477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86500" y="2152650"/>
            <a:ext cx="5562600" cy="9525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62700" y="2419350"/>
            <a:ext cx="5410200" cy="6096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8600" y="3333750"/>
            <a:ext cx="11734800" cy="12573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2900" y="3495675"/>
            <a:ext cx="171450" cy="17145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2900" y="3790950"/>
            <a:ext cx="2790825" cy="6858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248025" y="3790950"/>
            <a:ext cx="2790825" cy="6858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53150" y="3790950"/>
            <a:ext cx="2790825" cy="6858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058275" y="3790950"/>
            <a:ext cx="2790825" cy="6858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28600" y="4705350"/>
            <a:ext cx="11734800" cy="110490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89850" y="5162550"/>
            <a:ext cx="3759101" cy="5334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28600" y="5924550"/>
            <a:ext cx="11734800" cy="14097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66047" y="6267450"/>
            <a:ext cx="609600" cy="6096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56547" y="6419850"/>
            <a:ext cx="228600" cy="3048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505474" y="7067550"/>
            <a:ext cx="730746" cy="190500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5944" y="6267450"/>
            <a:ext cx="609600" cy="609600"/>
          </a:xfrm>
          <a:prstGeom prst="rect">
            <a:avLst/>
          </a:prstGeom>
        </p:spPr>
      </p:pic>
      <p:pic>
        <p:nvPicPr>
          <p:cNvPr id="29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50731" y="6419850"/>
            <a:ext cx="200025" cy="304800"/>
          </a:xfrm>
          <a:prstGeom prst="rect">
            <a:avLst/>
          </a:prstGeom>
        </p:spPr>
      </p:pic>
      <p:pic>
        <p:nvPicPr>
          <p:cNvPr id="30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617220" y="7067550"/>
            <a:ext cx="667196" cy="190500"/>
          </a:xfrm>
          <a:prstGeom prst="rect">
            <a:avLst/>
          </a:prstGeom>
        </p:spPr>
      </p:pic>
      <p:pic>
        <p:nvPicPr>
          <p:cNvPr id="31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871097" y="6267450"/>
            <a:ext cx="609600" cy="609600"/>
          </a:xfrm>
          <a:prstGeom prst="rect">
            <a:avLst/>
          </a:prstGeom>
        </p:spPr>
      </p:pic>
      <p:pic>
        <p:nvPicPr>
          <p:cNvPr id="32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061597" y="6419850"/>
            <a:ext cx="228600" cy="304800"/>
          </a:xfrm>
          <a:prstGeom prst="rect">
            <a:avLst/>
          </a:prstGeom>
        </p:spPr>
      </p:pic>
      <p:pic>
        <p:nvPicPr>
          <p:cNvPr id="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743849" y="7067550"/>
            <a:ext cx="864096" cy="190500"/>
          </a:xfrm>
          <a:prstGeom prst="rect">
            <a:avLst/>
          </a:prstGeom>
        </p:spPr>
      </p:pic>
      <p:sp>
        <p:nvSpPr>
          <p:cNvPr id="34" name="Text 0"/>
          <p:cNvSpPr/>
          <p:nvPr/>
        </p:nvSpPr>
        <p:spPr>
          <a:xfrm>
            <a:off x="228600" y="228600"/>
            <a:ext cx="11734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실험 결과 &amp; 최종 결론</a:t>
            </a:r>
            <a:endParaRPr lang="en-US" sz="2100" dirty="0"/>
          </a:p>
        </p:txBody>
      </p:sp>
      <p:sp>
        <p:nvSpPr>
          <p:cNvPr id="35" name="Text 1"/>
          <p:cNvSpPr/>
          <p:nvPr/>
        </p:nvSpPr>
        <p:spPr>
          <a:xfrm>
            <a:off x="590550" y="1085850"/>
            <a:ext cx="556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AutoGluon 실험 결과</a:t>
            </a:r>
            <a:endParaRPr lang="en-US" sz="1350" dirty="0"/>
          </a:p>
        </p:txBody>
      </p:sp>
      <p:sp>
        <p:nvSpPr>
          <p:cNvPr id="36" name="Text 2"/>
          <p:cNvSpPr/>
          <p:nvPr/>
        </p:nvSpPr>
        <p:spPr>
          <a:xfrm>
            <a:off x="457200" y="1504950"/>
            <a:ext cx="5372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medium_quality: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빠른 학습, 안정적 성능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로그 변환 가격 점수: RMSLE=0.4658</a:t>
            </a:r>
            <a:endParaRPr lang="en-US" sz="900" dirty="0"/>
          </a:p>
        </p:txBody>
      </p:sp>
      <p:sp>
        <p:nvSpPr>
          <p:cNvPr id="37" name="Text 3"/>
          <p:cNvSpPr/>
          <p:nvPr/>
        </p:nvSpPr>
        <p:spPr>
          <a:xfrm>
            <a:off x="457200" y="2038350"/>
            <a:ext cx="6446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best_quality: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RMSLE 소폭 개선(0.035), 학습 시간 급증(50배 이상)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900" dirty="0"/>
          </a:p>
        </p:txBody>
      </p:sp>
      <p:sp>
        <p:nvSpPr>
          <p:cNvPr id="38" name="Text 4"/>
          <p:cNvSpPr/>
          <p:nvPr/>
        </p:nvSpPr>
        <p:spPr>
          <a:xfrm>
            <a:off x="457200" y="2419350"/>
            <a:ext cx="5372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stacking 개선: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L2, L3 스태킹으로도 성능 개선 제한적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B453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다양한 앙상블 기법에도 극복 불가한 한계 존재</a:t>
            </a:r>
            <a:endParaRPr lang="en-US" sz="900" dirty="0"/>
          </a:p>
        </p:txBody>
      </p:sp>
      <p:sp>
        <p:nvSpPr>
          <p:cNvPr id="39" name="Text 5"/>
          <p:cNvSpPr/>
          <p:nvPr/>
        </p:nvSpPr>
        <p:spPr>
          <a:xfrm>
            <a:off x="6581775" y="1085850"/>
            <a:ext cx="5562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 실험 결과</a:t>
            </a:r>
            <a:endParaRPr lang="en-US" sz="1350" dirty="0"/>
          </a:p>
        </p:txBody>
      </p:sp>
      <p:sp>
        <p:nvSpPr>
          <p:cNvPr id="40" name="Text 6"/>
          <p:cNvSpPr/>
          <p:nvPr/>
        </p:nvSpPr>
        <p:spPr>
          <a:xfrm>
            <a:off x="6400800" y="1504950"/>
            <a:ext cx="3063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2-Model Ensemble</a:t>
            </a:r>
            <a:endParaRPr lang="en-US" sz="1050" dirty="0"/>
          </a:p>
        </p:txBody>
      </p:sp>
      <p:sp>
        <p:nvSpPr>
          <p:cNvPr id="41" name="Text 7"/>
          <p:cNvSpPr/>
          <p:nvPr/>
        </p:nvSpPr>
        <p:spPr>
          <a:xfrm>
            <a:off x="6400800" y="1695450"/>
            <a:ext cx="2552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 + LightGBM 조합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RMSLE 기준 최고 성능(0.4505)</a:t>
            </a:r>
            <a:endParaRPr lang="en-US" sz="900" dirty="0"/>
          </a:p>
        </p:txBody>
      </p:sp>
      <p:sp>
        <p:nvSpPr>
          <p:cNvPr id="42" name="Text 8"/>
          <p:cNvSpPr/>
          <p:nvPr/>
        </p:nvSpPr>
        <p:spPr>
          <a:xfrm>
            <a:off x="9220200" y="1504950"/>
            <a:ext cx="2552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4-Model 확장</a:t>
            </a:r>
            <a:endParaRPr lang="en-US" sz="1050" dirty="0"/>
          </a:p>
        </p:txBody>
      </p:sp>
      <p:sp>
        <p:nvSpPr>
          <p:cNvPr id="43" name="Text 9"/>
          <p:cNvSpPr/>
          <p:nvPr/>
        </p:nvSpPr>
        <p:spPr>
          <a:xfrm>
            <a:off x="9220200" y="1695450"/>
            <a:ext cx="2552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앙상블 구조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실제 성능 저하 발생, 과적합 우려</a:t>
            </a:r>
            <a:endParaRPr lang="en-US" sz="900" dirty="0"/>
          </a:p>
        </p:txBody>
      </p:sp>
      <p:sp>
        <p:nvSpPr>
          <p:cNvPr id="44" name="Text 10"/>
          <p:cNvSpPr/>
          <p:nvPr/>
        </p:nvSpPr>
        <p:spPr>
          <a:xfrm>
            <a:off x="6362700" y="2228850"/>
            <a:ext cx="541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Comparison (Lower is Better)</a:t>
            </a:r>
            <a:endParaRPr lang="en-US" sz="900" dirty="0"/>
          </a:p>
        </p:txBody>
      </p:sp>
      <p:sp>
        <p:nvSpPr>
          <p:cNvPr id="45" name="Text 11"/>
          <p:cNvSpPr/>
          <p:nvPr/>
        </p:nvSpPr>
        <p:spPr>
          <a:xfrm>
            <a:off x="590550" y="3448050"/>
            <a:ext cx="1150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최적화 과정</a:t>
            </a:r>
            <a:endParaRPr lang="en-US" sz="1350" dirty="0"/>
          </a:p>
        </p:txBody>
      </p:sp>
      <p:sp>
        <p:nvSpPr>
          <p:cNvPr id="46" name="Text 12"/>
          <p:cNvSpPr/>
          <p:nvPr/>
        </p:nvSpPr>
        <p:spPr>
          <a:xfrm>
            <a:off x="419100" y="3867150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Optuna/Hyperopt</a:t>
            </a:r>
            <a:endParaRPr lang="en-US" sz="1050" dirty="0"/>
          </a:p>
        </p:txBody>
      </p:sp>
      <p:sp>
        <p:nvSpPr>
          <p:cNvPr id="47" name="Text 13"/>
          <p:cNvSpPr/>
          <p:nvPr/>
        </p:nvSpPr>
        <p:spPr>
          <a:xfrm>
            <a:off x="419100" y="4095750"/>
            <a:ext cx="2638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최적 하이퍼파라미터 탐색 및 Fine-tuning 수행</a:t>
            </a:r>
            <a:endParaRPr lang="en-US" sz="900" dirty="0"/>
          </a:p>
        </p:txBody>
      </p:sp>
      <p:sp>
        <p:nvSpPr>
          <p:cNvPr id="48" name="Text 14"/>
          <p:cNvSpPr/>
          <p:nvPr/>
        </p:nvSpPr>
        <p:spPr>
          <a:xfrm>
            <a:off x="3324225" y="3867150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가속 기술</a:t>
            </a:r>
            <a:endParaRPr lang="en-US" sz="1050" dirty="0"/>
          </a:p>
        </p:txBody>
      </p:sp>
      <p:sp>
        <p:nvSpPr>
          <p:cNvPr id="49" name="Text 15"/>
          <p:cNvSpPr/>
          <p:nvPr/>
        </p:nvSpPr>
        <p:spPr>
          <a:xfrm>
            <a:off x="3324225" y="4095750"/>
            <a:ext cx="2638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연산을 통한 학습 시간 30-40% 감소, 메모리 효율 향상</a:t>
            </a:r>
            <a:endParaRPr lang="en-US" sz="900" dirty="0"/>
          </a:p>
        </p:txBody>
      </p:sp>
      <p:sp>
        <p:nvSpPr>
          <p:cNvPr id="50" name="Text 16"/>
          <p:cNvSpPr/>
          <p:nvPr/>
        </p:nvSpPr>
        <p:spPr>
          <a:xfrm>
            <a:off x="6229350" y="3867150"/>
            <a:ext cx="26384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캐싱 기반 반복 활용</a:t>
            </a:r>
            <a:endParaRPr lang="en-US" sz="1050" dirty="0"/>
          </a:p>
        </p:txBody>
      </p:sp>
      <p:sp>
        <p:nvSpPr>
          <p:cNvPr id="51" name="Text 17"/>
          <p:cNvSpPr/>
          <p:nvPr/>
        </p:nvSpPr>
        <p:spPr>
          <a:xfrm>
            <a:off x="6229350" y="4095750"/>
            <a:ext cx="2638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결과 및 벡터화 작업 중복 방지로 실험 효율성 증가</a:t>
            </a:r>
            <a:endParaRPr lang="en-US" sz="900" dirty="0"/>
          </a:p>
        </p:txBody>
      </p:sp>
      <p:sp>
        <p:nvSpPr>
          <p:cNvPr id="52" name="Text 18"/>
          <p:cNvSpPr/>
          <p:nvPr/>
        </p:nvSpPr>
        <p:spPr>
          <a:xfrm>
            <a:off x="9134475" y="3867150"/>
            <a:ext cx="31661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Memory Management</a:t>
            </a:r>
            <a:endParaRPr lang="en-US" sz="1050" dirty="0"/>
          </a:p>
        </p:txBody>
      </p:sp>
      <p:sp>
        <p:nvSpPr>
          <p:cNvPr id="53" name="Text 19"/>
          <p:cNvSpPr/>
          <p:nvPr/>
        </p:nvSpPr>
        <p:spPr>
          <a:xfrm>
            <a:off x="9134475" y="4095750"/>
            <a:ext cx="31661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 Garbage Collection으로 메모리 관리 최적화</a:t>
            </a:r>
            <a:endParaRPr lang="en-US" sz="900" dirty="0"/>
          </a:p>
        </p:txBody>
      </p:sp>
      <p:sp>
        <p:nvSpPr>
          <p:cNvPr id="54" name="Text 20"/>
          <p:cNvSpPr/>
          <p:nvPr/>
        </p:nvSpPr>
        <p:spPr>
          <a:xfrm>
            <a:off x="342900" y="4819650"/>
            <a:ext cx="1150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결론</a:t>
            </a:r>
            <a:endParaRPr lang="en-US" sz="1350" dirty="0"/>
          </a:p>
        </p:txBody>
      </p:sp>
      <p:sp>
        <p:nvSpPr>
          <p:cNvPr id="55" name="Text 21"/>
          <p:cNvSpPr/>
          <p:nvPr/>
        </p:nvSpPr>
        <p:spPr>
          <a:xfrm>
            <a:off x="342900" y="5162550"/>
            <a:ext cx="76326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수 증가의 한계: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 프로젝트에서는 모델 수 증가가 오히려 성능에 부정적인 영향을 미침</a:t>
            </a:r>
            <a:endParaRPr lang="en-US" sz="900" dirty="0"/>
          </a:p>
        </p:txBody>
      </p:sp>
      <p:sp>
        <p:nvSpPr>
          <p:cNvPr id="56" name="Text 22"/>
          <p:cNvSpPr/>
          <p:nvPr/>
        </p:nvSpPr>
        <p:spPr>
          <a:xfrm>
            <a:off x="342900" y="5314950"/>
            <a:ext cx="76326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성공 요소: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피처 엔지니어링 품질과 단순하지만 강력한 앙상블 전략의 조합이 중요함</a:t>
            </a:r>
            <a:endParaRPr lang="en-US" sz="900" dirty="0"/>
          </a:p>
        </p:txBody>
      </p:sp>
      <p:sp>
        <p:nvSpPr>
          <p:cNvPr id="57" name="Text 23"/>
          <p:cNvSpPr/>
          <p:nvPr/>
        </p:nvSpPr>
        <p:spPr>
          <a:xfrm>
            <a:off x="342900" y="5467350"/>
            <a:ext cx="9159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가중치 결정의 중요성: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LightGBM과 Ridge 모델을 적절한 비율(0.55+0.45)로 조합하여 최적 가중치 산출</a:t>
            </a:r>
            <a:endParaRPr lang="en-US" sz="900" dirty="0"/>
          </a:p>
        </p:txBody>
      </p:sp>
      <p:sp>
        <p:nvSpPr>
          <p:cNvPr id="58" name="Text 24"/>
          <p:cNvSpPr/>
          <p:nvPr/>
        </p:nvSpPr>
        <p:spPr>
          <a:xfrm>
            <a:off x="8166050" y="5238750"/>
            <a:ext cx="360670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"모델 수 증가보다 피처 엔지니어링 품질과 단순하지만 강력한 앙상블 전략이 가장 효과적"</a:t>
            </a:r>
            <a:endParaRPr lang="en-US" sz="1050" dirty="0"/>
          </a:p>
        </p:txBody>
      </p:sp>
      <p:sp>
        <p:nvSpPr>
          <p:cNvPr id="59" name="Text 25"/>
          <p:cNvSpPr/>
          <p:nvPr/>
        </p:nvSpPr>
        <p:spPr>
          <a:xfrm>
            <a:off x="304800" y="6000750"/>
            <a:ext cx="1158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성능 공개 선정 (2-Model Ensemble)</a:t>
            </a:r>
            <a:endParaRPr lang="en-US" sz="1200" dirty="0"/>
          </a:p>
        </p:txBody>
      </p:sp>
      <p:sp>
        <p:nvSpPr>
          <p:cNvPr id="60" name="Text 26"/>
          <p:cNvSpPr/>
          <p:nvPr/>
        </p:nvSpPr>
        <p:spPr>
          <a:xfrm>
            <a:off x="4616648" y="6915150"/>
            <a:ext cx="6098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00" dirty="0"/>
          </a:p>
        </p:txBody>
      </p:sp>
      <p:sp>
        <p:nvSpPr>
          <p:cNvPr id="61" name="Text 27"/>
          <p:cNvSpPr/>
          <p:nvPr/>
        </p:nvSpPr>
        <p:spPr>
          <a:xfrm>
            <a:off x="4581674" y="7067550"/>
            <a:ext cx="8768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Alpha: 0.45</a:t>
            </a:r>
            <a:endParaRPr lang="en-US" sz="900" dirty="0"/>
          </a:p>
        </p:txBody>
      </p:sp>
      <p:sp>
        <p:nvSpPr>
          <p:cNvPr id="62" name="Text 28"/>
          <p:cNvSpPr/>
          <p:nvPr/>
        </p:nvSpPr>
        <p:spPr>
          <a:xfrm>
            <a:off x="5801469" y="6915150"/>
            <a:ext cx="3584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Ridge</a:t>
            </a:r>
            <a:endParaRPr lang="en-US" sz="900" dirty="0"/>
          </a:p>
        </p:txBody>
      </p:sp>
      <p:sp>
        <p:nvSpPr>
          <p:cNvPr id="63" name="Text 29"/>
          <p:cNvSpPr/>
          <p:nvPr/>
        </p:nvSpPr>
        <p:spPr>
          <a:xfrm>
            <a:off x="5693420" y="7067550"/>
            <a:ext cx="80063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Alpha: 0.8</a:t>
            </a:r>
            <a:endParaRPr lang="en-US" sz="900" dirty="0"/>
          </a:p>
        </p:txBody>
      </p:sp>
      <p:sp>
        <p:nvSpPr>
          <p:cNvPr id="64" name="Text 30"/>
          <p:cNvSpPr/>
          <p:nvPr/>
        </p:nvSpPr>
        <p:spPr>
          <a:xfrm>
            <a:off x="6665416" y="6915150"/>
            <a:ext cx="12251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Weighted Ensemble</a:t>
            </a:r>
            <a:endParaRPr lang="en-US" sz="900" dirty="0"/>
          </a:p>
        </p:txBody>
      </p:sp>
      <p:sp>
        <p:nvSpPr>
          <p:cNvPr id="65" name="Text 31"/>
          <p:cNvSpPr/>
          <p:nvPr/>
        </p:nvSpPr>
        <p:spPr>
          <a:xfrm>
            <a:off x="6820049" y="7067550"/>
            <a:ext cx="10369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Score: 0.4505</a:t>
            </a:r>
            <a:endParaRPr lang="en-US" sz="900" dirty="0"/>
          </a:p>
        </p:txBody>
      </p:sp>
      <p:sp>
        <p:nvSpPr>
          <p:cNvPr id="66" name="Text 32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8/10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7810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33450"/>
            <a:ext cx="3810000" cy="26670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" y="1095375"/>
            <a:ext cx="171450" cy="17145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" y="1657350"/>
            <a:ext cx="1752600" cy="7239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71700" y="1657350"/>
            <a:ext cx="1752600" cy="7239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900" y="2457450"/>
            <a:ext cx="1752600" cy="2286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71700" y="2457450"/>
            <a:ext cx="1752600" cy="2286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" y="2800350"/>
            <a:ext cx="3581400" cy="5334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91000" y="933450"/>
            <a:ext cx="3810000" cy="26670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05300" y="1095375"/>
            <a:ext cx="190500" cy="17145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05300" y="1390650"/>
            <a:ext cx="3581400" cy="64770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05300" y="2114550"/>
            <a:ext cx="3581400" cy="6477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05300" y="2838450"/>
            <a:ext cx="3581400" cy="6477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53400" y="933450"/>
            <a:ext cx="3810000" cy="26670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67700" y="1095375"/>
            <a:ext cx="171450" cy="17145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67700" y="1390650"/>
            <a:ext cx="3581400" cy="6477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67700" y="2114550"/>
            <a:ext cx="3581400" cy="9144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8600" y="3714750"/>
            <a:ext cx="11734800" cy="15240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42900" y="3876675"/>
            <a:ext cx="133350" cy="17145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42900" y="4171950"/>
            <a:ext cx="5676900" cy="5334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172200" y="4171950"/>
            <a:ext cx="5676900" cy="5334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42900" y="4781550"/>
            <a:ext cx="5676900" cy="3429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72200" y="4781550"/>
            <a:ext cx="5676900" cy="3429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28600" y="5353050"/>
            <a:ext cx="11734800" cy="1866900"/>
          </a:xfrm>
          <a:prstGeom prst="rect">
            <a:avLst/>
          </a:prstGeom>
        </p:spPr>
      </p:pic>
      <p:pic>
        <p:nvPicPr>
          <p:cNvPr id="28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42900" y="5772150"/>
            <a:ext cx="11506200" cy="1333500"/>
          </a:xfrm>
          <a:prstGeom prst="rect">
            <a:avLst/>
          </a:prstGeom>
        </p:spPr>
      </p:pic>
      <p:pic>
        <p:nvPicPr>
          <p:cNvPr id="29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84587" y="5915025"/>
            <a:ext cx="133350" cy="133350"/>
          </a:xfrm>
          <a:prstGeom prst="rect">
            <a:avLst/>
          </a:prstGeom>
        </p:spPr>
      </p:pic>
      <p:pic>
        <p:nvPicPr>
          <p:cNvPr id="30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444752" y="6191250"/>
            <a:ext cx="457200" cy="457200"/>
          </a:xfrm>
          <a:prstGeom prst="rect">
            <a:avLst/>
          </a:prstGeom>
        </p:spPr>
      </p:pic>
      <p:pic>
        <p:nvPicPr>
          <p:cNvPr id="31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616202" y="6343650"/>
            <a:ext cx="114300" cy="152400"/>
          </a:xfrm>
          <a:prstGeom prst="rect">
            <a:avLst/>
          </a:prstGeom>
        </p:spPr>
      </p:pic>
      <p:pic>
        <p:nvPicPr>
          <p:cNvPr id="32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324177" y="6191250"/>
            <a:ext cx="457200" cy="457200"/>
          </a:xfrm>
          <a:prstGeom prst="rect">
            <a:avLst/>
          </a:prstGeom>
        </p:spPr>
      </p:pic>
      <p:pic>
        <p:nvPicPr>
          <p:cNvPr id="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486102" y="6343650"/>
            <a:ext cx="133350" cy="152400"/>
          </a:xfrm>
          <a:prstGeom prst="rect">
            <a:avLst/>
          </a:prstGeom>
        </p:spPr>
      </p:pic>
      <p:pic>
        <p:nvPicPr>
          <p:cNvPr id="34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203752" y="6191250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356152" y="6343650"/>
            <a:ext cx="152400" cy="152400"/>
          </a:xfrm>
          <a:prstGeom prst="rect">
            <a:avLst/>
          </a:prstGeom>
        </p:spPr>
      </p:pic>
      <p:pic>
        <p:nvPicPr>
          <p:cNvPr id="36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200900" y="6191250"/>
            <a:ext cx="457200" cy="457200"/>
          </a:xfrm>
          <a:prstGeom prst="rect">
            <a:avLst/>
          </a:prstGeom>
        </p:spPr>
      </p:pic>
      <p:pic>
        <p:nvPicPr>
          <p:cNvPr id="37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353300" y="6343650"/>
            <a:ext cx="152400" cy="152400"/>
          </a:xfrm>
          <a:prstGeom prst="rect">
            <a:avLst/>
          </a:prstGeom>
        </p:spPr>
      </p:pic>
      <p:sp>
        <p:nvSpPr>
          <p:cNvPr id="38" name="Text 0"/>
          <p:cNvSpPr/>
          <p:nvPr/>
        </p:nvSpPr>
        <p:spPr>
          <a:xfrm>
            <a:off x="228600" y="228600"/>
            <a:ext cx="11734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평가 결과 &amp; 핵심 인사이트</a:t>
            </a:r>
            <a:endParaRPr lang="en-US" sz="2100" dirty="0"/>
          </a:p>
        </p:txBody>
      </p:sp>
      <p:sp>
        <p:nvSpPr>
          <p:cNvPr id="39" name="Text 1"/>
          <p:cNvSpPr/>
          <p:nvPr/>
        </p:nvSpPr>
        <p:spPr>
          <a:xfrm>
            <a:off x="590550" y="1047750"/>
            <a:ext cx="3581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</a:t>
            </a:r>
            <a:endParaRPr lang="en-US" sz="1350" dirty="0"/>
          </a:p>
        </p:txBody>
      </p:sp>
      <p:sp>
        <p:nvSpPr>
          <p:cNvPr id="40" name="Text 2"/>
          <p:cNvSpPr/>
          <p:nvPr/>
        </p:nvSpPr>
        <p:spPr>
          <a:xfrm>
            <a:off x="342900" y="1390650"/>
            <a:ext cx="42976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평가 지표: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중심으로 학습</a:t>
            </a:r>
            <a:endParaRPr lang="en-US" sz="1050" dirty="0"/>
          </a:p>
        </p:txBody>
      </p:sp>
      <p:sp>
        <p:nvSpPr>
          <p:cNvPr id="41" name="Text 3"/>
          <p:cNvSpPr/>
          <p:nvPr/>
        </p:nvSpPr>
        <p:spPr>
          <a:xfrm>
            <a:off x="419100" y="1733550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endParaRPr lang="en-US" sz="900" dirty="0"/>
          </a:p>
        </p:txBody>
      </p:sp>
      <p:sp>
        <p:nvSpPr>
          <p:cNvPr id="42" name="Text 4"/>
          <p:cNvSpPr/>
          <p:nvPr/>
        </p:nvSpPr>
        <p:spPr>
          <a:xfrm>
            <a:off x="419100" y="1885950"/>
            <a:ext cx="1920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53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0.0123</a:t>
            </a:r>
            <a:endParaRPr lang="en-US" sz="1500" dirty="0"/>
          </a:p>
        </p:txBody>
      </p:sp>
      <p:sp>
        <p:nvSpPr>
          <p:cNvPr id="43" name="Text 5"/>
          <p:cNvSpPr/>
          <p:nvPr/>
        </p:nvSpPr>
        <p:spPr>
          <a:xfrm>
            <a:off x="419100" y="2152650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상위권 성능</a:t>
            </a:r>
            <a:endParaRPr lang="en-US" sz="900" dirty="0"/>
          </a:p>
        </p:txBody>
      </p:sp>
      <p:sp>
        <p:nvSpPr>
          <p:cNvPr id="44" name="Text 6"/>
          <p:cNvSpPr/>
          <p:nvPr/>
        </p:nvSpPr>
        <p:spPr>
          <a:xfrm>
            <a:off x="2247900" y="1733550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endParaRPr lang="en-US" sz="900" dirty="0"/>
          </a:p>
        </p:txBody>
      </p:sp>
      <p:sp>
        <p:nvSpPr>
          <p:cNvPr id="45" name="Text 7"/>
          <p:cNvSpPr/>
          <p:nvPr/>
        </p:nvSpPr>
        <p:spPr>
          <a:xfrm>
            <a:off x="2247900" y="1885950"/>
            <a:ext cx="1920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26.95</a:t>
            </a:r>
            <a:endParaRPr lang="en-US" sz="1500" dirty="0"/>
          </a:p>
        </p:txBody>
      </p:sp>
      <p:sp>
        <p:nvSpPr>
          <p:cNvPr id="46" name="Text 8"/>
          <p:cNvSpPr/>
          <p:nvPr/>
        </p:nvSpPr>
        <p:spPr>
          <a:xfrm>
            <a:off x="2247900" y="2152650"/>
            <a:ext cx="16002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예측 단위(원)</a:t>
            </a:r>
            <a:endParaRPr lang="en-US" sz="900" dirty="0"/>
          </a:p>
        </p:txBody>
      </p:sp>
      <p:sp>
        <p:nvSpPr>
          <p:cNvPr id="47" name="Text 9"/>
          <p:cNvSpPr/>
          <p:nvPr/>
        </p:nvSpPr>
        <p:spPr>
          <a:xfrm>
            <a:off x="381000" y="2495550"/>
            <a:ext cx="2011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21.91</a:t>
            </a:r>
            <a:endParaRPr lang="en-US" sz="900" dirty="0"/>
          </a:p>
        </p:txBody>
      </p:sp>
      <p:sp>
        <p:nvSpPr>
          <p:cNvPr id="48" name="Text 10"/>
          <p:cNvSpPr/>
          <p:nvPr/>
        </p:nvSpPr>
        <p:spPr>
          <a:xfrm>
            <a:off x="2209800" y="2495550"/>
            <a:ext cx="2011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E22C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581C8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0.9904</a:t>
            </a:r>
            <a:endParaRPr lang="en-US" sz="900" dirty="0"/>
          </a:p>
        </p:txBody>
      </p:sp>
      <p:sp>
        <p:nvSpPr>
          <p:cNvPr id="49" name="Text 11"/>
          <p:cNvSpPr/>
          <p:nvPr/>
        </p:nvSpPr>
        <p:spPr>
          <a:xfrm>
            <a:off x="419100" y="2876550"/>
            <a:ext cx="411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 지표: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R²</a:t>
            </a:r>
            <a:endParaRPr lang="en-US" sz="1050" dirty="0"/>
          </a:p>
        </p:txBody>
      </p:sp>
      <p:sp>
        <p:nvSpPr>
          <p:cNvPr id="50" name="Text 12"/>
          <p:cNvSpPr/>
          <p:nvPr/>
        </p:nvSpPr>
        <p:spPr>
          <a:xfrm>
            <a:off x="419100" y="3105150"/>
            <a:ext cx="4114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기본적인 재현율 및 성능 추정이 필요할 수 있음</a:t>
            </a:r>
            <a:endParaRPr lang="en-US" sz="900" dirty="0"/>
          </a:p>
        </p:txBody>
      </p:sp>
      <p:sp>
        <p:nvSpPr>
          <p:cNvPr id="51" name="Text 13"/>
          <p:cNvSpPr/>
          <p:nvPr/>
        </p:nvSpPr>
        <p:spPr>
          <a:xfrm>
            <a:off x="4572000" y="1047750"/>
            <a:ext cx="3581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 성능 임베딩 비교</a:t>
            </a:r>
            <a:endParaRPr lang="en-US" sz="1350" dirty="0"/>
          </a:p>
        </p:txBody>
      </p:sp>
      <p:sp>
        <p:nvSpPr>
          <p:cNvPr id="52" name="Text 14"/>
          <p:cNvSpPr/>
          <p:nvPr/>
        </p:nvSpPr>
        <p:spPr>
          <a:xfrm>
            <a:off x="4419600" y="1466850"/>
            <a:ext cx="3390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 + 트리기반 모델</a:t>
            </a:r>
            <a:endParaRPr lang="en-US" sz="1050" dirty="0"/>
          </a:p>
        </p:txBody>
      </p:sp>
      <p:sp>
        <p:nvSpPr>
          <p:cNvPr id="53" name="Text 15"/>
          <p:cNvSpPr/>
          <p:nvPr/>
        </p:nvSpPr>
        <p:spPr>
          <a:xfrm>
            <a:off x="4419600" y="1657350"/>
            <a:ext cx="4069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0.0123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| R²: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0.9904</a:t>
            </a:r>
            <a:endParaRPr lang="en-US" sz="900" dirty="0"/>
          </a:p>
        </p:txBody>
      </p:sp>
      <p:sp>
        <p:nvSpPr>
          <p:cNvPr id="54" name="Text 16"/>
          <p:cNvSpPr/>
          <p:nvPr/>
        </p:nvSpPr>
        <p:spPr>
          <a:xfrm>
            <a:off x="4419600" y="1809750"/>
            <a:ext cx="4069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데이터 특성 최적화 TF-IDF</a:t>
            </a:r>
            <a:endParaRPr lang="en-US" sz="900" dirty="0"/>
          </a:p>
        </p:txBody>
      </p:sp>
      <p:sp>
        <p:nvSpPr>
          <p:cNvPr id="55" name="Text 17"/>
          <p:cNvSpPr/>
          <p:nvPr/>
        </p:nvSpPr>
        <p:spPr>
          <a:xfrm>
            <a:off x="4419600" y="2190750"/>
            <a:ext cx="3390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GloVe + 트리기반 모델</a:t>
            </a:r>
            <a:endParaRPr lang="en-US" sz="1050" dirty="0"/>
          </a:p>
        </p:txBody>
      </p:sp>
      <p:sp>
        <p:nvSpPr>
          <p:cNvPr id="56" name="Text 18"/>
          <p:cNvSpPr/>
          <p:nvPr/>
        </p:nvSpPr>
        <p:spPr>
          <a:xfrm>
            <a:off x="4419600" y="2381250"/>
            <a:ext cx="4069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0.0126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| R²: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0.9899</a:t>
            </a:r>
            <a:endParaRPr lang="en-US" sz="900" dirty="0"/>
          </a:p>
        </p:txBody>
      </p:sp>
      <p:sp>
        <p:nvSpPr>
          <p:cNvPr id="57" name="Text 19"/>
          <p:cNvSpPr/>
          <p:nvPr/>
        </p:nvSpPr>
        <p:spPr>
          <a:xfrm>
            <a:off x="4419600" y="2533650"/>
            <a:ext cx="3390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다차원 TSNE 최적화된 벡터 표현</a:t>
            </a:r>
            <a:endParaRPr lang="en-US" sz="900" dirty="0"/>
          </a:p>
        </p:txBody>
      </p:sp>
      <p:sp>
        <p:nvSpPr>
          <p:cNvPr id="58" name="Text 20"/>
          <p:cNvSpPr/>
          <p:nvPr/>
        </p:nvSpPr>
        <p:spPr>
          <a:xfrm>
            <a:off x="4419600" y="2914650"/>
            <a:ext cx="3390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FastText + 트리기반 모델</a:t>
            </a:r>
            <a:endParaRPr lang="en-US" sz="1050" dirty="0"/>
          </a:p>
        </p:txBody>
      </p:sp>
      <p:sp>
        <p:nvSpPr>
          <p:cNvPr id="59" name="Text 21"/>
          <p:cNvSpPr/>
          <p:nvPr/>
        </p:nvSpPr>
        <p:spPr>
          <a:xfrm>
            <a:off x="4419600" y="3105150"/>
            <a:ext cx="40690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0.0127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| R²: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0.9897</a:t>
            </a:r>
            <a:endParaRPr lang="en-US" sz="900" dirty="0"/>
          </a:p>
        </p:txBody>
      </p:sp>
      <p:sp>
        <p:nvSpPr>
          <p:cNvPr id="60" name="Text 22"/>
          <p:cNvSpPr/>
          <p:nvPr/>
        </p:nvSpPr>
        <p:spPr>
          <a:xfrm>
            <a:off x="4419600" y="3257550"/>
            <a:ext cx="33909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어절 기반 임베딩 효과</a:t>
            </a:r>
            <a:endParaRPr lang="en-US" sz="900" dirty="0"/>
          </a:p>
        </p:txBody>
      </p:sp>
      <p:sp>
        <p:nvSpPr>
          <p:cNvPr id="61" name="Text 23"/>
          <p:cNvSpPr/>
          <p:nvPr/>
        </p:nvSpPr>
        <p:spPr>
          <a:xfrm>
            <a:off x="8515350" y="1047750"/>
            <a:ext cx="3581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9333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BERT 임베딩 분석</a:t>
            </a:r>
            <a:endParaRPr lang="en-US" sz="1350" dirty="0"/>
          </a:p>
        </p:txBody>
      </p:sp>
      <p:sp>
        <p:nvSpPr>
          <p:cNvPr id="62" name="Text 24"/>
          <p:cNvSpPr/>
          <p:nvPr/>
        </p:nvSpPr>
        <p:spPr>
          <a:xfrm>
            <a:off x="8343900" y="146685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BERT 연산 특성</a:t>
            </a:r>
            <a:endParaRPr lang="en-US" sz="1050" dirty="0"/>
          </a:p>
        </p:txBody>
      </p:sp>
      <p:sp>
        <p:nvSpPr>
          <p:cNvPr id="63" name="Text 25"/>
          <p:cNvSpPr/>
          <p:nvPr/>
        </p:nvSpPr>
        <p:spPr>
          <a:xfrm>
            <a:off x="8343900" y="1657350"/>
            <a:ext cx="4114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Max Pooling Layer 기반 학습 → 상위권에 진입</a:t>
            </a:r>
            <a:endParaRPr lang="en-US" sz="900" dirty="0"/>
          </a:p>
        </p:txBody>
      </p:sp>
      <p:sp>
        <p:nvSpPr>
          <p:cNvPr id="64" name="Text 26"/>
          <p:cNvSpPr/>
          <p:nvPr/>
        </p:nvSpPr>
        <p:spPr>
          <a:xfrm>
            <a:off x="8343900" y="1809750"/>
            <a:ext cx="3429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RMSLE: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0.0128</a:t>
            </a:r>
            <a:endParaRPr lang="en-US" sz="900" dirty="0"/>
          </a:p>
        </p:txBody>
      </p:sp>
      <p:sp>
        <p:nvSpPr>
          <p:cNvPr id="65" name="Text 27"/>
          <p:cNvSpPr/>
          <p:nvPr/>
        </p:nvSpPr>
        <p:spPr>
          <a:xfrm>
            <a:off x="8343900" y="2190750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BERT 한계점</a:t>
            </a:r>
            <a:endParaRPr lang="en-US" sz="1050" dirty="0"/>
          </a:p>
        </p:txBody>
      </p:sp>
      <p:sp>
        <p:nvSpPr>
          <p:cNvPr id="66" name="Text 28"/>
          <p:cNvSpPr/>
          <p:nvPr/>
        </p:nvSpPr>
        <p:spPr>
          <a:xfrm>
            <a:off x="8315325" y="2419350"/>
            <a:ext cx="3619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영문 텍스트 중심 학습 및 대상 언어 제한</a:t>
            </a:r>
            <a:endParaRPr lang="en-US" sz="900" dirty="0"/>
          </a:p>
        </p:txBody>
      </p:sp>
      <p:sp>
        <p:nvSpPr>
          <p:cNvPr id="67" name="Text 29"/>
          <p:cNvSpPr/>
          <p:nvPr/>
        </p:nvSpPr>
        <p:spPr>
          <a:xfrm>
            <a:off x="8315325" y="2609850"/>
            <a:ext cx="3619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공백 불규칙한 문장 처리 어려움</a:t>
            </a:r>
            <a:endParaRPr lang="en-US" sz="900" dirty="0"/>
          </a:p>
        </p:txBody>
      </p:sp>
      <p:sp>
        <p:nvSpPr>
          <p:cNvPr id="68" name="Text 30"/>
          <p:cNvSpPr/>
          <p:nvPr/>
        </p:nvSpPr>
        <p:spPr>
          <a:xfrm>
            <a:off x="8315325" y="2800350"/>
            <a:ext cx="3619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l" marL="342900" indent="-342900">
              <a:lnSpc>
                <a:spcPts val="1200"/>
              </a:lnSpc>
              <a:buSzPct val="100000"/>
              <a:buChar char="•"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저품질 요소에 과적합 가능성</a:t>
            </a:r>
            <a:endParaRPr lang="en-US" sz="900" dirty="0"/>
          </a:p>
        </p:txBody>
      </p:sp>
      <p:sp>
        <p:nvSpPr>
          <p:cNvPr id="69" name="Text 31"/>
          <p:cNvSpPr/>
          <p:nvPr/>
        </p:nvSpPr>
        <p:spPr>
          <a:xfrm>
            <a:off x="552450" y="3829050"/>
            <a:ext cx="1150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인사이트</a:t>
            </a:r>
            <a:endParaRPr lang="en-US" sz="1350" dirty="0"/>
          </a:p>
        </p:txBody>
      </p:sp>
      <p:sp>
        <p:nvSpPr>
          <p:cNvPr id="70" name="Text 32"/>
          <p:cNvSpPr/>
          <p:nvPr/>
        </p:nvSpPr>
        <p:spPr>
          <a:xfrm>
            <a:off x="419100" y="4248150"/>
            <a:ext cx="5524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Mercari 특성에 맞는 임베딩: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Mercari 데이터 스타일에 특화된 TF-IDF + 트리기반 모델이 최고 성능</a:t>
            </a:r>
            <a:endParaRPr lang="en-US" sz="1050" dirty="0"/>
          </a:p>
        </p:txBody>
      </p:sp>
      <p:sp>
        <p:nvSpPr>
          <p:cNvPr id="71" name="Text 33"/>
          <p:cNvSpPr/>
          <p:nvPr/>
        </p:nvSpPr>
        <p:spPr>
          <a:xfrm>
            <a:off x="6248400" y="4248150"/>
            <a:ext cx="6629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분류 특성: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브랜드, 카테고리, 상태 등 정량정보 텍스트에 강한 가격 예측 처리</a:t>
            </a:r>
            <a:endParaRPr lang="en-US" sz="1050" dirty="0"/>
          </a:p>
        </p:txBody>
      </p:sp>
      <p:sp>
        <p:nvSpPr>
          <p:cNvPr id="72" name="Text 34"/>
          <p:cNvSpPr/>
          <p:nvPr/>
        </p:nvSpPr>
        <p:spPr>
          <a:xfrm>
            <a:off x="419100" y="4857750"/>
            <a:ext cx="6629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 샘플링 기법 성능 확보: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한정된 월문 샘플 수를 통한 향상된 가중치 조정 학습 구조</a:t>
            </a:r>
            <a:endParaRPr lang="en-US" sz="1050" dirty="0"/>
          </a:p>
        </p:txBody>
      </p:sp>
      <p:sp>
        <p:nvSpPr>
          <p:cNvPr id="73" name="Text 35"/>
          <p:cNvSpPr/>
          <p:nvPr/>
        </p:nvSpPr>
        <p:spPr>
          <a:xfrm>
            <a:off x="6248400" y="4857750"/>
            <a:ext cx="6629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모델 현혹성: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LightGBM과 트리구조 임베딩의 효율적인 조합이 핵심 기술</a:t>
            </a:r>
            <a:endParaRPr lang="en-US" sz="1050" dirty="0"/>
          </a:p>
        </p:txBody>
      </p:sp>
      <p:sp>
        <p:nvSpPr>
          <p:cNvPr id="74" name="Text 36"/>
          <p:cNvSpPr/>
          <p:nvPr/>
        </p:nvSpPr>
        <p:spPr>
          <a:xfrm>
            <a:off x="5729139" y="5467350"/>
            <a:ext cx="11506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결론</a:t>
            </a:r>
            <a:endParaRPr lang="en-US" sz="1350" dirty="0"/>
          </a:p>
        </p:txBody>
      </p:sp>
      <p:sp>
        <p:nvSpPr>
          <p:cNvPr id="75" name="Text 37"/>
          <p:cNvSpPr/>
          <p:nvPr/>
        </p:nvSpPr>
        <p:spPr>
          <a:xfrm>
            <a:off x="457200" y="5886450"/>
            <a:ext cx="11277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"복잡한 언어모델보다 데이터 구조에 맞춘 경량 임베딩과 트리 기반 모델이 가장 효과적인 가격 예측 성능"</a:t>
            </a:r>
            <a:endParaRPr lang="en-US" sz="1050" dirty="0"/>
          </a:p>
        </p:txBody>
      </p:sp>
      <p:sp>
        <p:nvSpPr>
          <p:cNvPr id="76" name="Text 38"/>
          <p:cNvSpPr/>
          <p:nvPr/>
        </p:nvSpPr>
        <p:spPr>
          <a:xfrm>
            <a:off x="4311342" y="6686550"/>
            <a:ext cx="7240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임베딩 유형</a:t>
            </a:r>
            <a:endParaRPr lang="en-US" sz="900" dirty="0"/>
          </a:p>
        </p:txBody>
      </p:sp>
      <p:sp>
        <p:nvSpPr>
          <p:cNvPr id="77" name="Text 39"/>
          <p:cNvSpPr/>
          <p:nvPr/>
        </p:nvSpPr>
        <p:spPr>
          <a:xfrm>
            <a:off x="4456182" y="6838950"/>
            <a:ext cx="4343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</a:t>
            </a:r>
            <a:endParaRPr lang="en-US" sz="900" dirty="0"/>
          </a:p>
        </p:txBody>
      </p:sp>
      <p:sp>
        <p:nvSpPr>
          <p:cNvPr id="78" name="Text 40"/>
          <p:cNvSpPr/>
          <p:nvPr/>
        </p:nvSpPr>
        <p:spPr>
          <a:xfrm>
            <a:off x="5259348" y="6686550"/>
            <a:ext cx="586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유형</a:t>
            </a:r>
            <a:endParaRPr lang="en-US" sz="900" dirty="0"/>
          </a:p>
        </p:txBody>
      </p:sp>
      <p:sp>
        <p:nvSpPr>
          <p:cNvPr id="79" name="Text 41"/>
          <p:cNvSpPr/>
          <p:nvPr/>
        </p:nvSpPr>
        <p:spPr>
          <a:xfrm>
            <a:off x="5225222" y="6838950"/>
            <a:ext cx="6552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00" dirty="0"/>
          </a:p>
        </p:txBody>
      </p:sp>
      <p:sp>
        <p:nvSpPr>
          <p:cNvPr id="80" name="Text 42"/>
          <p:cNvSpPr/>
          <p:nvPr/>
        </p:nvSpPr>
        <p:spPr>
          <a:xfrm>
            <a:off x="6070342" y="6686550"/>
            <a:ext cx="7240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방식</a:t>
            </a:r>
            <a:endParaRPr lang="en-US" sz="900" dirty="0"/>
          </a:p>
        </p:txBody>
      </p:sp>
      <p:sp>
        <p:nvSpPr>
          <p:cNvPr id="81" name="Text 43"/>
          <p:cNvSpPr/>
          <p:nvPr/>
        </p:nvSpPr>
        <p:spPr>
          <a:xfrm>
            <a:off x="6081608" y="6838950"/>
            <a:ext cx="701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19.6% 검증</a:t>
            </a:r>
            <a:endParaRPr lang="en-US" sz="900" dirty="0"/>
          </a:p>
        </p:txBody>
      </p:sp>
      <p:sp>
        <p:nvSpPr>
          <p:cNvPr id="82" name="Text 44"/>
          <p:cNvSpPr/>
          <p:nvPr/>
        </p:nvSpPr>
        <p:spPr>
          <a:xfrm>
            <a:off x="7136070" y="6686550"/>
            <a:ext cx="586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성능</a:t>
            </a:r>
            <a:endParaRPr lang="en-US" sz="900" dirty="0"/>
          </a:p>
        </p:txBody>
      </p:sp>
      <p:sp>
        <p:nvSpPr>
          <p:cNvPr id="83" name="Text 45"/>
          <p:cNvSpPr/>
          <p:nvPr/>
        </p:nvSpPr>
        <p:spPr>
          <a:xfrm>
            <a:off x="6960677" y="6838950"/>
            <a:ext cx="9377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0.0123</a:t>
            </a:r>
            <a:endParaRPr lang="en-US" sz="900" dirty="0"/>
          </a:p>
        </p:txBody>
      </p:sp>
      <p:sp>
        <p:nvSpPr>
          <p:cNvPr id="84" name="Text 46"/>
          <p:cNvSpPr/>
          <p:nvPr/>
        </p:nvSpPr>
        <p:spPr>
          <a:xfrm>
            <a:off x="11279088" y="6515100"/>
            <a:ext cx="7297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9/10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781050"/>
            <a:ext cx="914400" cy="381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33450"/>
            <a:ext cx="5791200" cy="4838700"/>
          </a:xfrm>
          <a:prstGeom prst="rect">
            <a:avLst/>
          </a:prstGeom>
        </p:spPr>
      </p:pic>
      <p:pic>
        <p:nvPicPr>
          <p:cNvPr id="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33475"/>
            <a:ext cx="133350" cy="171450"/>
          </a:xfrm>
          <a:prstGeom prst="rect">
            <a:avLst/>
          </a:prstGeom>
        </p:spPr>
      </p:pic>
      <p:pic>
        <p:nvPicPr>
          <p:cNvPr id="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1466850"/>
            <a:ext cx="5486400" cy="609600"/>
          </a:xfrm>
          <a:prstGeom prst="rect">
            <a:avLst/>
          </a:prstGeom>
        </p:spPr>
      </p:pic>
      <p:pic>
        <p:nvPicPr>
          <p:cNvPr id="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2495550"/>
            <a:ext cx="5486400" cy="342900"/>
          </a:xfrm>
          <a:prstGeom prst="rect">
            <a:avLst/>
          </a:prstGeom>
        </p:spPr>
      </p:pic>
      <p:pic>
        <p:nvPicPr>
          <p:cNvPr id="9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2838450"/>
            <a:ext cx="5486400" cy="342900"/>
          </a:xfrm>
          <a:prstGeom prst="rect">
            <a:avLst/>
          </a:prstGeom>
        </p:spPr>
      </p:pic>
      <p:pic>
        <p:nvPicPr>
          <p:cNvPr id="10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295650"/>
            <a:ext cx="5486400" cy="1371600"/>
          </a:xfrm>
          <a:prstGeom prst="rect">
            <a:avLst/>
          </a:prstGeom>
        </p:spPr>
      </p:pic>
      <p:pic>
        <p:nvPicPr>
          <p:cNvPr id="11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22786" y="3638550"/>
            <a:ext cx="1202829" cy="304800"/>
          </a:xfrm>
          <a:prstGeom prst="rect">
            <a:avLst/>
          </a:prstGeom>
        </p:spPr>
      </p:pic>
      <p:pic>
        <p:nvPicPr>
          <p:cNvPr id="12" name="Image 1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37172" y="4210050"/>
            <a:ext cx="1973907" cy="304800"/>
          </a:xfrm>
          <a:prstGeom prst="rect">
            <a:avLst/>
          </a:prstGeom>
        </p:spPr>
      </p:pic>
      <p:pic>
        <p:nvPicPr>
          <p:cNvPr id="13" name="Image 11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72200" y="933450"/>
            <a:ext cx="5791200" cy="4838700"/>
          </a:xfrm>
          <a:prstGeom prst="rect">
            <a:avLst/>
          </a:prstGeom>
        </p:spPr>
      </p:pic>
      <p:pic>
        <p:nvPicPr>
          <p:cNvPr id="14" name="Image 12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24600" y="1133475"/>
            <a:ext cx="171450" cy="171450"/>
          </a:xfrm>
          <a:prstGeom prst="rect">
            <a:avLst/>
          </a:prstGeom>
        </p:spPr>
      </p:pic>
      <p:pic>
        <p:nvPicPr>
          <p:cNvPr id="15" name="Image 1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1466850"/>
            <a:ext cx="5486400" cy="1752600"/>
          </a:xfrm>
          <a:prstGeom prst="rect">
            <a:avLst/>
          </a:prstGeom>
        </p:spPr>
      </p:pic>
      <p:pic>
        <p:nvPicPr>
          <p:cNvPr id="16" name="Image 14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08752" y="2305050"/>
            <a:ext cx="797421" cy="723900"/>
          </a:xfrm>
          <a:prstGeom prst="rect">
            <a:avLst/>
          </a:prstGeom>
        </p:spPr>
      </p:pic>
      <p:pic>
        <p:nvPicPr>
          <p:cNvPr id="17" name="Image 15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39399" y="2305050"/>
            <a:ext cx="787450" cy="723900"/>
          </a:xfrm>
          <a:prstGeom prst="rect">
            <a:avLst/>
          </a:prstGeom>
        </p:spPr>
      </p:pic>
      <p:pic>
        <p:nvPicPr>
          <p:cNvPr id="18" name="Image 16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3638550"/>
            <a:ext cx="5486400" cy="342900"/>
          </a:xfrm>
          <a:prstGeom prst="rect">
            <a:avLst/>
          </a:prstGeom>
        </p:spPr>
      </p:pic>
      <p:pic>
        <p:nvPicPr>
          <p:cNvPr id="19" name="Image 17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24600" y="4095750"/>
            <a:ext cx="5486400" cy="342900"/>
          </a:xfrm>
          <a:prstGeom prst="rect">
            <a:avLst/>
          </a:prstGeom>
        </p:spPr>
      </p:pic>
      <p:pic>
        <p:nvPicPr>
          <p:cNvPr id="20" name="Image 18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24600" y="4552950"/>
            <a:ext cx="5486400" cy="342900"/>
          </a:xfrm>
          <a:prstGeom prst="rect">
            <a:avLst/>
          </a:prstGeom>
        </p:spPr>
      </p:pic>
      <p:pic>
        <p:nvPicPr>
          <p:cNvPr id="21" name="Image 19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5010150"/>
            <a:ext cx="5486400" cy="609600"/>
          </a:xfrm>
          <a:prstGeom prst="rect">
            <a:avLst/>
          </a:prstGeom>
        </p:spPr>
      </p:pic>
      <p:pic>
        <p:nvPicPr>
          <p:cNvPr id="22" name="Image 20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438900" y="5153025"/>
            <a:ext cx="104775" cy="133350"/>
          </a:xfrm>
          <a:prstGeom prst="rect">
            <a:avLst/>
          </a:prstGeom>
        </p:spPr>
      </p:pic>
      <p:pic>
        <p:nvPicPr>
          <p:cNvPr id="23" name="Image 21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28600" y="5886450"/>
            <a:ext cx="11734800" cy="1485900"/>
          </a:xfrm>
          <a:prstGeom prst="rect">
            <a:avLst/>
          </a:prstGeom>
        </p:spPr>
      </p:pic>
      <p:pic>
        <p:nvPicPr>
          <p:cNvPr id="24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81000" y="6038850"/>
            <a:ext cx="295275" cy="304800"/>
          </a:xfrm>
          <a:prstGeom prst="rect">
            <a:avLst/>
          </a:prstGeom>
        </p:spPr>
      </p:pic>
      <p:pic>
        <p:nvPicPr>
          <p:cNvPr id="25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57200" y="6115050"/>
            <a:ext cx="142875" cy="152400"/>
          </a:xfrm>
          <a:prstGeom prst="rect">
            <a:avLst/>
          </a:prstGeom>
        </p:spPr>
      </p:pic>
      <p:pic>
        <p:nvPicPr>
          <p:cNvPr id="26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81000" y="6762750"/>
            <a:ext cx="11430000" cy="457200"/>
          </a:xfrm>
          <a:prstGeom prst="rect">
            <a:avLst/>
          </a:prstGeom>
        </p:spPr>
      </p:pic>
      <p:pic>
        <p:nvPicPr>
          <p:cNvPr id="2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694384" y="6896100"/>
            <a:ext cx="152400" cy="1524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228600" y="228600"/>
            <a:ext cx="11734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315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수치 해석 &amp; 한계점</a:t>
            </a:r>
            <a:endParaRPr lang="en-US" sz="2100" dirty="0"/>
          </a:p>
        </p:txBody>
      </p:sp>
      <p:sp>
        <p:nvSpPr>
          <p:cNvPr id="29" name="Text 1"/>
          <p:cNvSpPr/>
          <p:nvPr/>
        </p:nvSpPr>
        <p:spPr>
          <a:xfrm>
            <a:off x="590550" y="1085850"/>
            <a:ext cx="548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수치 해석</a:t>
            </a:r>
            <a:endParaRPr lang="en-US" sz="1350" dirty="0"/>
          </a:p>
        </p:txBody>
      </p:sp>
      <p:sp>
        <p:nvSpPr>
          <p:cNvPr id="30" name="Text 2"/>
          <p:cNvSpPr/>
          <p:nvPr/>
        </p:nvSpPr>
        <p:spPr>
          <a:xfrm>
            <a:off x="495300" y="1581150"/>
            <a:ext cx="5257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프로젝트에서는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가격(price)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log(price+1)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변환하여 학습했기 때문에 RMSLE 수치가 로그 공간에서 측정됩니다.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381000" y="219075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계산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457200" y="2495550"/>
            <a:ext cx="954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가격</a:t>
            </a:r>
            <a:endParaRPr lang="en-US" sz="1050" dirty="0"/>
          </a:p>
        </p:txBody>
      </p:sp>
      <p:sp>
        <p:nvSpPr>
          <p:cNvPr id="33" name="Text 5"/>
          <p:cNvSpPr/>
          <p:nvPr/>
        </p:nvSpPr>
        <p:spPr>
          <a:xfrm>
            <a:off x="1335584" y="2495550"/>
            <a:ext cx="303817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100원 → 110원</a:t>
            </a:r>
            <a:endParaRPr lang="en-US" sz="1050" dirty="0"/>
          </a:p>
        </p:txBody>
      </p:sp>
      <p:sp>
        <p:nvSpPr>
          <p:cNvPr id="34" name="Text 6"/>
          <p:cNvSpPr/>
          <p:nvPr/>
        </p:nvSpPr>
        <p:spPr>
          <a:xfrm>
            <a:off x="4075033" y="2495550"/>
            <a:ext cx="17923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가격 차이: </a:t>
            </a:r>
            <a:pPr algn="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10원</a:t>
            </a:r>
            <a:endParaRPr lang="en-US" sz="1050" dirty="0"/>
          </a:p>
        </p:txBody>
      </p:sp>
      <p:sp>
        <p:nvSpPr>
          <p:cNvPr id="35" name="Text 7"/>
          <p:cNvSpPr/>
          <p:nvPr/>
        </p:nvSpPr>
        <p:spPr>
          <a:xfrm>
            <a:off x="457200" y="2838450"/>
            <a:ext cx="954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변환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727948" y="2838450"/>
            <a:ext cx="364581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log(101) ≈ 4.615 → log(111) ≈ 4.709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4075033" y="2838450"/>
            <a:ext cx="17923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차이: </a:t>
            </a:r>
            <a:pPr algn="r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0.094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95300" y="340995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가격 차이 10원은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2402503" y="3638550"/>
            <a:ext cx="14433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100원 → 110원</a:t>
            </a:r>
            <a:endParaRPr lang="en-US" sz="1200" dirty="0"/>
          </a:p>
        </p:txBody>
      </p:sp>
      <p:sp>
        <p:nvSpPr>
          <p:cNvPr id="40" name="Text 12"/>
          <p:cNvSpPr/>
          <p:nvPr/>
        </p:nvSpPr>
        <p:spPr>
          <a:xfrm>
            <a:off x="495300" y="398145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공간에서는 차이가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1939781" y="4210050"/>
            <a:ext cx="236868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log(101) → log(111): 0.094</a:t>
            </a:r>
            <a:endParaRPr lang="en-US" sz="1200" dirty="0"/>
          </a:p>
        </p:txBody>
      </p:sp>
      <p:sp>
        <p:nvSpPr>
          <p:cNvPr id="42" name="Text 14"/>
          <p:cNvSpPr/>
          <p:nvPr/>
        </p:nvSpPr>
        <p:spPr>
          <a:xfrm>
            <a:off x="381000" y="4781550"/>
            <a:ext cx="548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실험의 최적 모델 RMSLE ≈ 0.0123이 실제 가격 기준으로는 약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1~1.3%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수준의 상대 오차를 의미합니다.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6572250" y="1085850"/>
            <a:ext cx="5486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DC262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한계점 및 중요한 고려사항</a:t>
            </a:r>
            <a:endParaRPr lang="en-US" sz="1350" dirty="0"/>
          </a:p>
        </p:txBody>
      </p:sp>
      <p:sp>
        <p:nvSpPr>
          <p:cNvPr id="44" name="Text 16"/>
          <p:cNvSpPr/>
          <p:nvPr/>
        </p:nvSpPr>
        <p:spPr>
          <a:xfrm>
            <a:off x="6438900" y="158115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비교 제한성</a:t>
            </a:r>
            <a:endParaRPr lang="en-US" sz="1200" dirty="0"/>
          </a:p>
        </p:txBody>
      </p:sp>
      <p:sp>
        <p:nvSpPr>
          <p:cNvPr id="45" name="Text 17"/>
          <p:cNvSpPr/>
          <p:nvPr/>
        </p:nvSpPr>
        <p:spPr>
          <a:xfrm>
            <a:off x="6438900" y="1847850"/>
            <a:ext cx="5257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수치는 로그변환 환경에서의 비교기 Hancock 모델 간 절대 비교에는 적합하지 않음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8120449" y="2381250"/>
            <a:ext cx="774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</a:t>
            </a:r>
            <a:endParaRPr lang="en-US" sz="900" dirty="0"/>
          </a:p>
        </p:txBody>
      </p:sp>
      <p:sp>
        <p:nvSpPr>
          <p:cNvPr id="47" name="Text 19"/>
          <p:cNvSpPr/>
          <p:nvPr/>
        </p:nvSpPr>
        <p:spPr>
          <a:xfrm>
            <a:off x="8120449" y="2533650"/>
            <a:ext cx="7740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0.0123</a:t>
            </a:r>
            <a:endParaRPr lang="en-US" sz="1500" dirty="0"/>
          </a:p>
        </p:txBody>
      </p:sp>
      <p:sp>
        <p:nvSpPr>
          <p:cNvPr id="48" name="Text 20"/>
          <p:cNvSpPr/>
          <p:nvPr/>
        </p:nvSpPr>
        <p:spPr>
          <a:xfrm>
            <a:off x="8120449" y="2800350"/>
            <a:ext cx="774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Log(price+1)</a:t>
            </a:r>
            <a:endParaRPr lang="en-US" sz="900" dirty="0"/>
          </a:p>
        </p:txBody>
      </p:sp>
      <p:sp>
        <p:nvSpPr>
          <p:cNvPr id="49" name="Text 21"/>
          <p:cNvSpPr/>
          <p:nvPr/>
        </p:nvSpPr>
        <p:spPr>
          <a:xfrm>
            <a:off x="9020473" y="2305050"/>
            <a:ext cx="12555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≠</a:t>
            </a:r>
            <a:endParaRPr lang="en-US" sz="1500" dirty="0"/>
          </a:p>
        </p:txBody>
      </p:sp>
      <p:sp>
        <p:nvSpPr>
          <p:cNvPr id="50" name="Text 22"/>
          <p:cNvSpPr/>
          <p:nvPr/>
        </p:nvSpPr>
        <p:spPr>
          <a:xfrm>
            <a:off x="9315599" y="2381250"/>
            <a:ext cx="635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</a:t>
            </a:r>
            <a:endParaRPr lang="en-US" sz="900" dirty="0"/>
          </a:p>
        </p:txBody>
      </p:sp>
      <p:sp>
        <p:nvSpPr>
          <p:cNvPr id="51" name="Text 23"/>
          <p:cNvSpPr/>
          <p:nvPr/>
        </p:nvSpPr>
        <p:spPr>
          <a:xfrm>
            <a:off x="9315599" y="2533650"/>
            <a:ext cx="6350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500" dirty="0"/>
          </a:p>
        </p:txBody>
      </p:sp>
      <p:sp>
        <p:nvSpPr>
          <p:cNvPr id="52" name="Text 24"/>
          <p:cNvSpPr/>
          <p:nvPr/>
        </p:nvSpPr>
        <p:spPr>
          <a:xfrm>
            <a:off x="9252094" y="2800350"/>
            <a:ext cx="7620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 기준 추정</a:t>
            </a:r>
            <a:endParaRPr lang="en-US" sz="900" dirty="0"/>
          </a:p>
        </p:txBody>
      </p:sp>
      <p:sp>
        <p:nvSpPr>
          <p:cNvPr id="53" name="Text 25"/>
          <p:cNvSpPr/>
          <p:nvPr/>
        </p:nvSpPr>
        <p:spPr>
          <a:xfrm>
            <a:off x="6324600" y="333375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인터프리테이션 중요성</a:t>
            </a:r>
            <a:endParaRPr lang="en-US" sz="1200" dirty="0"/>
          </a:p>
        </p:txBody>
      </p:sp>
      <p:sp>
        <p:nvSpPr>
          <p:cNvPr id="54" name="Text 26"/>
          <p:cNvSpPr/>
          <p:nvPr/>
        </p:nvSpPr>
        <p:spPr>
          <a:xfrm>
            <a:off x="6438900" y="3714750"/>
            <a:ext cx="63550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RMSLE가 낮다고 해서 실제 비즈니스 상황에서 가장 우수하다고 볼 수 없음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6438900" y="4171950"/>
            <a:ext cx="63550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오차 평가 방식: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로그 변환 성능을 원 단위 오차로 해석 필요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6438900" y="4629150"/>
            <a:ext cx="52959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활용: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단일 메트릭으로 동결시키기보다 병행 평가 필요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6581775" y="5124450"/>
            <a:ext cx="5257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실무적 활용: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RMSLE 외 다른 메트릭(RMSE, MAE 등)을 함께 고려하여 사용하는 것이 적절함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828675" y="6038850"/>
            <a:ext cx="8182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"RMSLE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수치 자체가 정확도를 대변하면 안 됨. 로그 변환 환경에서의 측정치이므로 실제 가격 기준으로 해석 필요"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828675" y="6324600"/>
            <a:ext cx="29844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RMSLE = √(1/n × Σ(log(y+1) - log(ŷ+1))²)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828675" y="6496050"/>
            <a:ext cx="25251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y: 실제 가격, ŷ: 예측 가격</a:t>
            </a:r>
            <a:endParaRPr lang="en-US" sz="900" dirty="0"/>
          </a:p>
        </p:txBody>
      </p:sp>
      <p:sp>
        <p:nvSpPr>
          <p:cNvPr id="61" name="Text 33"/>
          <p:cNvSpPr/>
          <p:nvPr/>
        </p:nvSpPr>
        <p:spPr>
          <a:xfrm>
            <a:off x="495300" y="6877050"/>
            <a:ext cx="11201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RMSLE는 로그 변환 환경에서 매우 효과적인 지표이지만, 수치 자체보다 의미 해석이 중요합니다."</a:t>
            </a:r>
            <a:endParaRPr lang="en-US" sz="1200" dirty="0"/>
          </a:p>
        </p:txBody>
      </p:sp>
      <p:sp>
        <p:nvSpPr>
          <p:cNvPr id="62" name="Text 34"/>
          <p:cNvSpPr/>
          <p:nvPr/>
        </p:nvSpPr>
        <p:spPr>
          <a:xfrm>
            <a:off x="11204972" y="6515100"/>
            <a:ext cx="81867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horz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10/10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2025-12-15T04:34:20Z</dcterms:created>
  <dcterms:modified xsi:type="dcterms:W3CDTF">2025-12-15T04:34:20Z</dcterms:modified>
</cp:coreProperties>
</file>