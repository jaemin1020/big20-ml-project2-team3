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8346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7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7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3" Type="http://schemas.openxmlformats.org/officeDocument/2006/relationships/image" Target="../media/image36.png"/><Relationship Id="rId21" Type="http://schemas.openxmlformats.org/officeDocument/2006/relationships/image" Target="../media/image52.png"/><Relationship Id="rId7" Type="http://schemas.openxmlformats.org/officeDocument/2006/relationships/image" Target="../media/image39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21.png"/><Relationship Id="rId24" Type="http://schemas.openxmlformats.org/officeDocument/2006/relationships/image" Target="../media/image55.png"/><Relationship Id="rId5" Type="http://schemas.openxmlformats.org/officeDocument/2006/relationships/image" Target="../media/image7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10" Type="http://schemas.openxmlformats.org/officeDocument/2006/relationships/image" Target="../media/image42.png"/><Relationship Id="rId19" Type="http://schemas.openxmlformats.org/officeDocument/2006/relationships/image" Target="../media/image50.png"/><Relationship Id="rId4" Type="http://schemas.openxmlformats.org/officeDocument/2006/relationships/image" Target="../media/image37.png"/><Relationship Id="rId9" Type="http://schemas.openxmlformats.org/officeDocument/2006/relationships/image" Target="../media/image41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3.png"/><Relationship Id="rId5" Type="http://schemas.openxmlformats.org/officeDocument/2006/relationships/image" Target="../media/image7.png"/><Relationship Id="rId15" Type="http://schemas.openxmlformats.org/officeDocument/2006/relationships/image" Target="../media/image67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62.png"/><Relationship Id="rId14" Type="http://schemas.openxmlformats.org/officeDocument/2006/relationships/image" Target="../media/image66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26" Type="http://schemas.openxmlformats.org/officeDocument/2006/relationships/image" Target="../media/image91.png"/><Relationship Id="rId39" Type="http://schemas.openxmlformats.org/officeDocument/2006/relationships/image" Target="../media/image103.png"/><Relationship Id="rId21" Type="http://schemas.openxmlformats.org/officeDocument/2006/relationships/image" Target="../media/image86.png"/><Relationship Id="rId34" Type="http://schemas.openxmlformats.org/officeDocument/2006/relationships/image" Target="../media/image35.png"/><Relationship Id="rId42" Type="http://schemas.openxmlformats.org/officeDocument/2006/relationships/image" Target="../media/image106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1.png"/><Relationship Id="rId20" Type="http://schemas.openxmlformats.org/officeDocument/2006/relationships/image" Target="../media/image85.png"/><Relationship Id="rId29" Type="http://schemas.openxmlformats.org/officeDocument/2006/relationships/image" Target="../media/image94.png"/><Relationship Id="rId41" Type="http://schemas.openxmlformats.org/officeDocument/2006/relationships/image" Target="../media/image10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24" Type="http://schemas.openxmlformats.org/officeDocument/2006/relationships/image" Target="../media/image89.png"/><Relationship Id="rId32" Type="http://schemas.openxmlformats.org/officeDocument/2006/relationships/image" Target="../media/image97.png"/><Relationship Id="rId37" Type="http://schemas.openxmlformats.org/officeDocument/2006/relationships/image" Target="../media/image101.png"/><Relationship Id="rId40" Type="http://schemas.openxmlformats.org/officeDocument/2006/relationships/image" Target="../media/image104.png"/><Relationship Id="rId5" Type="http://schemas.openxmlformats.org/officeDocument/2006/relationships/image" Target="../media/image7.png"/><Relationship Id="rId15" Type="http://schemas.openxmlformats.org/officeDocument/2006/relationships/image" Target="../media/image80.png"/><Relationship Id="rId23" Type="http://schemas.openxmlformats.org/officeDocument/2006/relationships/image" Target="../media/image88.png"/><Relationship Id="rId28" Type="http://schemas.openxmlformats.org/officeDocument/2006/relationships/image" Target="../media/image93.png"/><Relationship Id="rId36" Type="http://schemas.openxmlformats.org/officeDocument/2006/relationships/image" Target="../media/image100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31" Type="http://schemas.openxmlformats.org/officeDocument/2006/relationships/image" Target="../media/image96.png"/><Relationship Id="rId44" Type="http://schemas.openxmlformats.org/officeDocument/2006/relationships/image" Target="../media/image108.png"/><Relationship Id="rId4" Type="http://schemas.openxmlformats.org/officeDocument/2006/relationships/image" Target="../media/image2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Relationship Id="rId22" Type="http://schemas.openxmlformats.org/officeDocument/2006/relationships/image" Target="../media/image87.png"/><Relationship Id="rId27" Type="http://schemas.openxmlformats.org/officeDocument/2006/relationships/image" Target="../media/image92.png"/><Relationship Id="rId30" Type="http://schemas.openxmlformats.org/officeDocument/2006/relationships/image" Target="../media/image95.png"/><Relationship Id="rId35" Type="http://schemas.openxmlformats.org/officeDocument/2006/relationships/image" Target="../media/image99.png"/><Relationship Id="rId43" Type="http://schemas.openxmlformats.org/officeDocument/2006/relationships/image" Target="../media/image107.png"/><Relationship Id="rId8" Type="http://schemas.openxmlformats.org/officeDocument/2006/relationships/image" Target="../media/image73.png"/><Relationship Id="rId3" Type="http://schemas.openxmlformats.org/officeDocument/2006/relationships/image" Target="../media/image1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5" Type="http://schemas.openxmlformats.org/officeDocument/2006/relationships/image" Target="../media/image90.png"/><Relationship Id="rId33" Type="http://schemas.openxmlformats.org/officeDocument/2006/relationships/image" Target="../media/image98.png"/><Relationship Id="rId38" Type="http://schemas.openxmlformats.org/officeDocument/2006/relationships/image" Target="../media/image102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26" Type="http://schemas.openxmlformats.org/officeDocument/2006/relationships/image" Target="../media/image130.png"/><Relationship Id="rId3" Type="http://schemas.openxmlformats.org/officeDocument/2006/relationships/image" Target="../media/image1.png"/><Relationship Id="rId21" Type="http://schemas.openxmlformats.org/officeDocument/2006/relationships/image" Target="../media/image125.png"/><Relationship Id="rId34" Type="http://schemas.openxmlformats.org/officeDocument/2006/relationships/image" Target="../media/image138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5" Type="http://schemas.openxmlformats.org/officeDocument/2006/relationships/image" Target="../media/image129.png"/><Relationship Id="rId33" Type="http://schemas.openxmlformats.org/officeDocument/2006/relationships/image" Target="../media/image13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0.png"/><Relationship Id="rId20" Type="http://schemas.openxmlformats.org/officeDocument/2006/relationships/image" Target="../media/image124.png"/><Relationship Id="rId29" Type="http://schemas.openxmlformats.org/officeDocument/2006/relationships/image" Target="../media/image1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24" Type="http://schemas.openxmlformats.org/officeDocument/2006/relationships/image" Target="../media/image128.png"/><Relationship Id="rId32" Type="http://schemas.openxmlformats.org/officeDocument/2006/relationships/image" Target="../media/image136.png"/><Relationship Id="rId5" Type="http://schemas.openxmlformats.org/officeDocument/2006/relationships/image" Target="../media/image109.png"/><Relationship Id="rId15" Type="http://schemas.openxmlformats.org/officeDocument/2006/relationships/image" Target="../media/image119.png"/><Relationship Id="rId23" Type="http://schemas.openxmlformats.org/officeDocument/2006/relationships/image" Target="../media/image127.png"/><Relationship Id="rId28" Type="http://schemas.openxmlformats.org/officeDocument/2006/relationships/image" Target="../media/image132.png"/><Relationship Id="rId10" Type="http://schemas.openxmlformats.org/officeDocument/2006/relationships/image" Target="../media/image114.png"/><Relationship Id="rId19" Type="http://schemas.openxmlformats.org/officeDocument/2006/relationships/image" Target="../media/image123.png"/><Relationship Id="rId31" Type="http://schemas.openxmlformats.org/officeDocument/2006/relationships/image" Target="../media/image135.png"/><Relationship Id="rId4" Type="http://schemas.openxmlformats.org/officeDocument/2006/relationships/image" Target="../media/image2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Relationship Id="rId22" Type="http://schemas.openxmlformats.org/officeDocument/2006/relationships/image" Target="../media/image126.png"/><Relationship Id="rId27" Type="http://schemas.openxmlformats.org/officeDocument/2006/relationships/image" Target="../media/image131.png"/><Relationship Id="rId30" Type="http://schemas.openxmlformats.org/officeDocument/2006/relationships/image" Target="../media/image134.png"/><Relationship Id="rId35" Type="http://schemas.openxmlformats.org/officeDocument/2006/relationships/image" Target="../media/image139.png"/><Relationship Id="rId8" Type="http://schemas.openxmlformats.org/officeDocument/2006/relationships/image" Target="../media/image1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7.png"/><Relationship Id="rId18" Type="http://schemas.openxmlformats.org/officeDocument/2006/relationships/image" Target="../media/image152.png"/><Relationship Id="rId3" Type="http://schemas.openxmlformats.org/officeDocument/2006/relationships/image" Target="../media/image1.png"/><Relationship Id="rId21" Type="http://schemas.openxmlformats.org/officeDocument/2006/relationships/image" Target="../media/image155.png"/><Relationship Id="rId7" Type="http://schemas.openxmlformats.org/officeDocument/2006/relationships/image" Target="../media/image141.png"/><Relationship Id="rId12" Type="http://schemas.openxmlformats.org/officeDocument/2006/relationships/image" Target="../media/image146.png"/><Relationship Id="rId17" Type="http://schemas.openxmlformats.org/officeDocument/2006/relationships/image" Target="../media/image15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0.png"/><Relationship Id="rId20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11" Type="http://schemas.openxmlformats.org/officeDocument/2006/relationships/image" Target="../media/image145.png"/><Relationship Id="rId5" Type="http://schemas.openxmlformats.org/officeDocument/2006/relationships/image" Target="../media/image7.png"/><Relationship Id="rId15" Type="http://schemas.openxmlformats.org/officeDocument/2006/relationships/image" Target="../media/image149.png"/><Relationship Id="rId10" Type="http://schemas.openxmlformats.org/officeDocument/2006/relationships/image" Target="../media/image144.png"/><Relationship Id="rId19" Type="http://schemas.openxmlformats.org/officeDocument/2006/relationships/image" Target="../media/image153.png"/><Relationship Id="rId4" Type="http://schemas.openxmlformats.org/officeDocument/2006/relationships/image" Target="../media/image2.png"/><Relationship Id="rId9" Type="http://schemas.openxmlformats.org/officeDocument/2006/relationships/image" Target="../media/image143.png"/><Relationship Id="rId14" Type="http://schemas.openxmlformats.org/officeDocument/2006/relationships/image" Target="../media/image148.png"/><Relationship Id="rId22" Type="http://schemas.openxmlformats.org/officeDocument/2006/relationships/image" Target="../media/image156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4.png"/><Relationship Id="rId18" Type="http://schemas.openxmlformats.org/officeDocument/2006/relationships/image" Target="../media/image169.png"/><Relationship Id="rId26" Type="http://schemas.openxmlformats.org/officeDocument/2006/relationships/image" Target="../media/image177.png"/><Relationship Id="rId3" Type="http://schemas.openxmlformats.org/officeDocument/2006/relationships/image" Target="../media/image1.png"/><Relationship Id="rId21" Type="http://schemas.openxmlformats.org/officeDocument/2006/relationships/image" Target="../media/image172.png"/><Relationship Id="rId34" Type="http://schemas.openxmlformats.org/officeDocument/2006/relationships/image" Target="../media/image185.png"/><Relationship Id="rId7" Type="http://schemas.openxmlformats.org/officeDocument/2006/relationships/image" Target="../media/image158.png"/><Relationship Id="rId12" Type="http://schemas.openxmlformats.org/officeDocument/2006/relationships/image" Target="../media/image163.png"/><Relationship Id="rId17" Type="http://schemas.openxmlformats.org/officeDocument/2006/relationships/image" Target="../media/image168.png"/><Relationship Id="rId25" Type="http://schemas.openxmlformats.org/officeDocument/2006/relationships/image" Target="../media/image176.png"/><Relationship Id="rId33" Type="http://schemas.openxmlformats.org/officeDocument/2006/relationships/image" Target="../media/image184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67.png"/><Relationship Id="rId20" Type="http://schemas.openxmlformats.org/officeDocument/2006/relationships/image" Target="../media/image171.png"/><Relationship Id="rId29" Type="http://schemas.openxmlformats.org/officeDocument/2006/relationships/image" Target="../media/image1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7.png"/><Relationship Id="rId11" Type="http://schemas.openxmlformats.org/officeDocument/2006/relationships/image" Target="../media/image162.png"/><Relationship Id="rId24" Type="http://schemas.openxmlformats.org/officeDocument/2006/relationships/image" Target="../media/image175.png"/><Relationship Id="rId32" Type="http://schemas.openxmlformats.org/officeDocument/2006/relationships/image" Target="../media/image183.png"/><Relationship Id="rId5" Type="http://schemas.openxmlformats.org/officeDocument/2006/relationships/image" Target="../media/image7.png"/><Relationship Id="rId15" Type="http://schemas.openxmlformats.org/officeDocument/2006/relationships/image" Target="../media/image166.png"/><Relationship Id="rId23" Type="http://schemas.openxmlformats.org/officeDocument/2006/relationships/image" Target="../media/image174.png"/><Relationship Id="rId28" Type="http://schemas.openxmlformats.org/officeDocument/2006/relationships/image" Target="../media/image179.png"/><Relationship Id="rId36" Type="http://schemas.openxmlformats.org/officeDocument/2006/relationships/image" Target="../media/image187.png"/><Relationship Id="rId10" Type="http://schemas.openxmlformats.org/officeDocument/2006/relationships/image" Target="../media/image161.png"/><Relationship Id="rId19" Type="http://schemas.openxmlformats.org/officeDocument/2006/relationships/image" Target="../media/image170.png"/><Relationship Id="rId31" Type="http://schemas.openxmlformats.org/officeDocument/2006/relationships/image" Target="../media/image182.png"/><Relationship Id="rId4" Type="http://schemas.openxmlformats.org/officeDocument/2006/relationships/image" Target="../media/image2.png"/><Relationship Id="rId9" Type="http://schemas.openxmlformats.org/officeDocument/2006/relationships/image" Target="../media/image160.png"/><Relationship Id="rId14" Type="http://schemas.openxmlformats.org/officeDocument/2006/relationships/image" Target="../media/image165.png"/><Relationship Id="rId22" Type="http://schemas.openxmlformats.org/officeDocument/2006/relationships/image" Target="../media/image173.png"/><Relationship Id="rId27" Type="http://schemas.openxmlformats.org/officeDocument/2006/relationships/image" Target="../media/image178.png"/><Relationship Id="rId30" Type="http://schemas.openxmlformats.org/officeDocument/2006/relationships/image" Target="../media/image181.png"/><Relationship Id="rId35" Type="http://schemas.openxmlformats.org/officeDocument/2006/relationships/image" Target="../media/image186.png"/><Relationship Id="rId8" Type="http://schemas.openxmlformats.org/officeDocument/2006/relationships/image" Target="../media/image15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13" Type="http://schemas.openxmlformats.org/officeDocument/2006/relationships/image" Target="../media/image195.png"/><Relationship Id="rId18" Type="http://schemas.openxmlformats.org/officeDocument/2006/relationships/image" Target="../media/image200.png"/><Relationship Id="rId26" Type="http://schemas.openxmlformats.org/officeDocument/2006/relationships/image" Target="../media/image208.png"/><Relationship Id="rId3" Type="http://schemas.openxmlformats.org/officeDocument/2006/relationships/image" Target="../media/image1.png"/><Relationship Id="rId21" Type="http://schemas.openxmlformats.org/officeDocument/2006/relationships/image" Target="../media/image203.png"/><Relationship Id="rId7" Type="http://schemas.openxmlformats.org/officeDocument/2006/relationships/image" Target="../media/image189.png"/><Relationship Id="rId12" Type="http://schemas.openxmlformats.org/officeDocument/2006/relationships/image" Target="../media/image194.png"/><Relationship Id="rId17" Type="http://schemas.openxmlformats.org/officeDocument/2006/relationships/image" Target="../media/image199.png"/><Relationship Id="rId25" Type="http://schemas.openxmlformats.org/officeDocument/2006/relationships/image" Target="../media/image207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98.png"/><Relationship Id="rId20" Type="http://schemas.openxmlformats.org/officeDocument/2006/relationships/image" Target="../media/image2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8.png"/><Relationship Id="rId11" Type="http://schemas.openxmlformats.org/officeDocument/2006/relationships/image" Target="../media/image193.png"/><Relationship Id="rId24" Type="http://schemas.openxmlformats.org/officeDocument/2006/relationships/image" Target="../media/image206.png"/><Relationship Id="rId5" Type="http://schemas.openxmlformats.org/officeDocument/2006/relationships/image" Target="../media/image7.png"/><Relationship Id="rId15" Type="http://schemas.openxmlformats.org/officeDocument/2006/relationships/image" Target="../media/image197.png"/><Relationship Id="rId23" Type="http://schemas.openxmlformats.org/officeDocument/2006/relationships/image" Target="../media/image205.png"/><Relationship Id="rId10" Type="http://schemas.openxmlformats.org/officeDocument/2006/relationships/image" Target="../media/image192.png"/><Relationship Id="rId19" Type="http://schemas.openxmlformats.org/officeDocument/2006/relationships/image" Target="../media/image201.png"/><Relationship Id="rId4" Type="http://schemas.openxmlformats.org/officeDocument/2006/relationships/image" Target="../media/image2.png"/><Relationship Id="rId9" Type="http://schemas.openxmlformats.org/officeDocument/2006/relationships/image" Target="../media/image191.png"/><Relationship Id="rId14" Type="http://schemas.openxmlformats.org/officeDocument/2006/relationships/image" Target="../media/image196.png"/><Relationship Id="rId22" Type="http://schemas.openxmlformats.org/officeDocument/2006/relationships/image" Target="../media/image204.png"/><Relationship Id="rId27" Type="http://schemas.openxmlformats.org/officeDocument/2006/relationships/image" Target="../media/image2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43600"/>
            <a:ext cx="12192000" cy="914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17145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17145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0" y="17145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0" y="17145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51435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51435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51435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8800" y="2933700"/>
            <a:ext cx="914400" cy="38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41529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1150" y="424815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67400" y="41529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10275" y="4248150"/>
            <a:ext cx="17145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4152900"/>
            <a:ext cx="457200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6538" y="4248150"/>
            <a:ext cx="238125" cy="2667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15315" y="2247900"/>
            <a:ext cx="1096137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중고 상품 가격 예측 머신러닝 프로젝트</a:t>
            </a:r>
            <a:endParaRPr lang="en-US" sz="3600" dirty="0"/>
          </a:p>
        </p:txBody>
      </p:sp>
      <p:sp>
        <p:nvSpPr>
          <p:cNvPr id="21" name="Text 1"/>
          <p:cNvSpPr/>
          <p:nvPr/>
        </p:nvSpPr>
        <p:spPr>
          <a:xfrm>
            <a:off x="615315" y="3200400"/>
            <a:ext cx="1096137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머신러닝을 활용한 중고 상품 가격 예측 모델 구축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858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28750"/>
            <a:ext cx="5486400" cy="2171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57350"/>
            <a:ext cx="221307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129" y="1762125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428750"/>
            <a:ext cx="5486400" cy="2171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657350"/>
            <a:ext cx="291405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7453" y="1762125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829050"/>
            <a:ext cx="11277600" cy="1104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4095750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45148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5200650"/>
            <a:ext cx="190500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5581650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67200" y="5581650"/>
            <a:ext cx="1143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77200" y="5581650"/>
            <a:ext cx="114300" cy="1524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57200" y="457200"/>
            <a:ext cx="11277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 및 문제 정의</a:t>
            </a:r>
            <a:endParaRPr lang="en-US" sz="2100" dirty="0"/>
          </a:p>
        </p:txBody>
      </p:sp>
      <p:sp>
        <p:nvSpPr>
          <p:cNvPr id="19" name="Text 1"/>
          <p:cNvSpPr/>
          <p:nvPr/>
        </p:nvSpPr>
        <p:spPr>
          <a:xfrm>
            <a:off x="1059507" y="1657350"/>
            <a:ext cx="46554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1059507" y="2000250"/>
            <a:ext cx="4655493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Price Suggestion Challenge는 중고 거래 플랫폼 Mercari에 등록된 상품 정보를 기반으로 상품 판매 가격을 예측하는 머신러닝 회귀 문제이다.</a:t>
            </a:r>
            <a:endParaRPr lang="en-US" sz="1200" dirty="0"/>
          </a:p>
        </p:txBody>
      </p:sp>
      <p:sp>
        <p:nvSpPr>
          <p:cNvPr id="21" name="Text 3"/>
          <p:cNvSpPr/>
          <p:nvPr/>
        </p:nvSpPr>
        <p:spPr>
          <a:xfrm>
            <a:off x="1059507" y="2686050"/>
            <a:ext cx="465549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상품명·상품 설명과 같은 비정형 텍스트 데이터와 카테고리, 브랜드, 배송 여부 등의 정형 데이터가 함께 제공된다.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6920805" y="1657350"/>
            <a:ext cx="458539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특성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6920805" y="2000250"/>
            <a:ext cx="458539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중고 상품 가격은 오른쪽으로 치우친 비대칭 분포를 가지며 저가 상품이 다수를 차지하고 고가 상품은 소수 존재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6920805" y="2457450"/>
            <a:ext cx="550247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카테고리 내에서도 브랜드·설명 방식에 따라 가격 편차가 큼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6920805" y="2762250"/>
            <a:ext cx="458539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이러한 특성으로 인해 단순 회귀 모델은 고가 상품 예측에서 한계를 가진다.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990600" y="4057650"/>
            <a:ext cx="1082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목표</a:t>
            </a:r>
            <a:endParaRPr lang="en-US" sz="1500" dirty="0"/>
          </a:p>
        </p:txBody>
      </p:sp>
      <p:sp>
        <p:nvSpPr>
          <p:cNvPr id="27" name="Text 9"/>
          <p:cNvSpPr/>
          <p:nvPr/>
        </p:nvSpPr>
        <p:spPr>
          <a:xfrm>
            <a:off x="914400" y="4476750"/>
            <a:ext cx="102212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피처와 구조적 피처를 효과적으로 결합하여 RMSLE 기준 오차를 최소화하는 가격 예측 모델을 구축하는 것이 목표이다.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762000" y="516255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구성 요소</a:t>
            </a:r>
            <a:endParaRPr lang="en-US" sz="1500" dirty="0"/>
          </a:p>
        </p:txBody>
      </p:sp>
      <p:sp>
        <p:nvSpPr>
          <p:cNvPr id="29" name="Text 11"/>
          <p:cNvSpPr/>
          <p:nvPr/>
        </p:nvSpPr>
        <p:spPr>
          <a:xfrm>
            <a:off x="666750" y="5543550"/>
            <a:ext cx="33739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학습 데이터: 총 1,482,535개 상품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4457700" y="5543550"/>
            <a:ext cx="2682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비정형 텍스트: 상품명, 상품 설명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8267700" y="5543550"/>
            <a:ext cx="36170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 피처: 카테고리, 브랜드, 상태, 배송 여부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096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276350"/>
            <a:ext cx="5600700" cy="1905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46685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1524000"/>
            <a:ext cx="17145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276350"/>
            <a:ext cx="5600700" cy="1905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46685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575" y="1524000"/>
            <a:ext cx="17145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409950"/>
            <a:ext cx="11430000" cy="1676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943350"/>
            <a:ext cx="3048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" y="4019550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3943350"/>
            <a:ext cx="3048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4019550"/>
            <a:ext cx="152400" cy="1524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381000"/>
            <a:ext cx="11430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소개 및 모델링 관점</a:t>
            </a:r>
            <a:endParaRPr lang="en-US" sz="2100" dirty="0"/>
          </a:p>
        </p:txBody>
      </p:sp>
      <p:sp>
        <p:nvSpPr>
          <p:cNvPr id="17" name="Text 1"/>
          <p:cNvSpPr/>
          <p:nvPr/>
        </p:nvSpPr>
        <p:spPr>
          <a:xfrm>
            <a:off x="1104900" y="1466850"/>
            <a:ext cx="28116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구성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1104900" y="1809750"/>
            <a:ext cx="33739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학습 데이터: 총 1,482,535개 상품</a:t>
            </a:r>
            <a:endParaRPr lang="en-US" sz="1200" dirty="0"/>
          </a:p>
        </p:txBody>
      </p:sp>
      <p:sp>
        <p:nvSpPr>
          <p:cNvPr id="19" name="Text 3"/>
          <p:cNvSpPr/>
          <p:nvPr/>
        </p:nvSpPr>
        <p:spPr>
          <a:xfrm>
            <a:off x="1181100" y="2114550"/>
            <a:ext cx="15498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데이터:</a:t>
            </a:r>
            <a:endParaRPr lang="en-US" sz="1200" dirty="0"/>
          </a:p>
        </p:txBody>
      </p:sp>
      <p:sp>
        <p:nvSpPr>
          <p:cNvPr id="20" name="Text 4"/>
          <p:cNvSpPr/>
          <p:nvPr/>
        </p:nvSpPr>
        <p:spPr>
          <a:xfrm>
            <a:off x="1257300" y="2343150"/>
            <a:ext cx="14583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상품명, 상품 설명</a:t>
            </a:r>
            <a:endParaRPr lang="en-US" sz="1050" dirty="0"/>
          </a:p>
        </p:txBody>
      </p:sp>
      <p:sp>
        <p:nvSpPr>
          <p:cNvPr id="21" name="Text 5"/>
          <p:cNvSpPr/>
          <p:nvPr/>
        </p:nvSpPr>
        <p:spPr>
          <a:xfrm>
            <a:off x="1181100" y="2571750"/>
            <a:ext cx="15498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범주형 데이터:</a:t>
            </a:r>
            <a:endParaRPr lang="en-US" sz="1200" dirty="0"/>
          </a:p>
        </p:txBody>
      </p:sp>
      <p:sp>
        <p:nvSpPr>
          <p:cNvPr id="22" name="Text 6"/>
          <p:cNvSpPr/>
          <p:nvPr/>
        </p:nvSpPr>
        <p:spPr>
          <a:xfrm>
            <a:off x="1257300" y="2800350"/>
            <a:ext cx="14583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카테고리, 브랜드</a:t>
            </a:r>
            <a:endParaRPr lang="en-US" sz="1050" dirty="0"/>
          </a:p>
        </p:txBody>
      </p:sp>
      <p:sp>
        <p:nvSpPr>
          <p:cNvPr id="23" name="Text 7"/>
          <p:cNvSpPr/>
          <p:nvPr/>
        </p:nvSpPr>
        <p:spPr>
          <a:xfrm>
            <a:off x="2625030" y="2114550"/>
            <a:ext cx="15498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수치/이진 데이터: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2701230" y="2343150"/>
            <a:ext cx="14583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상태, 배송 여부</a:t>
            </a:r>
            <a:endParaRPr lang="en-US" sz="1050" dirty="0"/>
          </a:p>
        </p:txBody>
      </p:sp>
      <p:sp>
        <p:nvSpPr>
          <p:cNvPr id="25" name="Text 9"/>
          <p:cNvSpPr/>
          <p:nvPr/>
        </p:nvSpPr>
        <p:spPr>
          <a:xfrm>
            <a:off x="6934200" y="1466850"/>
            <a:ext cx="349686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피처의 중요성</a:t>
            </a:r>
            <a:endParaRPr lang="en-US" sz="1500" dirty="0"/>
          </a:p>
        </p:txBody>
      </p:sp>
      <p:sp>
        <p:nvSpPr>
          <p:cNvPr id="26" name="Text 10"/>
          <p:cNvSpPr/>
          <p:nvPr/>
        </p:nvSpPr>
        <p:spPr>
          <a:xfrm>
            <a:off x="6934200" y="1809750"/>
            <a:ext cx="41962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상품의 상태, 브랜드, 사용감 등 가격 결정 정보가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6934200" y="2038350"/>
            <a:ext cx="41962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 컬럼보다 텍스트 설명에 더 많이 포함되어 있음</a:t>
            </a:r>
            <a:endParaRPr lang="en-US" sz="1200" dirty="0"/>
          </a:p>
        </p:txBody>
      </p:sp>
      <p:sp>
        <p:nvSpPr>
          <p:cNvPr id="28" name="Text 12"/>
          <p:cNvSpPr/>
          <p:nvPr/>
        </p:nvSpPr>
        <p:spPr>
          <a:xfrm>
            <a:off x="6934200" y="2305050"/>
            <a:ext cx="41962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TF-IDF 및 임베딩 기반 텍스트 표현 기법 활용</a:t>
            </a:r>
            <a:endParaRPr lang="en-US" sz="1200" dirty="0"/>
          </a:p>
        </p:txBody>
      </p:sp>
      <p:sp>
        <p:nvSpPr>
          <p:cNvPr id="29" name="Text 13"/>
          <p:cNvSpPr/>
          <p:nvPr/>
        </p:nvSpPr>
        <p:spPr>
          <a:xfrm>
            <a:off x="571500" y="3600450"/>
            <a:ext cx="11049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및 평가 기준</a:t>
            </a:r>
            <a:endParaRPr lang="en-US" sz="1350" dirty="0"/>
          </a:p>
        </p:txBody>
      </p:sp>
      <p:sp>
        <p:nvSpPr>
          <p:cNvPr id="30" name="Text 14"/>
          <p:cNvSpPr/>
          <p:nvPr/>
        </p:nvSpPr>
        <p:spPr>
          <a:xfrm>
            <a:off x="952500" y="3981450"/>
            <a:ext cx="9652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 방법</a:t>
            </a:r>
            <a:endParaRPr lang="en-US" sz="1200" dirty="0"/>
          </a:p>
        </p:txBody>
      </p:sp>
      <p:sp>
        <p:nvSpPr>
          <p:cNvPr id="31" name="Text 15"/>
          <p:cNvSpPr/>
          <p:nvPr/>
        </p:nvSpPr>
        <p:spPr>
          <a:xfrm>
            <a:off x="762000" y="4324350"/>
            <a:ext cx="6217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회귀 트리 기반 모델 사용 (LightGBM, XGBoost 등)</a:t>
            </a:r>
            <a:endParaRPr lang="en-US" sz="1050" dirty="0"/>
          </a:p>
        </p:txBody>
      </p:sp>
      <p:sp>
        <p:nvSpPr>
          <p:cNvPr id="32" name="Text 16"/>
          <p:cNvSpPr/>
          <p:nvPr/>
        </p:nvSpPr>
        <p:spPr>
          <a:xfrm>
            <a:off x="762000" y="4514850"/>
            <a:ext cx="518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텍스트: TF-IDF, 임베딩 기반 표현 기법</a:t>
            </a:r>
            <a:endParaRPr lang="en-US" sz="1050" dirty="0"/>
          </a:p>
        </p:txBody>
      </p:sp>
      <p:sp>
        <p:nvSpPr>
          <p:cNvPr id="33" name="Text 17"/>
          <p:cNvSpPr/>
          <p:nvPr/>
        </p:nvSpPr>
        <p:spPr>
          <a:xfrm>
            <a:off x="762000" y="4705350"/>
            <a:ext cx="518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 데이터: Label, One-Hot Encoding</a:t>
            </a:r>
            <a:endParaRPr lang="en-US" sz="1050" dirty="0"/>
          </a:p>
        </p:txBody>
      </p:sp>
      <p:sp>
        <p:nvSpPr>
          <p:cNvPr id="34" name="Text 18"/>
          <p:cNvSpPr/>
          <p:nvPr/>
        </p:nvSpPr>
        <p:spPr>
          <a:xfrm>
            <a:off x="6629400" y="3981450"/>
            <a:ext cx="7824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지표</a:t>
            </a:r>
            <a:endParaRPr lang="en-US" sz="1200" dirty="0"/>
          </a:p>
        </p:txBody>
      </p:sp>
      <p:sp>
        <p:nvSpPr>
          <p:cNvPr id="35" name="Text 19"/>
          <p:cNvSpPr/>
          <p:nvPr/>
        </p:nvSpPr>
        <p:spPr>
          <a:xfrm>
            <a:off x="6629400" y="4324350"/>
            <a:ext cx="4991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(회귀 모델의 경우):</a:t>
            </a:r>
            <a:endParaRPr lang="en-US" sz="1050" dirty="0"/>
          </a:p>
        </p:txBody>
      </p:sp>
      <p:sp>
        <p:nvSpPr>
          <p:cNvPr id="36" name="Text 20"/>
          <p:cNvSpPr/>
          <p:nvPr/>
        </p:nvSpPr>
        <p:spPr>
          <a:xfrm>
            <a:off x="6705600" y="4514850"/>
            <a:ext cx="4914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스케일의 오차를 측정</a:t>
            </a:r>
            <a:endParaRPr lang="en-US" sz="1050" dirty="0"/>
          </a:p>
        </p:txBody>
      </p:sp>
      <p:sp>
        <p:nvSpPr>
          <p:cNvPr id="37" name="Text 21"/>
          <p:cNvSpPr/>
          <p:nvPr/>
        </p:nvSpPr>
        <p:spPr>
          <a:xfrm>
            <a:off x="6705600" y="4705350"/>
            <a:ext cx="4914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비대칭 가격 분포에 적합</a:t>
            </a:r>
            <a:endParaRPr lang="en-US" sz="1050" dirty="0"/>
          </a:p>
        </p:txBody>
      </p:sp>
      <p:sp>
        <p:nvSpPr>
          <p:cNvPr id="38" name="Text 22"/>
          <p:cNvSpPr/>
          <p:nvPr/>
        </p:nvSpPr>
        <p:spPr>
          <a:xfrm>
            <a:off x="11353205" y="18707100"/>
            <a:ext cx="64079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3/9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1056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1056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858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352550"/>
            <a:ext cx="5486400" cy="3124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81150"/>
            <a:ext cx="273993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472" y="167640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352550"/>
            <a:ext cx="5486400" cy="3124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581150"/>
            <a:ext cx="379809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1655" y="167640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9209" y="19621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9209" y="226695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9209" y="28003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09209" y="3067050"/>
            <a:ext cx="4496991" cy="609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5409" y="318135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09209" y="3790950"/>
            <a:ext cx="4496991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4629150"/>
            <a:ext cx="11277600" cy="2019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" y="4857750"/>
            <a:ext cx="190500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" y="5505450"/>
            <a:ext cx="10896600" cy="38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" y="5200650"/>
            <a:ext cx="1524000" cy="1257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4900" y="5200650"/>
            <a:ext cx="609600" cy="609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14450" y="5372100"/>
            <a:ext cx="190500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34000" y="5295900"/>
            <a:ext cx="1524000" cy="1066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91200" y="5295900"/>
            <a:ext cx="609600" cy="609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00750" y="5467350"/>
            <a:ext cx="190500" cy="266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20300" y="5295900"/>
            <a:ext cx="1524000" cy="1066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477500" y="5295900"/>
            <a:ext cx="609600" cy="609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87050" y="5467350"/>
            <a:ext cx="190500" cy="2667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457200" y="457200"/>
            <a:ext cx="11277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</a:t>
            </a:r>
            <a:endParaRPr lang="en-US" sz="2100" dirty="0"/>
          </a:p>
        </p:txBody>
      </p:sp>
      <p:sp>
        <p:nvSpPr>
          <p:cNvPr id="32" name="Text 1"/>
          <p:cNvSpPr/>
          <p:nvPr/>
        </p:nvSpPr>
        <p:spPr>
          <a:xfrm>
            <a:off x="1112193" y="1581150"/>
            <a:ext cx="460280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EDA: 가격 분포 특성</a:t>
            </a:r>
            <a:endParaRPr lang="en-US" sz="1500" dirty="0"/>
          </a:p>
        </p:txBody>
      </p:sp>
      <p:sp>
        <p:nvSpPr>
          <p:cNvPr id="33" name="Text 2"/>
          <p:cNvSpPr/>
          <p:nvPr/>
        </p:nvSpPr>
        <p:spPr>
          <a:xfrm>
            <a:off x="1112193" y="1924050"/>
            <a:ext cx="460280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가격은 </a:t>
            </a:r>
            <a:r>
              <a:rPr lang="en-US" sz="12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저가 상품 다수 + 고가 상품 소수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구성된 </a:t>
            </a:r>
            <a:r>
              <a:rPr lang="en-US" sz="1200" b="1" dirty="0">
                <a:solidFill>
                  <a:srgbClr val="A85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롱테일(long-tail)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구조이며, </a:t>
            </a:r>
            <a:r>
              <a:rPr lang="en-US" sz="12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양의 왜도(skewness &gt; 0)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가진다.</a:t>
            </a:r>
            <a:endParaRPr lang="en-US" sz="1200" dirty="0"/>
          </a:p>
        </p:txBody>
      </p:sp>
      <p:sp>
        <p:nvSpPr>
          <p:cNvPr id="34" name="Text 3"/>
          <p:cNvSpPr/>
          <p:nvPr/>
        </p:nvSpPr>
        <p:spPr>
          <a:xfrm>
            <a:off x="1188393" y="2571750"/>
            <a:ext cx="2510314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Original Price 분포</a:t>
            </a:r>
            <a:endParaRPr lang="en-US" sz="900" dirty="0"/>
          </a:p>
        </p:txBody>
      </p:sp>
      <p:sp>
        <p:nvSpPr>
          <p:cNvPr id="35" name="Text 4"/>
          <p:cNvSpPr/>
          <p:nvPr/>
        </p:nvSpPr>
        <p:spPr>
          <a:xfrm>
            <a:off x="3547021" y="2571750"/>
            <a:ext cx="2510314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Log(Price+1) 변환</a:t>
            </a:r>
            <a:endParaRPr lang="en-US" sz="900" dirty="0"/>
          </a:p>
        </p:txBody>
      </p:sp>
      <p:sp>
        <p:nvSpPr>
          <p:cNvPr id="36" name="Text 5"/>
          <p:cNvSpPr/>
          <p:nvPr/>
        </p:nvSpPr>
        <p:spPr>
          <a:xfrm>
            <a:off x="7009209" y="1581150"/>
            <a:ext cx="449699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변환의 필요성</a:t>
            </a:r>
            <a:endParaRPr lang="en-US" sz="1500" dirty="0"/>
          </a:p>
        </p:txBody>
      </p:sp>
      <p:sp>
        <p:nvSpPr>
          <p:cNvPr id="37" name="Text 6"/>
          <p:cNvSpPr/>
          <p:nvPr/>
        </p:nvSpPr>
        <p:spPr>
          <a:xfrm>
            <a:off x="7237809" y="1924050"/>
            <a:ext cx="36984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분포 안정화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왜도 감소, 정규 분포에 가까워짐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7237809" y="2228850"/>
            <a:ext cx="426839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고가 샘플 영향 완화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극단적인 고가(outlier)가 분포 시각화를 왜곡함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7237809" y="2762250"/>
            <a:ext cx="49888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목적 함수 정렬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평가 지표와 학습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목표의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일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 확보</a:t>
            </a:r>
            <a:endParaRPr lang="en-US" sz="1200" dirty="0"/>
          </a:p>
        </p:txBody>
      </p:sp>
      <p:sp>
        <p:nvSpPr>
          <p:cNvPr id="40" name="Text 9"/>
          <p:cNvSpPr/>
          <p:nvPr/>
        </p:nvSpPr>
        <p:spPr>
          <a:xfrm>
            <a:off x="7314009" y="3143250"/>
            <a:ext cx="411599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상한값 Clipping (예: </a:t>
            </a:r>
            <a:r>
              <a:rPr lang="en-US" sz="12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$500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적용으로 극단적인 고가 outilder 분포 왜곡 방지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7085409" y="3867150"/>
            <a:ext cx="434459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정규 분포로 변환된 데이터로 모델 성능 향상</a:t>
            </a:r>
            <a:endParaRPr lang="en-US" sz="1050" dirty="0"/>
          </a:p>
        </p:txBody>
      </p:sp>
      <p:sp>
        <p:nvSpPr>
          <p:cNvPr id="42" name="Text 11"/>
          <p:cNvSpPr/>
          <p:nvPr/>
        </p:nvSpPr>
        <p:spPr>
          <a:xfrm>
            <a:off x="952500" y="4819650"/>
            <a:ext cx="1089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과정 정리</a:t>
            </a:r>
            <a:endParaRPr lang="en-US" sz="1500" dirty="0"/>
          </a:p>
        </p:txBody>
      </p:sp>
      <p:sp>
        <p:nvSpPr>
          <p:cNvPr id="43" name="Text 12"/>
          <p:cNvSpPr/>
          <p:nvPr/>
        </p:nvSpPr>
        <p:spPr>
          <a:xfrm>
            <a:off x="647700" y="5886450"/>
            <a:ext cx="1524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분포 특성 파악
</a:t>
            </a: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(EDA → 문제점 → 전처리 선택)</a:t>
            </a:r>
            <a:endParaRPr lang="en-US" sz="1050" dirty="0"/>
          </a:p>
        </p:txBody>
      </p:sp>
      <p:sp>
        <p:nvSpPr>
          <p:cNvPr id="44" name="Text 13"/>
          <p:cNvSpPr/>
          <p:nvPr/>
        </p:nvSpPr>
        <p:spPr>
          <a:xfrm>
            <a:off x="5334000" y="5981700"/>
            <a:ext cx="1524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변환
</a:t>
            </a: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log1p(price)</a:t>
            </a:r>
            <a:endParaRPr lang="en-US" sz="1050" dirty="0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8785CC81-C856-0C3D-D179-72D1F5CAA03D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81300"/>
            <a:ext cx="2921356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 14"/>
          <p:cNvSpPr/>
          <p:nvPr/>
        </p:nvSpPr>
        <p:spPr>
          <a:xfrm>
            <a:off x="10020300" y="5981700"/>
            <a:ext cx="1524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아웃라이어 처리
</a:t>
            </a: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상한값 clipping</a:t>
            </a:r>
            <a:endParaRPr lang="en-US" sz="1050" dirty="0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EFDEC8AF-2178-343F-4317-0F73801030FC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868" y="2858365"/>
            <a:ext cx="2644732" cy="1295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858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352550"/>
            <a:ext cx="5486400" cy="2971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8115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167640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5400" y="1924050"/>
            <a:ext cx="4300686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400" y="26479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400" y="295275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400" y="325755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400" y="356235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352550"/>
            <a:ext cx="5486400" cy="2971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158115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0350" y="167640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19621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226695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257175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6600" y="2876550"/>
            <a:ext cx="4259610" cy="1066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476750"/>
            <a:ext cx="11277600" cy="1409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4705350"/>
            <a:ext cx="219075" cy="190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" y="5086350"/>
            <a:ext cx="1333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30601" y="5086350"/>
            <a:ext cx="1333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13650" y="5086350"/>
            <a:ext cx="152400" cy="1524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57200" y="457200"/>
            <a:ext cx="11277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엔지니어링</a:t>
            </a:r>
            <a:endParaRPr lang="en-US" sz="2100" dirty="0"/>
          </a:p>
        </p:txBody>
      </p:sp>
      <p:sp>
        <p:nvSpPr>
          <p:cNvPr id="26" name="Text 1"/>
          <p:cNvSpPr/>
          <p:nvPr/>
        </p:nvSpPr>
        <p:spPr>
          <a:xfrm>
            <a:off x="1295400" y="1581150"/>
            <a:ext cx="430068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계층적 카테고리 인코딩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1371600" y="2000250"/>
            <a:ext cx="414828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category_name 세분화 이유</a:t>
            </a:r>
            <a:endParaRPr lang="en-US" sz="1050" dirty="0"/>
          </a:p>
        </p:txBody>
      </p:sp>
      <p:sp>
        <p:nvSpPr>
          <p:cNvPr id="28" name="Text 3"/>
          <p:cNvSpPr/>
          <p:nvPr/>
        </p:nvSpPr>
        <p:spPr>
          <a:xfrm>
            <a:off x="1371600" y="2228850"/>
            <a:ext cx="497794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결정에 영향을 주는 계층적 정보 보존을 위해 대/중/소분류로 분리</a:t>
            </a:r>
            <a:endParaRPr lang="en-US" sz="1050" dirty="0"/>
          </a:p>
        </p:txBody>
      </p:sp>
      <p:sp>
        <p:nvSpPr>
          <p:cNvPr id="29" name="Text 4"/>
          <p:cNvSpPr/>
          <p:nvPr/>
        </p:nvSpPr>
        <p:spPr>
          <a:xfrm>
            <a:off x="1524000" y="2609850"/>
            <a:ext cx="488650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category_name (3단계) : '대분류/중분류/소분류' 구조로 분리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1524000" y="2914650"/>
            <a:ext cx="484489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brand_name : 브랜드 유니크 값이 매우 많아 ("롱테일" 구조)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1524000" y="3219450"/>
            <a:ext cx="4517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item_condition_id : 제품 상태 (1~5)에 대한 원-핫 인코딩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1524000" y="3524250"/>
            <a:ext cx="36279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shipping : 배송비 부담 여부 (1: 무료, 0: 유료)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7086600" y="1581150"/>
            <a:ext cx="42596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빈도 기반 인코딩 전략</a:t>
            </a:r>
            <a:endParaRPr lang="en-US" sz="1500" dirty="0"/>
          </a:p>
        </p:txBody>
      </p:sp>
      <p:sp>
        <p:nvSpPr>
          <p:cNvPr id="34" name="Text 9"/>
          <p:cNvSpPr/>
          <p:nvPr/>
        </p:nvSpPr>
        <p:spPr>
          <a:xfrm>
            <a:off x="7315200" y="1924050"/>
            <a:ext cx="342471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브랜드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카테고리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유니크 값이 많아 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롱테일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구조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7315200" y="2228850"/>
            <a:ext cx="48372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빈도 상위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top-k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값만 유지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나머지는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Other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통합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7315200" y="2533650"/>
            <a:ext cx="35154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효과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차원 폭발 방지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과적합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최소화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7200900" y="2990850"/>
            <a:ext cx="40310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예측 시 수행 과정</a:t>
            </a:r>
            <a:endParaRPr lang="en-US" sz="1050" dirty="0"/>
          </a:p>
        </p:txBody>
      </p:sp>
      <p:sp>
        <p:nvSpPr>
          <p:cNvPr id="38" name="Text 13"/>
          <p:cNvSpPr/>
          <p:nvPr/>
        </p:nvSpPr>
        <p:spPr>
          <a:xfrm>
            <a:off x="7158782" y="3219450"/>
            <a:ext cx="506581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데이터 집계: 각 카테고리/브랜드별 가격 중앙값 계산</a:t>
            </a:r>
            <a:endParaRPr lang="en-US" sz="1050" dirty="0"/>
          </a:p>
        </p:txBody>
      </p:sp>
      <p:sp>
        <p:nvSpPr>
          <p:cNvPr id="39" name="Text 14"/>
          <p:cNvSpPr/>
          <p:nvPr/>
        </p:nvSpPr>
        <p:spPr>
          <a:xfrm>
            <a:off x="7158782" y="3448050"/>
            <a:ext cx="506581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데이터 매핑: Train 기준으로 통계 행렬 생성</a:t>
            </a:r>
            <a:endParaRPr lang="en-US" sz="1050" dirty="0"/>
          </a:p>
        </p:txBody>
      </p:sp>
      <p:sp>
        <p:nvSpPr>
          <p:cNvPr id="40" name="Text 15"/>
          <p:cNvSpPr/>
          <p:nvPr/>
        </p:nvSpPr>
        <p:spPr>
          <a:xfrm>
            <a:off x="7137499" y="3676650"/>
            <a:ext cx="5065812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 데이터 누수 금지로 Test 기준 통계 사용 금지</a:t>
            </a:r>
            <a:endParaRPr lang="en-US" sz="900" dirty="0"/>
          </a:p>
        </p:txBody>
      </p:sp>
      <p:sp>
        <p:nvSpPr>
          <p:cNvPr id="41" name="Text 16"/>
          <p:cNvSpPr/>
          <p:nvPr/>
        </p:nvSpPr>
        <p:spPr>
          <a:xfrm>
            <a:off x="981075" y="4667250"/>
            <a:ext cx="1089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텍스트 통계 피처</a:t>
            </a:r>
            <a:endParaRPr lang="en-US" sz="1500" dirty="0"/>
          </a:p>
        </p:txBody>
      </p:sp>
      <p:sp>
        <p:nvSpPr>
          <p:cNvPr id="42" name="Text 17"/>
          <p:cNvSpPr/>
          <p:nvPr/>
        </p:nvSpPr>
        <p:spPr>
          <a:xfrm>
            <a:off x="857250" y="5048250"/>
            <a:ext cx="1987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 길이</a:t>
            </a:r>
            <a:endParaRPr lang="en-US" sz="1050" dirty="0"/>
          </a:p>
        </p:txBody>
      </p:sp>
      <p:sp>
        <p:nvSpPr>
          <p:cNvPr id="43" name="Text 18"/>
          <p:cNvSpPr/>
          <p:nvPr/>
        </p:nvSpPr>
        <p:spPr>
          <a:xfrm>
            <a:off x="857250" y="5238750"/>
            <a:ext cx="23851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길이 정보는 제품의 세부 정보량을 시사</a:t>
            </a:r>
            <a:endParaRPr lang="en-US" sz="900" dirty="0"/>
          </a:p>
        </p:txBody>
      </p:sp>
      <p:sp>
        <p:nvSpPr>
          <p:cNvPr id="44" name="Text 19"/>
          <p:cNvSpPr/>
          <p:nvPr/>
        </p:nvSpPr>
        <p:spPr>
          <a:xfrm>
            <a:off x="4540151" y="5048250"/>
            <a:ext cx="2101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단어 수</a:t>
            </a:r>
            <a:endParaRPr lang="en-US" sz="1050" dirty="0"/>
          </a:p>
        </p:txBody>
      </p:sp>
      <p:sp>
        <p:nvSpPr>
          <p:cNvPr id="45" name="Text 20"/>
          <p:cNvSpPr/>
          <p:nvPr/>
        </p:nvSpPr>
        <p:spPr>
          <a:xfrm>
            <a:off x="4540151" y="5238750"/>
            <a:ext cx="2522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수량은 가격 결정의 정도를 나타냄</a:t>
            </a:r>
            <a:endParaRPr lang="en-US" sz="900" dirty="0"/>
          </a:p>
        </p:txBody>
      </p:sp>
      <p:sp>
        <p:nvSpPr>
          <p:cNvPr id="46" name="Text 21"/>
          <p:cNvSpPr/>
          <p:nvPr/>
        </p:nvSpPr>
        <p:spPr>
          <a:xfrm>
            <a:off x="8242250" y="5048250"/>
            <a:ext cx="207275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brand_in_name</a:t>
            </a:r>
            <a:endParaRPr lang="en-US" sz="1050" dirty="0"/>
          </a:p>
        </p:txBody>
      </p:sp>
      <p:sp>
        <p:nvSpPr>
          <p:cNvPr id="47" name="Text 22"/>
          <p:cNvSpPr/>
          <p:nvPr/>
        </p:nvSpPr>
        <p:spPr>
          <a:xfrm>
            <a:off x="8242250" y="5238750"/>
            <a:ext cx="207275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명시 여부는 신뢰도에 영향</a:t>
            </a:r>
            <a:endParaRPr lang="en-US" sz="900" dirty="0"/>
          </a:p>
        </p:txBody>
      </p:sp>
      <p:sp>
        <p:nvSpPr>
          <p:cNvPr id="48" name="Text 23"/>
          <p:cNvSpPr/>
          <p:nvPr/>
        </p:nvSpPr>
        <p:spPr>
          <a:xfrm>
            <a:off x="647700" y="5505450"/>
            <a:ext cx="10896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통계 피처는 </a:t>
            </a: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"상품 정보량/신뢰도"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수치화하기 위해 추가되었으며, 모든 모델에 동일하게 적용되었다.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9334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23950"/>
            <a:ext cx="4480471" cy="4648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323975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1962150"/>
            <a:ext cx="4175671" cy="495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076450"/>
            <a:ext cx="1524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2533650"/>
            <a:ext cx="4175671" cy="495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647950"/>
            <a:ext cx="17145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3105150"/>
            <a:ext cx="4175671" cy="495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219450"/>
            <a:ext cx="17145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3676650"/>
            <a:ext cx="4175671" cy="495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379095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" y="4248150"/>
            <a:ext cx="4175671" cy="495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4362450"/>
            <a:ext cx="17145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3400" y="4895850"/>
            <a:ext cx="4175671" cy="723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32161" y="5029200"/>
            <a:ext cx="114300" cy="114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13871" y="1123950"/>
            <a:ext cx="4480620" cy="4648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66271" y="1323975"/>
            <a:ext cx="171450" cy="1714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66271" y="1657350"/>
            <a:ext cx="4175820" cy="1828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66271" y="1657350"/>
            <a:ext cx="4175820" cy="457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280571" y="1733550"/>
            <a:ext cx="3048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47246" y="1809750"/>
            <a:ext cx="17145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66271" y="2114550"/>
            <a:ext cx="4175820" cy="457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280571" y="2190750"/>
            <a:ext cx="30480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356771" y="226695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166271" y="2571750"/>
            <a:ext cx="4175820" cy="4572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280571" y="2647950"/>
            <a:ext cx="304800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337721" y="2724150"/>
            <a:ext cx="1905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166271" y="3028950"/>
            <a:ext cx="4175820" cy="4572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280571" y="3105150"/>
            <a:ext cx="304800" cy="3048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356771" y="3181350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166271" y="3600450"/>
            <a:ext cx="4175820" cy="3048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646890" y="1123950"/>
            <a:ext cx="2163961" cy="46482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799290" y="1323975"/>
            <a:ext cx="190500" cy="17145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799290" y="1657350"/>
            <a:ext cx="1859161" cy="7239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799290" y="2495550"/>
            <a:ext cx="1859161" cy="8763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799290" y="3486150"/>
            <a:ext cx="1859161" cy="7239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799290" y="4324350"/>
            <a:ext cx="1859161" cy="8382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875490" y="4419600"/>
            <a:ext cx="114300" cy="1143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875490" y="4610100"/>
            <a:ext cx="114300" cy="1143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875490" y="4953000"/>
            <a:ext cx="114300" cy="1143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81000" y="5886450"/>
            <a:ext cx="11430000" cy="3810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95300" y="6000750"/>
            <a:ext cx="114300" cy="152400"/>
          </a:xfrm>
          <a:prstGeom prst="rect">
            <a:avLst/>
          </a:prstGeom>
        </p:spPr>
      </p:pic>
      <p:sp>
        <p:nvSpPr>
          <p:cNvPr id="50" name="Text 0"/>
          <p:cNvSpPr/>
          <p:nvPr/>
        </p:nvSpPr>
        <p:spPr>
          <a:xfrm>
            <a:off x="381000" y="381000"/>
            <a:ext cx="11430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후보 선정 &amp; 평가 기준</a:t>
            </a:r>
            <a:endParaRPr lang="en-US" sz="2100" dirty="0"/>
          </a:p>
        </p:txBody>
      </p:sp>
      <p:sp>
        <p:nvSpPr>
          <p:cNvPr id="51" name="Text 1"/>
          <p:cNvSpPr/>
          <p:nvPr/>
        </p:nvSpPr>
        <p:spPr>
          <a:xfrm>
            <a:off x="781050" y="1276350"/>
            <a:ext cx="41756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후보 선정</a:t>
            </a:r>
            <a:endParaRPr lang="en-US" sz="1350" dirty="0"/>
          </a:p>
        </p:txBody>
      </p:sp>
      <p:sp>
        <p:nvSpPr>
          <p:cNvPr id="52" name="Text 2"/>
          <p:cNvSpPr/>
          <p:nvPr/>
        </p:nvSpPr>
        <p:spPr>
          <a:xfrm>
            <a:off x="533400" y="1657350"/>
            <a:ext cx="501080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Kaggle Mercari 대회 기반 모델 베이스</a:t>
            </a:r>
            <a:endParaRPr lang="en-US" sz="1200" dirty="0"/>
          </a:p>
        </p:txBody>
      </p:sp>
      <p:sp>
        <p:nvSpPr>
          <p:cNvPr id="53" name="Text 3"/>
          <p:cNvSpPr/>
          <p:nvPr/>
        </p:nvSpPr>
        <p:spPr>
          <a:xfrm>
            <a:off x="876300" y="2038350"/>
            <a:ext cx="213374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1050" dirty="0"/>
          </a:p>
        </p:txBody>
      </p:sp>
      <p:sp>
        <p:nvSpPr>
          <p:cNvPr id="54" name="Text 4"/>
          <p:cNvSpPr/>
          <p:nvPr/>
        </p:nvSpPr>
        <p:spPr>
          <a:xfrm>
            <a:off x="876300" y="2228850"/>
            <a:ext cx="256049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속도의 가중치 부스팅 기반 트리 모델</a:t>
            </a:r>
            <a:endParaRPr lang="en-US" sz="900" dirty="0"/>
          </a:p>
        </p:txBody>
      </p:sp>
      <p:sp>
        <p:nvSpPr>
          <p:cNvPr id="55" name="Text 5"/>
          <p:cNvSpPr/>
          <p:nvPr/>
        </p:nvSpPr>
        <p:spPr>
          <a:xfrm>
            <a:off x="895350" y="2609850"/>
            <a:ext cx="285124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</a:t>
            </a:r>
            <a:endParaRPr lang="en-US" sz="1050" dirty="0"/>
          </a:p>
        </p:txBody>
      </p:sp>
      <p:sp>
        <p:nvSpPr>
          <p:cNvPr id="56" name="Text 6"/>
          <p:cNvSpPr/>
          <p:nvPr/>
        </p:nvSpPr>
        <p:spPr>
          <a:xfrm>
            <a:off x="895350" y="2800350"/>
            <a:ext cx="342149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트리 구조와 정규화 기법을 이용한 순차적 부스팅</a:t>
            </a:r>
            <a:endParaRPr lang="en-US" sz="900" dirty="0"/>
          </a:p>
        </p:txBody>
      </p:sp>
      <p:sp>
        <p:nvSpPr>
          <p:cNvPr id="57" name="Text 7"/>
          <p:cNvSpPr/>
          <p:nvPr/>
        </p:nvSpPr>
        <p:spPr>
          <a:xfrm>
            <a:off x="895350" y="3181350"/>
            <a:ext cx="24130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</a:t>
            </a:r>
            <a:endParaRPr lang="en-US" sz="1050" dirty="0"/>
          </a:p>
        </p:txBody>
      </p:sp>
      <p:sp>
        <p:nvSpPr>
          <p:cNvPr id="58" name="Text 8"/>
          <p:cNvSpPr/>
          <p:nvPr/>
        </p:nvSpPr>
        <p:spPr>
          <a:xfrm>
            <a:off x="895350" y="3371850"/>
            <a:ext cx="289571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 특성을 효율적으로 처리하는 알고리즘</a:t>
            </a:r>
            <a:endParaRPr lang="en-US" sz="900" dirty="0"/>
          </a:p>
        </p:txBody>
      </p:sp>
      <p:sp>
        <p:nvSpPr>
          <p:cNvPr id="59" name="Text 9"/>
          <p:cNvSpPr/>
          <p:nvPr/>
        </p:nvSpPr>
        <p:spPr>
          <a:xfrm>
            <a:off x="914400" y="3752850"/>
            <a:ext cx="2110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Ridge (베이스라인)</a:t>
            </a:r>
            <a:endParaRPr lang="en-US" sz="1050" dirty="0"/>
          </a:p>
        </p:txBody>
      </p:sp>
      <p:sp>
        <p:nvSpPr>
          <p:cNvPr id="60" name="Text 10"/>
          <p:cNvSpPr/>
          <p:nvPr/>
        </p:nvSpPr>
        <p:spPr>
          <a:xfrm>
            <a:off x="914400" y="3943350"/>
            <a:ext cx="2110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선형 모델로 모델의 기저 성능 제공</a:t>
            </a:r>
            <a:endParaRPr lang="en-US" sz="900" dirty="0"/>
          </a:p>
        </p:txBody>
      </p:sp>
      <p:sp>
        <p:nvSpPr>
          <p:cNvPr id="61" name="Text 11"/>
          <p:cNvSpPr/>
          <p:nvPr/>
        </p:nvSpPr>
        <p:spPr>
          <a:xfrm>
            <a:off x="895350" y="4324350"/>
            <a:ext cx="22479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Extra Trees / Random Forest</a:t>
            </a:r>
            <a:endParaRPr lang="en-US" sz="1050" dirty="0"/>
          </a:p>
        </p:txBody>
      </p:sp>
      <p:sp>
        <p:nvSpPr>
          <p:cNvPr id="62" name="Text 12"/>
          <p:cNvSpPr/>
          <p:nvPr/>
        </p:nvSpPr>
        <p:spPr>
          <a:xfrm>
            <a:off x="895350" y="4514850"/>
            <a:ext cx="22479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 앙상블 모델로 최종 성능 확보</a:t>
            </a:r>
            <a:endParaRPr lang="en-US" sz="900" dirty="0"/>
          </a:p>
        </p:txBody>
      </p:sp>
      <p:sp>
        <p:nvSpPr>
          <p:cNvPr id="63" name="Text 13"/>
          <p:cNvSpPr/>
          <p:nvPr/>
        </p:nvSpPr>
        <p:spPr>
          <a:xfrm>
            <a:off x="647700" y="5010150"/>
            <a:ext cx="394707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탐색 범위를 줄이고, 검증된 모델에 집중한 전략</a:t>
            </a:r>
            <a:endParaRPr lang="en-US" sz="900" dirty="0"/>
          </a:p>
        </p:txBody>
      </p:sp>
      <p:sp>
        <p:nvSpPr>
          <p:cNvPr id="64" name="Text 14"/>
          <p:cNvSpPr/>
          <p:nvPr/>
        </p:nvSpPr>
        <p:spPr>
          <a:xfrm>
            <a:off x="647700" y="5200650"/>
            <a:ext cx="394707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Kaggle Mercari 대회에서 검증된 Winners 기반 모델 후보군 중심의 탐색 전략으로 효율적 자원 활용</a:t>
            </a:r>
            <a:endParaRPr lang="en-US" sz="900" dirty="0"/>
          </a:p>
        </p:txBody>
      </p:sp>
      <p:sp>
        <p:nvSpPr>
          <p:cNvPr id="65" name="Text 15"/>
          <p:cNvSpPr/>
          <p:nvPr/>
        </p:nvSpPr>
        <p:spPr>
          <a:xfrm>
            <a:off x="5413921" y="1276350"/>
            <a:ext cx="41758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기준</a:t>
            </a:r>
            <a:endParaRPr lang="en-US" sz="1350" dirty="0"/>
          </a:p>
        </p:txBody>
      </p:sp>
      <p:sp>
        <p:nvSpPr>
          <p:cNvPr id="66" name="Text 16"/>
          <p:cNvSpPr/>
          <p:nvPr/>
        </p:nvSpPr>
        <p:spPr>
          <a:xfrm>
            <a:off x="5661571" y="1790700"/>
            <a:ext cx="1689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R²</a:t>
            </a:r>
            <a:endParaRPr lang="en-US" sz="1050" dirty="0"/>
          </a:p>
        </p:txBody>
      </p:sp>
      <p:sp>
        <p:nvSpPr>
          <p:cNvPr id="67" name="Text 17"/>
          <p:cNvSpPr/>
          <p:nvPr/>
        </p:nvSpPr>
        <p:spPr>
          <a:xfrm>
            <a:off x="7346007" y="1809750"/>
            <a:ext cx="188178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분산 설명력</a:t>
            </a:r>
            <a:endParaRPr lang="en-US" sz="900" dirty="0"/>
          </a:p>
        </p:txBody>
      </p:sp>
      <p:sp>
        <p:nvSpPr>
          <p:cNvPr id="68" name="Text 18"/>
          <p:cNvSpPr/>
          <p:nvPr/>
        </p:nvSpPr>
        <p:spPr>
          <a:xfrm>
            <a:off x="5661571" y="2247900"/>
            <a:ext cx="4623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RMSE</a:t>
            </a:r>
            <a:endParaRPr lang="en-US" sz="1050" dirty="0"/>
          </a:p>
        </p:txBody>
      </p:sp>
      <p:sp>
        <p:nvSpPr>
          <p:cNvPr id="69" name="Text 19"/>
          <p:cNvSpPr/>
          <p:nvPr/>
        </p:nvSpPr>
        <p:spPr>
          <a:xfrm>
            <a:off x="7346007" y="2266950"/>
            <a:ext cx="188178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제곱근 오차</a:t>
            </a:r>
            <a:endParaRPr lang="en-US" sz="900" dirty="0"/>
          </a:p>
        </p:txBody>
      </p:sp>
      <p:sp>
        <p:nvSpPr>
          <p:cNvPr id="70" name="Text 20"/>
          <p:cNvSpPr/>
          <p:nvPr/>
        </p:nvSpPr>
        <p:spPr>
          <a:xfrm>
            <a:off x="5661571" y="2705100"/>
            <a:ext cx="3468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MAE</a:t>
            </a:r>
            <a:endParaRPr lang="en-US" sz="1050" dirty="0"/>
          </a:p>
        </p:txBody>
      </p:sp>
      <p:sp>
        <p:nvSpPr>
          <p:cNvPr id="71" name="Text 21"/>
          <p:cNvSpPr/>
          <p:nvPr/>
        </p:nvSpPr>
        <p:spPr>
          <a:xfrm>
            <a:off x="7346007" y="2724150"/>
            <a:ext cx="188178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절대 오차</a:t>
            </a:r>
            <a:endParaRPr lang="en-US" sz="900" dirty="0"/>
          </a:p>
        </p:txBody>
      </p:sp>
      <p:sp>
        <p:nvSpPr>
          <p:cNvPr id="72" name="Text 22"/>
          <p:cNvSpPr/>
          <p:nvPr/>
        </p:nvSpPr>
        <p:spPr>
          <a:xfrm>
            <a:off x="5661571" y="3162300"/>
            <a:ext cx="55131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</a:t>
            </a:r>
            <a:endParaRPr lang="en-US" sz="1050" dirty="0"/>
          </a:p>
        </p:txBody>
      </p:sp>
      <p:sp>
        <p:nvSpPr>
          <p:cNvPr id="73" name="Text 23"/>
          <p:cNvSpPr/>
          <p:nvPr/>
        </p:nvSpPr>
        <p:spPr>
          <a:xfrm>
            <a:off x="7346007" y="3181350"/>
            <a:ext cx="188178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지표</a:t>
            </a:r>
            <a:endParaRPr lang="en-US" sz="900" dirty="0"/>
          </a:p>
        </p:txBody>
      </p:sp>
      <p:sp>
        <p:nvSpPr>
          <p:cNvPr id="74" name="Text 24"/>
          <p:cNvSpPr/>
          <p:nvPr/>
        </p:nvSpPr>
        <p:spPr>
          <a:xfrm>
            <a:off x="4840129" y="3676650"/>
            <a:ext cx="482810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RMSLE: 로그 스케일의 오차를 측정하여 </a:t>
            </a: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가격 상품의 오차에 민감</a:t>
            </a:r>
            <a:endParaRPr lang="en-US" sz="900" dirty="0"/>
          </a:p>
        </p:txBody>
      </p:sp>
      <p:sp>
        <p:nvSpPr>
          <p:cNvPr id="76" name="Text 26"/>
          <p:cNvSpPr/>
          <p:nvPr/>
        </p:nvSpPr>
        <p:spPr>
          <a:xfrm>
            <a:off x="5486549" y="4895850"/>
            <a:ext cx="457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0.4</a:t>
            </a:r>
            <a:endParaRPr lang="en-US" sz="900" dirty="0"/>
          </a:p>
        </p:txBody>
      </p:sp>
      <p:sp>
        <p:nvSpPr>
          <p:cNvPr id="78" name="Text 28"/>
          <p:cNvSpPr/>
          <p:nvPr/>
        </p:nvSpPr>
        <p:spPr>
          <a:xfrm>
            <a:off x="6559153" y="4895850"/>
            <a:ext cx="457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047</a:t>
            </a:r>
            <a:endParaRPr lang="en-US" sz="900" dirty="0"/>
          </a:p>
        </p:txBody>
      </p:sp>
      <p:sp>
        <p:nvSpPr>
          <p:cNvPr id="84" name="Text 34"/>
          <p:cNvSpPr/>
          <p:nvPr/>
        </p:nvSpPr>
        <p:spPr>
          <a:xfrm>
            <a:off x="10065990" y="1276350"/>
            <a:ext cx="18591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결과</a:t>
            </a:r>
            <a:endParaRPr lang="en-US" sz="1350" dirty="0"/>
          </a:p>
        </p:txBody>
      </p:sp>
      <p:sp>
        <p:nvSpPr>
          <p:cNvPr id="85" name="Text 35"/>
          <p:cNvSpPr/>
          <p:nvPr/>
        </p:nvSpPr>
        <p:spPr>
          <a:xfrm>
            <a:off x="9875490" y="1733550"/>
            <a:ext cx="17067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품질 수준</a:t>
            </a:r>
            <a:endParaRPr lang="en-US" sz="1050" dirty="0"/>
          </a:p>
        </p:txBody>
      </p:sp>
      <p:sp>
        <p:nvSpPr>
          <p:cNvPr id="86" name="Text 36"/>
          <p:cNvSpPr/>
          <p:nvPr/>
        </p:nvSpPr>
        <p:spPr>
          <a:xfrm>
            <a:off x="9875490" y="1962150"/>
            <a:ext cx="1448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R²</a:t>
            </a:r>
            <a:endParaRPr lang="en-US" sz="900" dirty="0"/>
          </a:p>
        </p:txBody>
      </p:sp>
      <p:sp>
        <p:nvSpPr>
          <p:cNvPr id="87" name="Text 37"/>
          <p:cNvSpPr/>
          <p:nvPr/>
        </p:nvSpPr>
        <p:spPr>
          <a:xfrm>
            <a:off x="11261229" y="1962150"/>
            <a:ext cx="385227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&gt; 0.99</a:t>
            </a:r>
            <a:endParaRPr lang="en-US" sz="900" dirty="0"/>
          </a:p>
        </p:txBody>
      </p:sp>
      <p:sp>
        <p:nvSpPr>
          <p:cNvPr id="88" name="Text 38"/>
          <p:cNvSpPr/>
          <p:nvPr/>
        </p:nvSpPr>
        <p:spPr>
          <a:xfrm>
            <a:off x="9875490" y="2152650"/>
            <a:ext cx="170676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성능이 매우 우수</a:t>
            </a:r>
            <a:endParaRPr lang="en-US" sz="900" dirty="0"/>
          </a:p>
        </p:txBody>
      </p:sp>
      <p:sp>
        <p:nvSpPr>
          <p:cNvPr id="89" name="Text 39"/>
          <p:cNvSpPr/>
          <p:nvPr/>
        </p:nvSpPr>
        <p:spPr>
          <a:xfrm>
            <a:off x="9875490" y="2571750"/>
            <a:ext cx="17067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 모델</a:t>
            </a:r>
            <a:endParaRPr lang="en-US" sz="1050" dirty="0"/>
          </a:p>
        </p:txBody>
      </p:sp>
      <p:sp>
        <p:nvSpPr>
          <p:cNvPr id="90" name="Text 40"/>
          <p:cNvSpPr/>
          <p:nvPr/>
        </p:nvSpPr>
        <p:spPr>
          <a:xfrm>
            <a:off x="9875490" y="2800350"/>
            <a:ext cx="72401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 앙상블</a:t>
            </a:r>
            <a:endParaRPr lang="en-US" sz="900" dirty="0"/>
          </a:p>
        </p:txBody>
      </p:sp>
      <p:sp>
        <p:nvSpPr>
          <p:cNvPr id="91" name="Text 41"/>
          <p:cNvSpPr/>
          <p:nvPr/>
        </p:nvSpPr>
        <p:spPr>
          <a:xfrm>
            <a:off x="11093202" y="2800350"/>
            <a:ext cx="58685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최적</a:t>
            </a:r>
            <a:endParaRPr lang="en-US" sz="900" dirty="0"/>
          </a:p>
        </p:txBody>
      </p:sp>
      <p:sp>
        <p:nvSpPr>
          <p:cNvPr id="92" name="Text 42"/>
          <p:cNvSpPr/>
          <p:nvPr/>
        </p:nvSpPr>
        <p:spPr>
          <a:xfrm>
            <a:off x="9875490" y="2990850"/>
            <a:ext cx="170676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Extra Trees/Random Forest가 최우수</a:t>
            </a:r>
            <a:endParaRPr lang="en-US" sz="900" dirty="0"/>
          </a:p>
        </p:txBody>
      </p:sp>
      <p:sp>
        <p:nvSpPr>
          <p:cNvPr id="93" name="Text 43"/>
          <p:cNvSpPr/>
          <p:nvPr/>
        </p:nvSpPr>
        <p:spPr>
          <a:xfrm>
            <a:off x="9875490" y="3562350"/>
            <a:ext cx="17067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한계</a:t>
            </a:r>
            <a:endParaRPr lang="en-US" sz="1050" dirty="0"/>
          </a:p>
        </p:txBody>
      </p:sp>
      <p:sp>
        <p:nvSpPr>
          <p:cNvPr id="94" name="Text 44"/>
          <p:cNvSpPr/>
          <p:nvPr/>
        </p:nvSpPr>
        <p:spPr>
          <a:xfrm>
            <a:off x="9875490" y="3790950"/>
            <a:ext cx="67079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Ridge 모델</a:t>
            </a:r>
            <a:endParaRPr lang="en-US" sz="900" dirty="0"/>
          </a:p>
        </p:txBody>
      </p:sp>
      <p:sp>
        <p:nvSpPr>
          <p:cNvPr id="95" name="Text 45"/>
          <p:cNvSpPr/>
          <p:nvPr/>
        </p:nvSpPr>
        <p:spPr>
          <a:xfrm>
            <a:off x="11093202" y="3790950"/>
            <a:ext cx="58685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최한</a:t>
            </a:r>
            <a:endParaRPr lang="en-US" sz="900" dirty="0"/>
          </a:p>
        </p:txBody>
      </p:sp>
      <p:sp>
        <p:nvSpPr>
          <p:cNvPr id="96" name="Text 46"/>
          <p:cNvSpPr/>
          <p:nvPr/>
        </p:nvSpPr>
        <p:spPr>
          <a:xfrm>
            <a:off x="9875490" y="3981450"/>
            <a:ext cx="170676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모델 조합 필요</a:t>
            </a:r>
            <a:endParaRPr lang="en-US" sz="900" dirty="0"/>
          </a:p>
        </p:txBody>
      </p:sp>
      <p:sp>
        <p:nvSpPr>
          <p:cNvPr id="97" name="Text 47"/>
          <p:cNvSpPr/>
          <p:nvPr/>
        </p:nvSpPr>
        <p:spPr>
          <a:xfrm>
            <a:off x="10027890" y="4400550"/>
            <a:ext cx="183665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대부분 R² 0.99 이상 달성</a:t>
            </a:r>
            <a:endParaRPr lang="en-US" sz="900" dirty="0"/>
          </a:p>
        </p:txBody>
      </p:sp>
      <p:sp>
        <p:nvSpPr>
          <p:cNvPr id="98" name="Text 48"/>
          <p:cNvSpPr/>
          <p:nvPr/>
        </p:nvSpPr>
        <p:spPr>
          <a:xfrm>
            <a:off x="10027890" y="4591050"/>
            <a:ext cx="155436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Extra Trees/Random Forest가 R,M,MAE 모두 최상</a:t>
            </a:r>
            <a:endParaRPr lang="en-US" sz="900" dirty="0"/>
          </a:p>
        </p:txBody>
      </p:sp>
      <p:sp>
        <p:nvSpPr>
          <p:cNvPr id="99" name="Text 49"/>
          <p:cNvSpPr/>
          <p:nvPr/>
        </p:nvSpPr>
        <p:spPr>
          <a:xfrm>
            <a:off x="10027890" y="4933950"/>
            <a:ext cx="1745397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Ridge는 단일 성능 제한 포함</a:t>
            </a:r>
            <a:endParaRPr lang="en-US" sz="900" dirty="0"/>
          </a:p>
        </p:txBody>
      </p:sp>
      <p:sp>
        <p:nvSpPr>
          <p:cNvPr id="100" name="Text 50"/>
          <p:cNvSpPr/>
          <p:nvPr/>
        </p:nvSpPr>
        <p:spPr>
          <a:xfrm>
            <a:off x="685800" y="6000750"/>
            <a:ext cx="755165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방법론 종합: 검증된 모델 아키텍처와 타겟 스케일 특성을 고려하여 합리적 범위 내에서 최적의 모델 후보를 선정한 접근 방식</a:t>
            </a:r>
            <a:endParaRPr lang="en-US" sz="900" dirty="0"/>
          </a:p>
        </p:txBody>
      </p:sp>
      <p:sp>
        <p:nvSpPr>
          <p:cNvPr id="101" name="Text 51"/>
          <p:cNvSpPr/>
          <p:nvPr/>
        </p:nvSpPr>
        <p:spPr>
          <a:xfrm>
            <a:off x="11279088" y="6515100"/>
            <a:ext cx="7297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6/10</a:t>
            </a:r>
            <a:endParaRPr lang="en-US" sz="1050" dirty="0"/>
          </a:p>
        </p:txBody>
      </p:sp>
      <p:pic>
        <p:nvPicPr>
          <p:cNvPr id="103" name="Image 15" descr="preencoded.png">
            <a:extLst>
              <a:ext uri="{FF2B5EF4-FFF2-40B4-BE49-F238E27FC236}">
                <a16:creationId xmlns:a16="http://schemas.microsoft.com/office/drawing/2014/main" id="{7DBFCAEF-FCBB-7ADE-66C7-9DCB060AB54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66271" y="3905250"/>
            <a:ext cx="4175671" cy="1854777"/>
          </a:xfrm>
          <a:prstGeom prst="rect">
            <a:avLst/>
          </a:prstGeom>
        </p:spPr>
      </p:pic>
      <p:graphicFrame>
        <p:nvGraphicFramePr>
          <p:cNvPr id="102" name="표 101">
            <a:extLst>
              <a:ext uri="{FF2B5EF4-FFF2-40B4-BE49-F238E27FC236}">
                <a16:creationId xmlns:a16="http://schemas.microsoft.com/office/drawing/2014/main" id="{6F0484D6-8C11-A23E-B99C-01F426E3A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26996"/>
              </p:ext>
            </p:extLst>
          </p:nvPr>
        </p:nvGraphicFramePr>
        <p:xfrm>
          <a:off x="5253611" y="4000500"/>
          <a:ext cx="4055862" cy="1651716"/>
        </p:xfrm>
        <a:graphic>
          <a:graphicData uri="http://schemas.openxmlformats.org/drawingml/2006/table">
            <a:tbl>
              <a:tblPr/>
              <a:tblGrid>
                <a:gridCol w="1351954">
                  <a:extLst>
                    <a:ext uri="{9D8B030D-6E8A-4147-A177-3AD203B41FA5}">
                      <a16:colId xmlns:a16="http://schemas.microsoft.com/office/drawing/2014/main" val="1901845108"/>
                    </a:ext>
                  </a:extLst>
                </a:gridCol>
                <a:gridCol w="1351954">
                  <a:extLst>
                    <a:ext uri="{9D8B030D-6E8A-4147-A177-3AD203B41FA5}">
                      <a16:colId xmlns:a16="http://schemas.microsoft.com/office/drawing/2014/main" val="49759352"/>
                    </a:ext>
                  </a:extLst>
                </a:gridCol>
                <a:gridCol w="1351954">
                  <a:extLst>
                    <a:ext uri="{9D8B030D-6E8A-4147-A177-3AD203B41FA5}">
                      <a16:colId xmlns:a16="http://schemas.microsoft.com/office/drawing/2014/main" val="3508149937"/>
                    </a:ext>
                  </a:extLst>
                </a:gridCol>
              </a:tblGrid>
              <a:tr h="176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해석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236389"/>
                  </a:ext>
                </a:extLst>
              </a:tr>
              <a:tr h="442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RMSLE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로그 변환된 </a:t>
                      </a:r>
                      <a:r>
                        <a:rPr lang="ko-KR" altLang="en-US" sz="9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예측값과</a:t>
                      </a:r>
                      <a:r>
                        <a:rPr lang="ko-KR" altLang="en-US" sz="9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9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실제값의</a:t>
                      </a:r>
                      <a:r>
                        <a:rPr lang="ko-KR" altLang="en-US" sz="9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차이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낮을수록 좋음</a:t>
                      </a:r>
                      <a:endParaRPr lang="ko-KR" altLang="en-US" sz="9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013692"/>
                  </a:ext>
                </a:extLst>
              </a:tr>
              <a:tr h="442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평균 제곱 오차의 제곱근 </a:t>
                      </a:r>
                      <a:r>
                        <a:rPr lang="en-US" altLang="ko-KR" sz="9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9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큰 오차 민감</a:t>
                      </a:r>
                      <a:r>
                        <a:rPr lang="en-US" altLang="ko-KR" sz="9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낮을수록 좋음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353249"/>
                  </a:ext>
                </a:extLst>
              </a:tr>
              <a:tr h="176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평균 절대 오차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낮을수록 좋음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455351"/>
                  </a:ext>
                </a:extLst>
              </a:tr>
              <a:tr h="309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분산 설명력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9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에 가까울수록 좋음</a:t>
                      </a:r>
                      <a:endParaRPr lang="ko-KR" altLang="en-US" sz="9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1193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87611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078111"/>
            <a:ext cx="3759101" cy="1752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230511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" y="1344811"/>
            <a:ext cx="1143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221111"/>
            <a:ext cx="3454301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8589" y="2316361"/>
            <a:ext cx="142875" cy="114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16301" y="1078111"/>
            <a:ext cx="3759250" cy="1752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68701" y="1230511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3001" y="1344811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68701" y="2373511"/>
            <a:ext cx="345445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27452" y="2468761"/>
            <a:ext cx="114300" cy="114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7950" y="1078111"/>
            <a:ext cx="3759101" cy="1752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0350" y="1230511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75600" y="1344811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80350" y="2373511"/>
            <a:ext cx="3454301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20064" y="2468761"/>
            <a:ext cx="142875" cy="114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04800" y="2983111"/>
            <a:ext cx="11582400" cy="2057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" y="3183136"/>
            <a:ext cx="133350" cy="1714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200" y="3516511"/>
            <a:ext cx="3657600" cy="876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67200" y="3516511"/>
            <a:ext cx="3657600" cy="8763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77200" y="3516511"/>
            <a:ext cx="3657600" cy="8763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827707" y="4632055"/>
            <a:ext cx="1905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04800" y="5192911"/>
            <a:ext cx="11582400" cy="1447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57200" y="5726311"/>
            <a:ext cx="5419725" cy="762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595563" y="5993011"/>
            <a:ext cx="304800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671763" y="6069211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938463" y="5993011"/>
            <a:ext cx="304800" cy="3048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14663" y="6069211"/>
            <a:ext cx="1524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281363" y="5993011"/>
            <a:ext cx="304800" cy="3048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38513" y="6069211"/>
            <a:ext cx="1905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29325" y="5993011"/>
            <a:ext cx="133350" cy="2286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029325" y="6012061"/>
            <a:ext cx="13335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605838" y="5993011"/>
            <a:ext cx="304800" cy="3048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62988" y="6069211"/>
            <a:ext cx="190500" cy="1524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948738" y="5993011"/>
            <a:ext cx="304800" cy="3048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024938" y="6069211"/>
            <a:ext cx="152400" cy="1524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291638" y="5993011"/>
            <a:ext cx="304800" cy="3048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67838" y="6069211"/>
            <a:ext cx="152400" cy="152400"/>
          </a:xfrm>
          <a:prstGeom prst="rect">
            <a:avLst/>
          </a:prstGeom>
        </p:spPr>
      </p:pic>
      <p:sp>
        <p:nvSpPr>
          <p:cNvPr id="43" name="Text 0"/>
          <p:cNvSpPr/>
          <p:nvPr/>
        </p:nvSpPr>
        <p:spPr>
          <a:xfrm>
            <a:off x="304800" y="304800"/>
            <a:ext cx="115824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 프레임워크 전략 비교</a:t>
            </a:r>
            <a:endParaRPr lang="en-US" sz="2100" dirty="0"/>
          </a:p>
        </p:txBody>
      </p:sp>
      <p:sp>
        <p:nvSpPr>
          <p:cNvPr id="44" name="Text 1"/>
          <p:cNvSpPr/>
          <p:nvPr/>
        </p:nvSpPr>
        <p:spPr>
          <a:xfrm>
            <a:off x="952500" y="1287661"/>
            <a:ext cx="77777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PyCaret</a:t>
            </a:r>
            <a:endParaRPr lang="en-US" sz="1350" dirty="0"/>
          </a:p>
        </p:txBody>
      </p:sp>
      <p:sp>
        <p:nvSpPr>
          <p:cNvPr id="45" name="Text 2"/>
          <p:cNvSpPr/>
          <p:nvPr/>
        </p:nvSpPr>
        <p:spPr>
          <a:xfrm>
            <a:off x="457200" y="1687711"/>
            <a:ext cx="41451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단일 모델 비교 및 하이퍼파라미터 튜닝</a:t>
            </a:r>
            <a:endParaRPr lang="en-US" sz="1050" dirty="0"/>
          </a:p>
        </p:txBody>
      </p:sp>
      <p:sp>
        <p:nvSpPr>
          <p:cNvPr id="46" name="Text 3"/>
          <p:cNvSpPr/>
          <p:nvPr/>
        </p:nvSpPr>
        <p:spPr>
          <a:xfrm>
            <a:off x="457200" y="1954411"/>
            <a:ext cx="414516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하이퍼파라미터 범위 내에서 모델 평가, 예측 성능 검증 테스트</a:t>
            </a:r>
            <a:endParaRPr lang="en-US" sz="900" dirty="0"/>
          </a:p>
        </p:txBody>
      </p:sp>
      <p:sp>
        <p:nvSpPr>
          <p:cNvPr id="47" name="Text 4"/>
          <p:cNvSpPr/>
          <p:nvPr/>
        </p:nvSpPr>
        <p:spPr>
          <a:xfrm>
            <a:off x="533400" y="2297311"/>
            <a:ext cx="330190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본 프로젝트의 실험 중심 엔진</a:t>
            </a:r>
            <a:endParaRPr lang="en-US" sz="900" dirty="0"/>
          </a:p>
        </p:txBody>
      </p:sp>
      <p:sp>
        <p:nvSpPr>
          <p:cNvPr id="48" name="Text 5"/>
          <p:cNvSpPr/>
          <p:nvPr/>
        </p:nvSpPr>
        <p:spPr>
          <a:xfrm>
            <a:off x="4864001" y="1287661"/>
            <a:ext cx="106281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AutoGluon</a:t>
            </a:r>
            <a:endParaRPr lang="en-US" sz="1350" dirty="0"/>
          </a:p>
        </p:txBody>
      </p:sp>
      <p:sp>
        <p:nvSpPr>
          <p:cNvPr id="49" name="Text 6"/>
          <p:cNvSpPr/>
          <p:nvPr/>
        </p:nvSpPr>
        <p:spPr>
          <a:xfrm>
            <a:off x="4368701" y="1687711"/>
            <a:ext cx="34544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 자동화된 앙상블 및 스태킹</a:t>
            </a:r>
            <a:endParaRPr lang="en-US" sz="1050" dirty="0"/>
          </a:p>
        </p:txBody>
      </p:sp>
      <p:sp>
        <p:nvSpPr>
          <p:cNvPr id="50" name="Text 7"/>
          <p:cNvSpPr/>
          <p:nvPr/>
        </p:nvSpPr>
        <p:spPr>
          <a:xfrm>
            <a:off x="4368701" y="1954411"/>
            <a:ext cx="34544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모델에 대한 자동화된 앙상블 기법 적용과 자동 하이퍼파라미터 선택, 성능 상한 탐색용</a:t>
            </a:r>
            <a:endParaRPr lang="en-US" sz="900" dirty="0"/>
          </a:p>
        </p:txBody>
      </p:sp>
      <p:sp>
        <p:nvSpPr>
          <p:cNvPr id="51" name="Text 8"/>
          <p:cNvSpPr/>
          <p:nvPr/>
        </p:nvSpPr>
        <p:spPr>
          <a:xfrm>
            <a:off x="4444901" y="2449711"/>
            <a:ext cx="33020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성능 상한 탐색용 블랙박스</a:t>
            </a:r>
            <a:endParaRPr lang="en-US" sz="900" dirty="0"/>
          </a:p>
        </p:txBody>
      </p:sp>
      <p:sp>
        <p:nvSpPr>
          <p:cNvPr id="52" name="Text 9"/>
          <p:cNvSpPr/>
          <p:nvPr/>
        </p:nvSpPr>
        <p:spPr>
          <a:xfrm>
            <a:off x="8775650" y="1287661"/>
            <a:ext cx="11092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Scikit-learn</a:t>
            </a:r>
            <a:endParaRPr lang="en-US" sz="1350" dirty="0"/>
          </a:p>
        </p:txBody>
      </p:sp>
      <p:sp>
        <p:nvSpPr>
          <p:cNvPr id="53" name="Text 10"/>
          <p:cNvSpPr/>
          <p:nvPr/>
        </p:nvSpPr>
        <p:spPr>
          <a:xfrm>
            <a:off x="8280350" y="1687711"/>
            <a:ext cx="41451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커스텀 피처 엔지니어링과 Kaggle 상위 전략 재현</a:t>
            </a:r>
            <a:endParaRPr lang="en-US" sz="1050" dirty="0"/>
          </a:p>
        </p:txBody>
      </p:sp>
      <p:sp>
        <p:nvSpPr>
          <p:cNvPr id="54" name="Text 11"/>
          <p:cNvSpPr/>
          <p:nvPr/>
        </p:nvSpPr>
        <p:spPr>
          <a:xfrm>
            <a:off x="8280350" y="1954411"/>
            <a:ext cx="34543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커스텀 파이프라인 기반 모델 조합, 세밀한 피처 선택 및 트랜스포메이션, 웨이트드 앙상블 방식 구현</a:t>
            </a:r>
            <a:endParaRPr lang="en-US" sz="900" dirty="0"/>
          </a:p>
        </p:txBody>
      </p:sp>
      <p:sp>
        <p:nvSpPr>
          <p:cNvPr id="55" name="Text 12"/>
          <p:cNvSpPr/>
          <p:nvPr/>
        </p:nvSpPr>
        <p:spPr>
          <a:xfrm>
            <a:off x="8356550" y="2449711"/>
            <a:ext cx="330190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Kaggle 상위 전략 재현</a:t>
            </a:r>
            <a:endParaRPr lang="en-US" sz="900" dirty="0"/>
          </a:p>
        </p:txBody>
      </p:sp>
      <p:sp>
        <p:nvSpPr>
          <p:cNvPr id="56" name="Text 13"/>
          <p:cNvSpPr/>
          <p:nvPr/>
        </p:nvSpPr>
        <p:spPr>
          <a:xfrm>
            <a:off x="666750" y="3135511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 선택 전략</a:t>
            </a:r>
            <a:endParaRPr lang="en-US" sz="1350" dirty="0"/>
          </a:p>
        </p:txBody>
      </p:sp>
      <p:sp>
        <p:nvSpPr>
          <p:cNvPr id="57" name="Text 14"/>
          <p:cNvSpPr/>
          <p:nvPr/>
        </p:nvSpPr>
        <p:spPr>
          <a:xfrm>
            <a:off x="571500" y="3630811"/>
            <a:ext cx="3429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단계</a:t>
            </a:r>
            <a:endParaRPr lang="en-US" sz="1200" dirty="0"/>
          </a:p>
        </p:txBody>
      </p:sp>
      <p:sp>
        <p:nvSpPr>
          <p:cNvPr id="58" name="Text 15"/>
          <p:cNvSpPr/>
          <p:nvPr/>
        </p:nvSpPr>
        <p:spPr>
          <a:xfrm>
            <a:off x="571500" y="3897511"/>
            <a:ext cx="3429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PyCaret을 활용한 빠른 모델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후보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초기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</a:t>
            </a:r>
            <a:r>
              <a:rPr lang="ko-KR" alt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임베딩과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트리 기반 모델 조합을 동일 조건에서 평가</a:t>
            </a:r>
            <a:endParaRPr lang="en-US" sz="1050" dirty="0"/>
          </a:p>
        </p:txBody>
      </p:sp>
      <p:sp>
        <p:nvSpPr>
          <p:cNvPr id="59" name="Text 16"/>
          <p:cNvSpPr/>
          <p:nvPr/>
        </p:nvSpPr>
        <p:spPr>
          <a:xfrm>
            <a:off x="4381500" y="3630811"/>
            <a:ext cx="3429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최적화 단계</a:t>
            </a:r>
            <a:endParaRPr lang="en-US" sz="1200" dirty="0"/>
          </a:p>
        </p:txBody>
      </p:sp>
      <p:sp>
        <p:nvSpPr>
          <p:cNvPr id="60" name="Text 17"/>
          <p:cNvSpPr/>
          <p:nvPr/>
        </p:nvSpPr>
        <p:spPr>
          <a:xfrm>
            <a:off x="4381500" y="3897511"/>
            <a:ext cx="3429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PyCaret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기반 </a:t>
            </a:r>
            <a:r>
              <a:rPr lang="ko-KR" alt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하이퍼파라미터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 튜닝 및 교차 검증을 통한 성능 최적화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. RMSLE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중심으로 모델 안정성과 일반화 성능을 평가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en-US" sz="1050" dirty="0"/>
          </a:p>
        </p:txBody>
      </p:sp>
      <p:sp>
        <p:nvSpPr>
          <p:cNvPr id="61" name="Text 18"/>
          <p:cNvSpPr/>
          <p:nvPr/>
        </p:nvSpPr>
        <p:spPr>
          <a:xfrm>
            <a:off x="8191500" y="3630811"/>
            <a:ext cx="3429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구현</a:t>
            </a:r>
            <a:endParaRPr lang="en-US" sz="1200" dirty="0"/>
          </a:p>
        </p:txBody>
      </p:sp>
      <p:sp>
        <p:nvSpPr>
          <p:cNvPr id="62" name="Text 19"/>
          <p:cNvSpPr/>
          <p:nvPr/>
        </p:nvSpPr>
        <p:spPr>
          <a:xfrm>
            <a:off x="8191500" y="3897511"/>
            <a:ext cx="3429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PyCaret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환경에서 최종 모델 선정 및 </a:t>
            </a:r>
            <a:r>
              <a:rPr lang="ko-KR" alt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재학습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단순성과 재현성을 고려한 트리 기반 모델 중심 최종 파이프라인 구성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050" dirty="0"/>
          </a:p>
        </p:txBody>
      </p:sp>
      <p:sp>
        <p:nvSpPr>
          <p:cNvPr id="63" name="Text 20"/>
          <p:cNvSpPr/>
          <p:nvPr/>
        </p:nvSpPr>
        <p:spPr>
          <a:xfrm>
            <a:off x="704850" y="4602159"/>
            <a:ext cx="11125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실험과 최적화를 하나의 일관된 프레임워크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altLang="ko-KR" sz="12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PyCaret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내에서 수행하여 재현성과 성능을 동시에 확보하는 것이 본 프로젝트의 핵심 전략</a:t>
            </a:r>
            <a:endParaRPr lang="en-US" sz="1200" dirty="0"/>
          </a:p>
        </p:txBody>
      </p:sp>
      <p:sp>
        <p:nvSpPr>
          <p:cNvPr id="64" name="Text 21"/>
          <p:cNvSpPr/>
          <p:nvPr/>
        </p:nvSpPr>
        <p:spPr>
          <a:xfrm>
            <a:off x="457200" y="5345311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사용성 비교</a:t>
            </a:r>
            <a:endParaRPr lang="en-US" sz="1350" dirty="0"/>
          </a:p>
        </p:txBody>
      </p:sp>
      <p:sp>
        <p:nvSpPr>
          <p:cNvPr id="65" name="Text 22"/>
          <p:cNvSpPr/>
          <p:nvPr/>
        </p:nvSpPr>
        <p:spPr>
          <a:xfrm>
            <a:off x="457200" y="5726311"/>
            <a:ext cx="52673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쉬움</a:t>
            </a:r>
            <a:endParaRPr lang="en-US" sz="1200" dirty="0"/>
          </a:p>
        </p:txBody>
      </p:sp>
      <p:sp>
        <p:nvSpPr>
          <p:cNvPr id="66" name="Text 23"/>
          <p:cNvSpPr/>
          <p:nvPr/>
        </p:nvSpPr>
        <p:spPr>
          <a:xfrm>
            <a:off x="457200" y="6335911"/>
            <a:ext cx="52673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PyCaret → AutoGluon → Scikit-learn</a:t>
            </a:r>
            <a:endParaRPr lang="en-US" sz="900" dirty="0"/>
          </a:p>
        </p:txBody>
      </p:sp>
      <p:sp>
        <p:nvSpPr>
          <p:cNvPr id="67" name="Text 24"/>
          <p:cNvSpPr/>
          <p:nvPr/>
        </p:nvSpPr>
        <p:spPr>
          <a:xfrm>
            <a:off x="6467475" y="5726311"/>
            <a:ext cx="52673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효율성</a:t>
            </a:r>
            <a:endParaRPr lang="en-US" sz="1200" dirty="0"/>
          </a:p>
        </p:txBody>
      </p:sp>
      <p:sp>
        <p:nvSpPr>
          <p:cNvPr id="68" name="Text 25"/>
          <p:cNvSpPr/>
          <p:nvPr/>
        </p:nvSpPr>
        <p:spPr>
          <a:xfrm>
            <a:off x="6467475" y="6335911"/>
            <a:ext cx="52673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Scikit-learn → PyCaret → AutoGluon</a:t>
            </a:r>
            <a:endParaRPr lang="en-US" sz="900" dirty="0"/>
          </a:p>
        </p:txBody>
      </p:sp>
      <p:sp>
        <p:nvSpPr>
          <p:cNvPr id="69" name="Text 26"/>
          <p:cNvSpPr/>
          <p:nvPr/>
        </p:nvSpPr>
        <p:spPr>
          <a:xfrm>
            <a:off x="11279088" y="6515100"/>
            <a:ext cx="7297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7/10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7810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71550"/>
            <a:ext cx="5791200" cy="2247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" y="1133475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" y="1428750"/>
            <a:ext cx="55626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" y="1962150"/>
            <a:ext cx="5562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" y="2343150"/>
            <a:ext cx="55626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71550"/>
            <a:ext cx="5791200" cy="2247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0" y="1133475"/>
            <a:ext cx="219075" cy="171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499" y="1428750"/>
            <a:ext cx="5486251" cy="647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4415" y="2295525"/>
            <a:ext cx="5488335" cy="647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8600" y="3333750"/>
            <a:ext cx="11734800" cy="1257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2900" y="3495675"/>
            <a:ext cx="171450" cy="1714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2900" y="3790950"/>
            <a:ext cx="2790825" cy="685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48025" y="3790950"/>
            <a:ext cx="2790825" cy="685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53150" y="3790950"/>
            <a:ext cx="2790825" cy="685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58275" y="3790950"/>
            <a:ext cx="2790825" cy="685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8600" y="4705350"/>
            <a:ext cx="11734800" cy="1104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89850" y="5162550"/>
            <a:ext cx="3759101" cy="533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05474" y="7067550"/>
            <a:ext cx="730746" cy="1905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617220" y="7067550"/>
            <a:ext cx="667196" cy="1905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43849" y="7067550"/>
            <a:ext cx="864096" cy="1905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228600" y="228600"/>
            <a:ext cx="117348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</a:t>
            </a: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</a:t>
            </a:r>
            <a:endParaRPr lang="en-US" sz="2100" dirty="0"/>
          </a:p>
        </p:txBody>
      </p:sp>
      <p:sp>
        <p:nvSpPr>
          <p:cNvPr id="35" name="Text 1"/>
          <p:cNvSpPr/>
          <p:nvPr/>
        </p:nvSpPr>
        <p:spPr>
          <a:xfrm>
            <a:off x="590550" y="1085850"/>
            <a:ext cx="5562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err="1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AutoGluon</a:t>
            </a:r>
            <a:r>
              <a:rPr lang="en-US" sz="13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3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 검토</a:t>
            </a:r>
            <a:r>
              <a:rPr lang="en-US" sz="13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결과</a:t>
            </a:r>
            <a:endParaRPr lang="en-US" sz="1350" dirty="0"/>
          </a:p>
        </p:txBody>
      </p:sp>
      <p:sp>
        <p:nvSpPr>
          <p:cNvPr id="36" name="Text 2"/>
          <p:cNvSpPr/>
          <p:nvPr/>
        </p:nvSpPr>
        <p:spPr>
          <a:xfrm>
            <a:off x="457200" y="1504950"/>
            <a:ext cx="53721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medium_quality: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빠른 학습, </a:t>
            </a:r>
            <a:r>
              <a:rPr lang="en-US" sz="9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</a:t>
            </a:r>
            <a:endParaRPr lang="en-US" sz="900" dirty="0"/>
          </a:p>
        </p:txBody>
      </p:sp>
      <p:sp>
        <p:nvSpPr>
          <p:cNvPr id="37" name="Text 3"/>
          <p:cNvSpPr/>
          <p:nvPr/>
        </p:nvSpPr>
        <p:spPr>
          <a:xfrm>
            <a:off x="457200" y="2038350"/>
            <a:ext cx="64465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00" b="1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best_quality</a:t>
            </a: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</a:t>
            </a:r>
            <a:r>
              <a:rPr lang="ko-KR" alt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시간 증가 대비 성능 개선 효과 제한적</a:t>
            </a:r>
            <a:endParaRPr lang="en-US" altLang="ko-KR" sz="9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171450" indent="-171450">
              <a:lnSpc>
                <a:spcPts val="1200"/>
              </a:lnSpc>
              <a:buFont typeface="Wingdings" panose="05000000000000000000" pitchFamily="2" charset="2"/>
              <a:buChar char="è"/>
            </a:pPr>
            <a:r>
              <a:rPr lang="ko-KR" alt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효율성 관점에서 최종 모델로 </a:t>
            </a:r>
            <a:r>
              <a:rPr lang="ko-KR" altLang="en-US" sz="9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미채택</a:t>
            </a:r>
            <a:endParaRPr lang="en-US" sz="900" dirty="0"/>
          </a:p>
        </p:txBody>
      </p:sp>
      <p:sp>
        <p:nvSpPr>
          <p:cNvPr id="38" name="Text 4"/>
          <p:cNvSpPr/>
          <p:nvPr/>
        </p:nvSpPr>
        <p:spPr>
          <a:xfrm>
            <a:off x="457200" y="2419350"/>
            <a:ext cx="53721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stacking 개선: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L2, L3 스태킹으로도 성능 개선 제한적
</a:t>
            </a:r>
            <a:r>
              <a:rPr lang="en-US" sz="900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다양한 앙상블 기법에도 극복 불가한 한계 존재</a:t>
            </a:r>
            <a:endParaRPr lang="en-US" sz="900" dirty="0"/>
          </a:p>
        </p:txBody>
      </p:sp>
      <p:sp>
        <p:nvSpPr>
          <p:cNvPr id="39" name="Text 5"/>
          <p:cNvSpPr/>
          <p:nvPr/>
        </p:nvSpPr>
        <p:spPr>
          <a:xfrm>
            <a:off x="6581775" y="1085850"/>
            <a:ext cx="5562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Scikit-learn </a:t>
            </a:r>
            <a:r>
              <a:rPr lang="ko-KR" altLang="en-US" sz="13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전략 검토</a:t>
            </a:r>
            <a:endParaRPr lang="en-US" sz="1350" dirty="0"/>
          </a:p>
        </p:txBody>
      </p:sp>
      <p:sp>
        <p:nvSpPr>
          <p:cNvPr id="40" name="Text 6"/>
          <p:cNvSpPr/>
          <p:nvPr/>
        </p:nvSpPr>
        <p:spPr>
          <a:xfrm>
            <a:off x="6400800" y="1504950"/>
            <a:ext cx="3063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2-Model Ensemble</a:t>
            </a:r>
            <a:endParaRPr lang="en-US" sz="1050" dirty="0"/>
          </a:p>
        </p:txBody>
      </p:sp>
      <p:sp>
        <p:nvSpPr>
          <p:cNvPr id="41" name="Text 7"/>
          <p:cNvSpPr/>
          <p:nvPr/>
        </p:nvSpPr>
        <p:spPr>
          <a:xfrm>
            <a:off x="6400800" y="1695450"/>
            <a:ext cx="2552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Ridge + </a:t>
            </a:r>
            <a:r>
              <a:rPr lang="en-US" sz="9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조합</a:t>
            </a:r>
            <a:r>
              <a:rPr lang="ko-KR" alt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통한 단순 앙상블 실험</a:t>
            </a:r>
            <a:endParaRPr lang="en-US" altLang="ko-KR" sz="9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-&gt; </a:t>
            </a:r>
            <a:r>
              <a:rPr lang="ko-KR" alt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구조 단순성 대비 안전 성능 확인</a:t>
            </a:r>
            <a:endParaRPr lang="en-US" sz="900" dirty="0"/>
          </a:p>
        </p:txBody>
      </p:sp>
      <p:sp>
        <p:nvSpPr>
          <p:cNvPr id="42" name="Text 8"/>
          <p:cNvSpPr/>
          <p:nvPr/>
        </p:nvSpPr>
        <p:spPr>
          <a:xfrm>
            <a:off x="6398716" y="2371725"/>
            <a:ext cx="25527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4-Model 확장</a:t>
            </a:r>
            <a:endParaRPr lang="en-US" sz="1050" dirty="0"/>
          </a:p>
        </p:txBody>
      </p:sp>
      <p:sp>
        <p:nvSpPr>
          <p:cNvPr id="43" name="Text 9"/>
          <p:cNvSpPr/>
          <p:nvPr/>
        </p:nvSpPr>
        <p:spPr>
          <a:xfrm>
            <a:off x="6398716" y="2562225"/>
            <a:ext cx="2552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앙상블 구조
</a:t>
            </a:r>
            <a:r>
              <a:rPr lang="en-US" sz="900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실제 성능 저하 발생, 과적합 우려</a:t>
            </a:r>
            <a:endParaRPr lang="en-US" sz="900" dirty="0"/>
          </a:p>
        </p:txBody>
      </p:sp>
      <p:sp>
        <p:nvSpPr>
          <p:cNvPr id="45" name="Text 11"/>
          <p:cNvSpPr/>
          <p:nvPr/>
        </p:nvSpPr>
        <p:spPr>
          <a:xfrm>
            <a:off x="590550" y="3448050"/>
            <a:ext cx="11506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최적화 과정</a:t>
            </a:r>
            <a:endParaRPr lang="en-US" sz="1350" dirty="0"/>
          </a:p>
        </p:txBody>
      </p:sp>
      <p:sp>
        <p:nvSpPr>
          <p:cNvPr id="46" name="Text 12"/>
          <p:cNvSpPr/>
          <p:nvPr/>
        </p:nvSpPr>
        <p:spPr>
          <a:xfrm>
            <a:off x="419100" y="3867150"/>
            <a:ext cx="26384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Optuna/Hyperopt</a:t>
            </a:r>
            <a:endParaRPr lang="en-US" sz="1050" dirty="0"/>
          </a:p>
        </p:txBody>
      </p:sp>
      <p:sp>
        <p:nvSpPr>
          <p:cNvPr id="47" name="Text 13"/>
          <p:cNvSpPr/>
          <p:nvPr/>
        </p:nvSpPr>
        <p:spPr>
          <a:xfrm>
            <a:off x="419100" y="4095750"/>
            <a:ext cx="26384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모델별 최적 하이퍼파라미터 탐색 및 Fine-tuning 수행</a:t>
            </a:r>
            <a:endParaRPr lang="en-US" sz="900" dirty="0"/>
          </a:p>
        </p:txBody>
      </p:sp>
      <p:sp>
        <p:nvSpPr>
          <p:cNvPr id="48" name="Text 14"/>
          <p:cNvSpPr/>
          <p:nvPr/>
        </p:nvSpPr>
        <p:spPr>
          <a:xfrm>
            <a:off x="3324225" y="3867150"/>
            <a:ext cx="26384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가속 기술</a:t>
            </a:r>
            <a:endParaRPr lang="en-US" sz="1050" dirty="0"/>
          </a:p>
        </p:txBody>
      </p:sp>
      <p:sp>
        <p:nvSpPr>
          <p:cNvPr id="49" name="Text 15"/>
          <p:cNvSpPr/>
          <p:nvPr/>
        </p:nvSpPr>
        <p:spPr>
          <a:xfrm>
            <a:off x="3324225" y="4095750"/>
            <a:ext cx="26384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연산을 통한 학습 시간 30-40% 감소, 메모리 효율 향상</a:t>
            </a:r>
            <a:endParaRPr lang="en-US" sz="900" dirty="0"/>
          </a:p>
        </p:txBody>
      </p:sp>
      <p:sp>
        <p:nvSpPr>
          <p:cNvPr id="50" name="Text 16"/>
          <p:cNvSpPr/>
          <p:nvPr/>
        </p:nvSpPr>
        <p:spPr>
          <a:xfrm>
            <a:off x="6229350" y="3867150"/>
            <a:ext cx="26384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캐싱 기반 반복 활용</a:t>
            </a:r>
            <a:endParaRPr lang="en-US" sz="1050" dirty="0"/>
          </a:p>
        </p:txBody>
      </p:sp>
      <p:sp>
        <p:nvSpPr>
          <p:cNvPr id="51" name="Text 17"/>
          <p:cNvSpPr/>
          <p:nvPr/>
        </p:nvSpPr>
        <p:spPr>
          <a:xfrm>
            <a:off x="6229350" y="4095750"/>
            <a:ext cx="26384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결과 및 벡터화 작업 중복 방지로 실험 효율성 증가</a:t>
            </a:r>
            <a:endParaRPr lang="en-US" sz="900" dirty="0"/>
          </a:p>
        </p:txBody>
      </p:sp>
      <p:sp>
        <p:nvSpPr>
          <p:cNvPr id="52" name="Text 18"/>
          <p:cNvSpPr/>
          <p:nvPr/>
        </p:nvSpPr>
        <p:spPr>
          <a:xfrm>
            <a:off x="9134475" y="3867150"/>
            <a:ext cx="31661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Memory Management</a:t>
            </a:r>
            <a:endParaRPr lang="en-US" sz="1050" dirty="0"/>
          </a:p>
        </p:txBody>
      </p:sp>
      <p:sp>
        <p:nvSpPr>
          <p:cNvPr id="53" name="Text 19"/>
          <p:cNvSpPr/>
          <p:nvPr/>
        </p:nvSpPr>
        <p:spPr>
          <a:xfrm>
            <a:off x="9134475" y="4095750"/>
            <a:ext cx="31661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주기적 Garbage Collection으로 메모리 관리 최적화</a:t>
            </a:r>
            <a:endParaRPr lang="en-US" sz="900" dirty="0"/>
          </a:p>
        </p:txBody>
      </p:sp>
      <p:sp>
        <p:nvSpPr>
          <p:cNvPr id="54" name="Text 20"/>
          <p:cNvSpPr/>
          <p:nvPr/>
        </p:nvSpPr>
        <p:spPr>
          <a:xfrm>
            <a:off x="342900" y="4819650"/>
            <a:ext cx="11506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결론</a:t>
            </a:r>
            <a:endParaRPr lang="en-US" sz="1350" dirty="0"/>
          </a:p>
        </p:txBody>
      </p:sp>
      <p:sp>
        <p:nvSpPr>
          <p:cNvPr id="55" name="Text 21"/>
          <p:cNvSpPr/>
          <p:nvPr/>
        </p:nvSpPr>
        <p:spPr>
          <a:xfrm>
            <a:off x="342900" y="5162550"/>
            <a:ext cx="76326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수 증가의 한계: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본 프로젝트에서는 모델 수 증가가 오히려 성능에 부정적인 영향을 미침</a:t>
            </a:r>
            <a:endParaRPr lang="en-US" sz="900" dirty="0"/>
          </a:p>
        </p:txBody>
      </p:sp>
      <p:sp>
        <p:nvSpPr>
          <p:cNvPr id="56" name="Text 22"/>
          <p:cNvSpPr/>
          <p:nvPr/>
        </p:nvSpPr>
        <p:spPr>
          <a:xfrm>
            <a:off x="342900" y="5314950"/>
            <a:ext cx="76326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성공 요소: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피처 엔지니어링 품질과 단순하지만 강력한 앙상블 전략의 조합이 중요함</a:t>
            </a:r>
            <a:endParaRPr lang="en-US" sz="900" dirty="0"/>
          </a:p>
        </p:txBody>
      </p:sp>
      <p:sp>
        <p:nvSpPr>
          <p:cNvPr id="57" name="Text 23"/>
          <p:cNvSpPr/>
          <p:nvPr/>
        </p:nvSpPr>
        <p:spPr>
          <a:xfrm>
            <a:off x="342900" y="5467350"/>
            <a:ext cx="91591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가중치 결정의 중요성: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</a:t>
            </a:r>
            <a:r>
              <a:rPr lang="en-US" altLang="ko-KR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2-Model </a:t>
            </a:r>
            <a:r>
              <a:rPr lang="ko-KR" alt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구조에서 모델 간 기여도를 조정하는 것이 성능 안정성에 중요함을 확인</a:t>
            </a:r>
            <a:endParaRPr lang="en-US" sz="900" dirty="0"/>
          </a:p>
        </p:txBody>
      </p:sp>
      <p:sp>
        <p:nvSpPr>
          <p:cNvPr id="58" name="Text 24"/>
          <p:cNvSpPr/>
          <p:nvPr/>
        </p:nvSpPr>
        <p:spPr>
          <a:xfrm>
            <a:off x="8166050" y="5238750"/>
            <a:ext cx="36067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＂</a:t>
            </a:r>
            <a:r>
              <a:rPr lang="ko-KR" altLang="en-US" sz="10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수 확장보다는 피처 엔지니어링 품질과 단순한 앙상블 구조가 성능 안정성 측면에서 더 유리함을 확인</a:t>
            </a:r>
            <a:r>
              <a:rPr lang="en-US" altLang="ko-KR" sz="10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”</a:t>
            </a:r>
            <a:endParaRPr lang="en-US" sz="1050" dirty="0"/>
          </a:p>
        </p:txBody>
      </p:sp>
      <p:sp>
        <p:nvSpPr>
          <p:cNvPr id="66" name="Text 32"/>
          <p:cNvSpPr/>
          <p:nvPr/>
        </p:nvSpPr>
        <p:spPr>
          <a:xfrm>
            <a:off x="11279088" y="6515100"/>
            <a:ext cx="7297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8/10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7810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33450"/>
            <a:ext cx="3810000" cy="2667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" y="1095375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" y="1657350"/>
            <a:ext cx="1752600" cy="723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1700" y="1657350"/>
            <a:ext cx="1752600" cy="723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" y="2457450"/>
            <a:ext cx="175260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71700" y="2457450"/>
            <a:ext cx="175260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2900" y="2800350"/>
            <a:ext cx="3581400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0" y="933450"/>
            <a:ext cx="3810000" cy="2667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05300" y="1095375"/>
            <a:ext cx="190500" cy="171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21133" y="2068946"/>
            <a:ext cx="3581400" cy="647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05300" y="1322244"/>
            <a:ext cx="3581400" cy="647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05300" y="2838450"/>
            <a:ext cx="3581400" cy="647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400" y="933450"/>
            <a:ext cx="3810000" cy="2667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67700" y="1095375"/>
            <a:ext cx="171450" cy="171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67700" y="1390650"/>
            <a:ext cx="3581400" cy="647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67700" y="2114550"/>
            <a:ext cx="3581400" cy="914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8600" y="3714750"/>
            <a:ext cx="11734800" cy="1524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2900" y="3876675"/>
            <a:ext cx="133350" cy="1714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2900" y="4171950"/>
            <a:ext cx="5676900" cy="533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172200" y="4171950"/>
            <a:ext cx="5676900" cy="533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2900" y="4781550"/>
            <a:ext cx="5676900" cy="42776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72200" y="4781550"/>
            <a:ext cx="5676900" cy="4191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40030" y="5214505"/>
            <a:ext cx="11734800" cy="18669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2900" y="5772150"/>
            <a:ext cx="11506200" cy="13335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884587" y="5915025"/>
            <a:ext cx="133350" cy="1333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456182" y="6052705"/>
            <a:ext cx="457200" cy="4572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27632" y="6205105"/>
            <a:ext cx="1143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335607" y="6052705"/>
            <a:ext cx="457200" cy="4572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497532" y="6205105"/>
            <a:ext cx="13335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215182" y="6052705"/>
            <a:ext cx="457200" cy="4572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367582" y="6205105"/>
            <a:ext cx="15240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212330" y="6052705"/>
            <a:ext cx="457200" cy="4572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64730" y="6205105"/>
            <a:ext cx="152400" cy="152400"/>
          </a:xfrm>
          <a:prstGeom prst="rect">
            <a:avLst/>
          </a:prstGeom>
        </p:spPr>
      </p:pic>
      <p:sp>
        <p:nvSpPr>
          <p:cNvPr id="38" name="Text 0"/>
          <p:cNvSpPr/>
          <p:nvPr/>
        </p:nvSpPr>
        <p:spPr>
          <a:xfrm>
            <a:off x="228600" y="228600"/>
            <a:ext cx="117348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평가 결과 &amp; 핵심 인사이트</a:t>
            </a:r>
            <a:endParaRPr lang="en-US" sz="2100" dirty="0"/>
          </a:p>
        </p:txBody>
      </p:sp>
      <p:sp>
        <p:nvSpPr>
          <p:cNvPr id="39" name="Text 1"/>
          <p:cNvSpPr/>
          <p:nvPr/>
        </p:nvSpPr>
        <p:spPr>
          <a:xfrm>
            <a:off x="590550" y="1047750"/>
            <a:ext cx="3581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지표</a:t>
            </a:r>
            <a:endParaRPr lang="en-US" sz="1350" dirty="0"/>
          </a:p>
        </p:txBody>
      </p:sp>
      <p:sp>
        <p:nvSpPr>
          <p:cNvPr id="40" name="Text 2"/>
          <p:cNvSpPr/>
          <p:nvPr/>
        </p:nvSpPr>
        <p:spPr>
          <a:xfrm>
            <a:off x="342900" y="1390650"/>
            <a:ext cx="42976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평가 지표: </a:t>
            </a:r>
            <a:r>
              <a:rPr lang="en-US" sz="1050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중심으로 학습</a:t>
            </a:r>
            <a:endParaRPr lang="en-US" sz="1050" dirty="0"/>
          </a:p>
        </p:txBody>
      </p:sp>
      <p:sp>
        <p:nvSpPr>
          <p:cNvPr id="41" name="Text 3"/>
          <p:cNvSpPr/>
          <p:nvPr/>
        </p:nvSpPr>
        <p:spPr>
          <a:xfrm>
            <a:off x="419100" y="1733550"/>
            <a:ext cx="1600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</a:t>
            </a:r>
            <a:endParaRPr lang="en-US" sz="900" dirty="0"/>
          </a:p>
        </p:txBody>
      </p:sp>
      <p:sp>
        <p:nvSpPr>
          <p:cNvPr id="42" name="Text 4"/>
          <p:cNvSpPr/>
          <p:nvPr/>
        </p:nvSpPr>
        <p:spPr>
          <a:xfrm>
            <a:off x="419100" y="1885950"/>
            <a:ext cx="1920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53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0.0123</a:t>
            </a:r>
            <a:endParaRPr lang="en-US" sz="1500" dirty="0"/>
          </a:p>
        </p:txBody>
      </p:sp>
      <p:sp>
        <p:nvSpPr>
          <p:cNvPr id="43" name="Text 5"/>
          <p:cNvSpPr/>
          <p:nvPr/>
        </p:nvSpPr>
        <p:spPr>
          <a:xfrm>
            <a:off x="419100" y="2152650"/>
            <a:ext cx="1600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상위권 성능</a:t>
            </a:r>
            <a:endParaRPr lang="en-US" sz="900" dirty="0"/>
          </a:p>
        </p:txBody>
      </p:sp>
      <p:sp>
        <p:nvSpPr>
          <p:cNvPr id="44" name="Text 6"/>
          <p:cNvSpPr/>
          <p:nvPr/>
        </p:nvSpPr>
        <p:spPr>
          <a:xfrm>
            <a:off x="2247900" y="1733550"/>
            <a:ext cx="1600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RMSE</a:t>
            </a:r>
            <a:endParaRPr lang="en-US" sz="900" dirty="0"/>
          </a:p>
        </p:txBody>
      </p:sp>
      <p:sp>
        <p:nvSpPr>
          <p:cNvPr id="45" name="Text 7"/>
          <p:cNvSpPr/>
          <p:nvPr/>
        </p:nvSpPr>
        <p:spPr>
          <a:xfrm>
            <a:off x="2247900" y="1885950"/>
            <a:ext cx="1920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</a:rPr>
              <a:t>3.40</a:t>
            </a:r>
            <a:endParaRPr lang="en-US" sz="1500" dirty="0"/>
          </a:p>
        </p:txBody>
      </p:sp>
      <p:sp>
        <p:nvSpPr>
          <p:cNvPr id="46" name="Text 8"/>
          <p:cNvSpPr/>
          <p:nvPr/>
        </p:nvSpPr>
        <p:spPr>
          <a:xfrm>
            <a:off x="2247900" y="2098254"/>
            <a:ext cx="1600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 err="1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</a:t>
            </a:r>
            <a:r>
              <a:rPr lang="en-US" sz="9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900" dirty="0" err="1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원스케일</a:t>
            </a:r>
            <a:r>
              <a:rPr lang="ko-KR" altLang="en-US" sz="9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 평균 제곱 오차</a:t>
            </a:r>
            <a:endParaRPr lang="en-US" sz="900" dirty="0"/>
          </a:p>
        </p:txBody>
      </p:sp>
      <p:sp>
        <p:nvSpPr>
          <p:cNvPr id="47" name="Text 9"/>
          <p:cNvSpPr/>
          <p:nvPr/>
        </p:nvSpPr>
        <p:spPr>
          <a:xfrm>
            <a:off x="381000" y="2495550"/>
            <a:ext cx="20116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MAE: </a:t>
            </a:r>
            <a:r>
              <a:rPr lang="en-US" sz="9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0.17</a:t>
            </a:r>
            <a:endParaRPr lang="en-US" sz="900" dirty="0"/>
          </a:p>
        </p:txBody>
      </p:sp>
      <p:sp>
        <p:nvSpPr>
          <p:cNvPr id="48" name="Text 10"/>
          <p:cNvSpPr/>
          <p:nvPr/>
        </p:nvSpPr>
        <p:spPr>
          <a:xfrm>
            <a:off x="2209800" y="2495550"/>
            <a:ext cx="20116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7E22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R²: </a:t>
            </a:r>
            <a:r>
              <a:rPr lang="en-US" sz="900" b="1" dirty="0">
                <a:solidFill>
                  <a:srgbClr val="581C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0.9923</a:t>
            </a:r>
            <a:endParaRPr lang="en-US" sz="900" dirty="0"/>
          </a:p>
        </p:txBody>
      </p:sp>
      <p:sp>
        <p:nvSpPr>
          <p:cNvPr id="49" name="Text 11"/>
          <p:cNvSpPr/>
          <p:nvPr/>
        </p:nvSpPr>
        <p:spPr>
          <a:xfrm>
            <a:off x="419100" y="2876550"/>
            <a:ext cx="4114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 지표: </a:t>
            </a:r>
            <a:r>
              <a:rPr lang="en-US" sz="105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5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RMSE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MAE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50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R²</a:t>
            </a:r>
            <a:endParaRPr lang="en-US" sz="1050" dirty="0"/>
          </a:p>
        </p:txBody>
      </p:sp>
      <p:sp>
        <p:nvSpPr>
          <p:cNvPr id="50" name="Text 12"/>
          <p:cNvSpPr/>
          <p:nvPr/>
        </p:nvSpPr>
        <p:spPr>
          <a:xfrm>
            <a:off x="419100" y="3105150"/>
            <a:ext cx="4114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기본적인 재현율 및 성능 추정이 필요할 수 있음</a:t>
            </a:r>
            <a:endParaRPr lang="en-US" sz="900" dirty="0"/>
          </a:p>
        </p:txBody>
      </p:sp>
      <p:sp>
        <p:nvSpPr>
          <p:cNvPr id="51" name="Text 13"/>
          <p:cNvSpPr/>
          <p:nvPr/>
        </p:nvSpPr>
        <p:spPr>
          <a:xfrm>
            <a:off x="4572000" y="1047750"/>
            <a:ext cx="3581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최고 성능 임베딩 비교</a:t>
            </a:r>
            <a:endParaRPr lang="en-US" sz="1350" dirty="0"/>
          </a:p>
        </p:txBody>
      </p:sp>
      <p:sp>
        <p:nvSpPr>
          <p:cNvPr id="52" name="Text 14"/>
          <p:cNvSpPr/>
          <p:nvPr/>
        </p:nvSpPr>
        <p:spPr>
          <a:xfrm>
            <a:off x="4435433" y="2145146"/>
            <a:ext cx="3390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TF-IDF + 트리기반 모델</a:t>
            </a:r>
            <a:endParaRPr lang="en-US" sz="1050" dirty="0"/>
          </a:p>
        </p:txBody>
      </p:sp>
      <p:sp>
        <p:nvSpPr>
          <p:cNvPr id="53" name="Text 15"/>
          <p:cNvSpPr/>
          <p:nvPr/>
        </p:nvSpPr>
        <p:spPr>
          <a:xfrm>
            <a:off x="4435433" y="2335646"/>
            <a:ext cx="40690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RMSLE: </a:t>
            </a:r>
            <a:r>
              <a:rPr lang="en-US" sz="9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0.0124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| R²: </a:t>
            </a:r>
            <a:r>
              <a:rPr lang="en-US" sz="9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0.9923</a:t>
            </a:r>
            <a:endParaRPr lang="en-US" sz="900" dirty="0"/>
          </a:p>
        </p:txBody>
      </p:sp>
      <p:sp>
        <p:nvSpPr>
          <p:cNvPr id="54" name="Text 16"/>
          <p:cNvSpPr/>
          <p:nvPr/>
        </p:nvSpPr>
        <p:spPr>
          <a:xfrm>
            <a:off x="4435433" y="2488046"/>
            <a:ext cx="40690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데이터 특성 최적화 TF-IDF</a:t>
            </a:r>
            <a:endParaRPr lang="en-US" sz="900" dirty="0"/>
          </a:p>
        </p:txBody>
      </p:sp>
      <p:sp>
        <p:nvSpPr>
          <p:cNvPr id="55" name="Text 17"/>
          <p:cNvSpPr/>
          <p:nvPr/>
        </p:nvSpPr>
        <p:spPr>
          <a:xfrm>
            <a:off x="4419600" y="1398444"/>
            <a:ext cx="3390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GloVe + 트리기반 모델</a:t>
            </a:r>
            <a:endParaRPr lang="en-US" sz="1050" dirty="0"/>
          </a:p>
        </p:txBody>
      </p:sp>
      <p:sp>
        <p:nvSpPr>
          <p:cNvPr id="56" name="Text 18"/>
          <p:cNvSpPr/>
          <p:nvPr/>
        </p:nvSpPr>
        <p:spPr>
          <a:xfrm>
            <a:off x="4419600" y="1588944"/>
            <a:ext cx="40690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RMSLE: </a:t>
            </a: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0.0123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| R²: </a:t>
            </a: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0.9923</a:t>
            </a:r>
            <a:endParaRPr lang="en-US" sz="900" dirty="0"/>
          </a:p>
        </p:txBody>
      </p:sp>
      <p:sp>
        <p:nvSpPr>
          <p:cNvPr id="57" name="Text 19"/>
          <p:cNvSpPr/>
          <p:nvPr/>
        </p:nvSpPr>
        <p:spPr>
          <a:xfrm>
            <a:off x="4419600" y="1741344"/>
            <a:ext cx="33909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다차원 TSNE 최적화된 벡터 표현</a:t>
            </a:r>
            <a:endParaRPr lang="en-US" sz="900" dirty="0"/>
          </a:p>
        </p:txBody>
      </p:sp>
      <p:sp>
        <p:nvSpPr>
          <p:cNvPr id="58" name="Text 20"/>
          <p:cNvSpPr/>
          <p:nvPr/>
        </p:nvSpPr>
        <p:spPr>
          <a:xfrm>
            <a:off x="4419600" y="2914650"/>
            <a:ext cx="3390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FastText + 트리기반 모델</a:t>
            </a:r>
            <a:endParaRPr lang="en-US" sz="1050" dirty="0"/>
          </a:p>
        </p:txBody>
      </p:sp>
      <p:sp>
        <p:nvSpPr>
          <p:cNvPr id="59" name="Text 21"/>
          <p:cNvSpPr/>
          <p:nvPr/>
        </p:nvSpPr>
        <p:spPr>
          <a:xfrm>
            <a:off x="4419600" y="3105150"/>
            <a:ext cx="40690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RMSLE: </a:t>
            </a:r>
            <a:r>
              <a:rPr lang="en-US" sz="9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0.0128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| R²: </a:t>
            </a:r>
            <a:r>
              <a:rPr lang="en-US" sz="9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0.9921</a:t>
            </a:r>
            <a:endParaRPr lang="en-US" sz="900" dirty="0"/>
          </a:p>
        </p:txBody>
      </p:sp>
      <p:sp>
        <p:nvSpPr>
          <p:cNvPr id="60" name="Text 22"/>
          <p:cNvSpPr/>
          <p:nvPr/>
        </p:nvSpPr>
        <p:spPr>
          <a:xfrm>
            <a:off x="4419600" y="3257550"/>
            <a:ext cx="33909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어절 기반 임베딩 효과</a:t>
            </a:r>
            <a:endParaRPr lang="en-US" sz="900" dirty="0"/>
          </a:p>
        </p:txBody>
      </p:sp>
      <p:sp>
        <p:nvSpPr>
          <p:cNvPr id="61" name="Text 23"/>
          <p:cNvSpPr/>
          <p:nvPr/>
        </p:nvSpPr>
        <p:spPr>
          <a:xfrm>
            <a:off x="8515350" y="1047750"/>
            <a:ext cx="3581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BERT 임베딩 분석</a:t>
            </a:r>
            <a:endParaRPr lang="en-US" sz="1350" dirty="0"/>
          </a:p>
        </p:txBody>
      </p:sp>
      <p:sp>
        <p:nvSpPr>
          <p:cNvPr id="62" name="Text 24"/>
          <p:cNvSpPr/>
          <p:nvPr/>
        </p:nvSpPr>
        <p:spPr>
          <a:xfrm>
            <a:off x="8343900" y="1466850"/>
            <a:ext cx="3429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BERT </a:t>
            </a:r>
            <a:r>
              <a:rPr lang="ko-KR" alt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결과</a:t>
            </a:r>
            <a:endParaRPr lang="en-US" sz="1050" dirty="0"/>
          </a:p>
        </p:txBody>
      </p:sp>
      <p:sp>
        <p:nvSpPr>
          <p:cNvPr id="63" name="Text 25"/>
          <p:cNvSpPr/>
          <p:nvPr/>
        </p:nvSpPr>
        <p:spPr>
          <a:xfrm>
            <a:off x="8343900" y="1657350"/>
            <a:ext cx="4114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: </a:t>
            </a:r>
            <a:r>
              <a:rPr lang="en-US" altLang="ko-KR" sz="900" b="1" dirty="0">
                <a:solidFill>
                  <a:srgbClr val="A162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0.0139 ~ 0.0273</a:t>
            </a:r>
            <a:endParaRPr lang="en-US" sz="900" dirty="0"/>
          </a:p>
        </p:txBody>
      </p:sp>
      <p:sp>
        <p:nvSpPr>
          <p:cNvPr id="64" name="Text 26"/>
          <p:cNvSpPr/>
          <p:nvPr/>
        </p:nvSpPr>
        <p:spPr>
          <a:xfrm>
            <a:off x="8343900" y="1809750"/>
            <a:ext cx="3429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RMSE </a:t>
            </a:r>
            <a:r>
              <a:rPr lang="ko-KR" alt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및 </a:t>
            </a:r>
            <a:r>
              <a:rPr lang="en-US" altLang="ko-KR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MAE</a:t>
            </a:r>
            <a:r>
              <a:rPr lang="ko-KR" alt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에서도 경량 </a:t>
            </a:r>
            <a:r>
              <a:rPr lang="ko-KR" altLang="en-US" sz="9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임베딩</a:t>
            </a:r>
            <a:r>
              <a:rPr lang="ko-KR" alt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대비 열세</a:t>
            </a:r>
            <a:endParaRPr lang="en-US" altLang="ko-KR" sz="9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65" name="Text 27"/>
          <p:cNvSpPr/>
          <p:nvPr/>
        </p:nvSpPr>
        <p:spPr>
          <a:xfrm>
            <a:off x="8343900" y="2190750"/>
            <a:ext cx="3429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BERT 한계점</a:t>
            </a:r>
            <a:endParaRPr lang="en-US" sz="1050" dirty="0"/>
          </a:p>
        </p:txBody>
      </p:sp>
      <p:sp>
        <p:nvSpPr>
          <p:cNvPr id="66" name="Text 28"/>
          <p:cNvSpPr/>
          <p:nvPr/>
        </p:nvSpPr>
        <p:spPr>
          <a:xfrm>
            <a:off x="8315325" y="2419350"/>
            <a:ext cx="36195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영문 텍스트 중심 학습 및 대상 언어 제한</a:t>
            </a:r>
            <a:endParaRPr lang="en-US" sz="900" dirty="0"/>
          </a:p>
        </p:txBody>
      </p:sp>
      <p:sp>
        <p:nvSpPr>
          <p:cNvPr id="67" name="Text 29"/>
          <p:cNvSpPr/>
          <p:nvPr/>
        </p:nvSpPr>
        <p:spPr>
          <a:xfrm>
            <a:off x="8315325" y="2609850"/>
            <a:ext cx="36195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공백 불규칙한 문장 처리 어려움</a:t>
            </a:r>
            <a:endParaRPr lang="en-US" sz="900" dirty="0"/>
          </a:p>
        </p:txBody>
      </p:sp>
      <p:sp>
        <p:nvSpPr>
          <p:cNvPr id="68" name="Text 30"/>
          <p:cNvSpPr/>
          <p:nvPr/>
        </p:nvSpPr>
        <p:spPr>
          <a:xfrm>
            <a:off x="8315325" y="2800350"/>
            <a:ext cx="36195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저품질 요소에 과적합 가능성</a:t>
            </a:r>
            <a:endParaRPr lang="en-US" sz="900" dirty="0"/>
          </a:p>
        </p:txBody>
      </p:sp>
      <p:sp>
        <p:nvSpPr>
          <p:cNvPr id="69" name="Text 31"/>
          <p:cNvSpPr/>
          <p:nvPr/>
        </p:nvSpPr>
        <p:spPr>
          <a:xfrm>
            <a:off x="552450" y="3829050"/>
            <a:ext cx="11506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인사이트</a:t>
            </a:r>
            <a:endParaRPr lang="en-US" sz="1350" dirty="0"/>
          </a:p>
        </p:txBody>
      </p:sp>
      <p:sp>
        <p:nvSpPr>
          <p:cNvPr id="70" name="Text 32"/>
          <p:cNvSpPr/>
          <p:nvPr/>
        </p:nvSpPr>
        <p:spPr>
          <a:xfrm>
            <a:off x="419100" y="4248150"/>
            <a:ext cx="5524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Mercari 특성에 맞는 임베딩: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Mercari 데이터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스타일에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맞게 </a:t>
            </a:r>
            <a:r>
              <a:rPr lang="en-US" altLang="ko-KR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GloVe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TF-IDF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 </a:t>
            </a:r>
            <a:r>
              <a:rPr lang="ko-KR" alt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임베딩과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트리</a:t>
            </a:r>
            <a:endParaRPr lang="en-US" altLang="ko-KR" sz="105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기반 모델 조합이 최고 성능을 기록</a:t>
            </a:r>
            <a:endParaRPr lang="en-US" sz="1050" dirty="0"/>
          </a:p>
        </p:txBody>
      </p:sp>
      <p:sp>
        <p:nvSpPr>
          <p:cNvPr id="71" name="Text 33"/>
          <p:cNvSpPr/>
          <p:nvPr/>
        </p:nvSpPr>
        <p:spPr>
          <a:xfrm>
            <a:off x="6248400" y="4248150"/>
            <a:ext cx="6629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분류 특성: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브랜드, 카테고리, 상태 등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 정보와 키워드 중심 텍스트가 가격 예측에 핵심적 역할</a:t>
            </a:r>
            <a:endParaRPr lang="en-US" sz="1050" dirty="0"/>
          </a:p>
        </p:txBody>
      </p:sp>
      <p:sp>
        <p:nvSpPr>
          <p:cNvPr id="72" name="Text 34"/>
          <p:cNvSpPr/>
          <p:nvPr/>
        </p:nvSpPr>
        <p:spPr>
          <a:xfrm>
            <a:off x="419100" y="4857750"/>
            <a:ext cx="6629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</a:t>
            </a:r>
            <a:r>
              <a:rPr lang="ko-KR" alt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 샘플링 및 가중치 조정 전략을 통해</a:t>
            </a:r>
            <a:r>
              <a:rPr lang="en-US" altLang="ko-KR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대용량 데이터 환경에서도 안정적인 학습 성능을 확보</a:t>
            </a:r>
            <a:endParaRPr lang="en-US" sz="1050" dirty="0"/>
          </a:p>
        </p:txBody>
      </p:sp>
      <p:sp>
        <p:nvSpPr>
          <p:cNvPr id="73" name="Text 35"/>
          <p:cNvSpPr/>
          <p:nvPr/>
        </p:nvSpPr>
        <p:spPr>
          <a:xfrm>
            <a:off x="6248400" y="4857750"/>
            <a:ext cx="6629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트리 기반 모델 현혹성: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  트리 기반 모델을 희소</a:t>
            </a:r>
            <a:r>
              <a:rPr lang="ko-KR" altLang="en-US" sz="1050" dirty="0"/>
              <a:t> </a:t>
            </a:r>
            <a:r>
              <a:rPr lang="en-US" altLang="ko-KR" sz="1050" dirty="0"/>
              <a:t>· </a:t>
            </a:r>
            <a:r>
              <a:rPr lang="ko-KR" altLang="en-US" sz="1050" dirty="0" err="1"/>
              <a:t>저차원</a:t>
            </a:r>
            <a:r>
              <a:rPr lang="ko-KR" altLang="en-US" sz="1050" dirty="0"/>
              <a:t> </a:t>
            </a:r>
            <a:r>
              <a:rPr lang="ko-KR" altLang="en-US" sz="1050" dirty="0" err="1"/>
              <a:t>임베딩</a:t>
            </a:r>
            <a:r>
              <a:rPr lang="en-US" altLang="ko-KR" sz="1050" dirty="0"/>
              <a:t>(</a:t>
            </a:r>
            <a:r>
              <a:rPr lang="en-US" altLang="ko-KR" sz="1050" dirty="0" err="1"/>
              <a:t>GloVe</a:t>
            </a:r>
            <a:r>
              <a:rPr lang="en-US" altLang="ko-KR" sz="1050" dirty="0"/>
              <a:t>, TF-IDF)</a:t>
            </a:r>
            <a:r>
              <a:rPr lang="ko-KR" altLang="en-US" sz="1050" dirty="0"/>
              <a:t>과 결합 </a:t>
            </a:r>
            <a:endParaRPr lang="en-US" altLang="ko-KR" sz="1050" dirty="0"/>
          </a:p>
          <a:p>
            <a:pPr>
              <a:lnSpc>
                <a:spcPts val="1500"/>
              </a:lnSpc>
            </a:pPr>
            <a:r>
              <a:rPr lang="ko-KR" altLang="en-US" sz="1050" dirty="0"/>
              <a:t>시 가장 높은 예측 효율을 보임</a:t>
            </a:r>
            <a:endParaRPr lang="en-US" sz="1050" dirty="0"/>
          </a:p>
        </p:txBody>
      </p:sp>
      <p:sp>
        <p:nvSpPr>
          <p:cNvPr id="74" name="Text 36"/>
          <p:cNvSpPr/>
          <p:nvPr/>
        </p:nvSpPr>
        <p:spPr>
          <a:xfrm>
            <a:off x="5729139" y="5467350"/>
            <a:ext cx="11506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결론</a:t>
            </a:r>
            <a:endParaRPr lang="en-US" sz="1350" dirty="0"/>
          </a:p>
        </p:txBody>
      </p:sp>
      <p:sp>
        <p:nvSpPr>
          <p:cNvPr id="75" name="Text 37"/>
          <p:cNvSpPr/>
          <p:nvPr/>
        </p:nvSpPr>
        <p:spPr>
          <a:xfrm>
            <a:off x="457200" y="5886450"/>
            <a:ext cx="11277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"복잡한 언어모델보다 데이터 구조에 맞춘 경량 임베딩과 트리 기반 모델이 가장 효과적인 가격 예측 성능"</a:t>
            </a:r>
            <a:endParaRPr lang="en-US" sz="1050" dirty="0"/>
          </a:p>
        </p:txBody>
      </p:sp>
      <p:sp>
        <p:nvSpPr>
          <p:cNvPr id="76" name="Text 38"/>
          <p:cNvSpPr/>
          <p:nvPr/>
        </p:nvSpPr>
        <p:spPr>
          <a:xfrm>
            <a:off x="4322772" y="6548005"/>
            <a:ext cx="72401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 유형</a:t>
            </a:r>
            <a:endParaRPr lang="en-US" sz="900" dirty="0"/>
          </a:p>
        </p:txBody>
      </p:sp>
      <p:sp>
        <p:nvSpPr>
          <p:cNvPr id="77" name="Text 39"/>
          <p:cNvSpPr/>
          <p:nvPr/>
        </p:nvSpPr>
        <p:spPr>
          <a:xfrm>
            <a:off x="4467612" y="6700405"/>
            <a:ext cx="4343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TF-IDF</a:t>
            </a:r>
            <a:endParaRPr lang="en-US" sz="900" dirty="0"/>
          </a:p>
        </p:txBody>
      </p:sp>
      <p:sp>
        <p:nvSpPr>
          <p:cNvPr id="78" name="Text 40"/>
          <p:cNvSpPr/>
          <p:nvPr/>
        </p:nvSpPr>
        <p:spPr>
          <a:xfrm>
            <a:off x="5270778" y="6548005"/>
            <a:ext cx="58685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유형</a:t>
            </a:r>
            <a:endParaRPr lang="en-US" sz="900" dirty="0"/>
          </a:p>
        </p:txBody>
      </p:sp>
      <p:sp>
        <p:nvSpPr>
          <p:cNvPr id="79" name="Text 41"/>
          <p:cNvSpPr/>
          <p:nvPr/>
        </p:nvSpPr>
        <p:spPr>
          <a:xfrm>
            <a:off x="5236652" y="6700405"/>
            <a:ext cx="6552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900" dirty="0"/>
          </a:p>
        </p:txBody>
      </p:sp>
      <p:sp>
        <p:nvSpPr>
          <p:cNvPr id="80" name="Text 42"/>
          <p:cNvSpPr/>
          <p:nvPr/>
        </p:nvSpPr>
        <p:spPr>
          <a:xfrm>
            <a:off x="6042000" y="6540501"/>
            <a:ext cx="72401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방식</a:t>
            </a:r>
            <a:endParaRPr lang="en-US" sz="900" dirty="0"/>
          </a:p>
        </p:txBody>
      </p:sp>
      <p:sp>
        <p:nvSpPr>
          <p:cNvPr id="81" name="Text 43"/>
          <p:cNvSpPr/>
          <p:nvPr/>
        </p:nvSpPr>
        <p:spPr>
          <a:xfrm>
            <a:off x="6096000" y="6692901"/>
            <a:ext cx="70133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19.6% 검증</a:t>
            </a:r>
            <a:endParaRPr lang="en-US" sz="900" dirty="0"/>
          </a:p>
        </p:txBody>
      </p:sp>
      <p:sp>
        <p:nvSpPr>
          <p:cNvPr id="82" name="Text 44"/>
          <p:cNvSpPr/>
          <p:nvPr/>
        </p:nvSpPr>
        <p:spPr>
          <a:xfrm>
            <a:off x="7147500" y="6548005"/>
            <a:ext cx="58685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성능</a:t>
            </a:r>
            <a:endParaRPr lang="en-US" sz="900" dirty="0"/>
          </a:p>
        </p:txBody>
      </p:sp>
      <p:sp>
        <p:nvSpPr>
          <p:cNvPr id="83" name="Text 45"/>
          <p:cNvSpPr/>
          <p:nvPr/>
        </p:nvSpPr>
        <p:spPr>
          <a:xfrm>
            <a:off x="6972107" y="6700405"/>
            <a:ext cx="937796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0.0123</a:t>
            </a:r>
            <a:endParaRPr lang="en-US" sz="900" dirty="0"/>
          </a:p>
        </p:txBody>
      </p:sp>
      <p:sp>
        <p:nvSpPr>
          <p:cNvPr id="84" name="Text 46"/>
          <p:cNvSpPr/>
          <p:nvPr/>
        </p:nvSpPr>
        <p:spPr>
          <a:xfrm>
            <a:off x="11279088" y="6515100"/>
            <a:ext cx="7297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9/10</a:t>
            </a:r>
            <a:endParaRPr lang="en-US" sz="105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BE9C118-120F-AE75-F92A-C710AC34EB71}"/>
              </a:ext>
            </a:extLst>
          </p:cNvPr>
          <p:cNvSpPr txBox="1"/>
          <p:nvPr/>
        </p:nvSpPr>
        <p:spPr>
          <a:xfrm>
            <a:off x="419100" y="3333750"/>
            <a:ext cx="3429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※ </a:t>
            </a:r>
            <a:r>
              <a:rPr lang="ko-KR" altLang="en-US" sz="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성능 지표는 </a:t>
            </a:r>
            <a:r>
              <a:rPr lang="en-US" altLang="ko-KR" sz="9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GloVe</a:t>
            </a:r>
            <a:r>
              <a:rPr lang="en-US" altLang="ko-KR" sz="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+ </a:t>
            </a:r>
            <a:r>
              <a:rPr lang="ko-KR" altLang="en-US" sz="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트리 기반 모델 기준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78105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33450"/>
            <a:ext cx="5791200" cy="4838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133475"/>
            <a:ext cx="1333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466850"/>
            <a:ext cx="5486400" cy="609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495550"/>
            <a:ext cx="548640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2838450"/>
            <a:ext cx="548640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295650"/>
            <a:ext cx="5486400" cy="1371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22786" y="3638550"/>
            <a:ext cx="1202829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37172" y="4210050"/>
            <a:ext cx="1973907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33450"/>
            <a:ext cx="5791200" cy="4838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1133475"/>
            <a:ext cx="171450" cy="17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1466850"/>
            <a:ext cx="5486400" cy="1752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98084" y="2400300"/>
            <a:ext cx="797421" cy="723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28731" y="2400300"/>
            <a:ext cx="787450" cy="723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4600" y="3638550"/>
            <a:ext cx="5486400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0" y="4095750"/>
            <a:ext cx="5486400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4600" y="4552950"/>
            <a:ext cx="548640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5010150"/>
            <a:ext cx="5486400" cy="609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8900" y="5153025"/>
            <a:ext cx="104775" cy="1333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28600" y="5886450"/>
            <a:ext cx="11734800" cy="1485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1000" y="6038850"/>
            <a:ext cx="295275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7200" y="6115050"/>
            <a:ext cx="142875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1000" y="6762750"/>
            <a:ext cx="11430000" cy="4572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694384" y="6896100"/>
            <a:ext cx="152400" cy="1524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228600" y="228600"/>
            <a:ext cx="117348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수치 해석 &amp; 한계점</a:t>
            </a:r>
            <a:endParaRPr lang="en-US" sz="2100" dirty="0"/>
          </a:p>
        </p:txBody>
      </p:sp>
      <p:sp>
        <p:nvSpPr>
          <p:cNvPr id="29" name="Text 1"/>
          <p:cNvSpPr/>
          <p:nvPr/>
        </p:nvSpPr>
        <p:spPr>
          <a:xfrm>
            <a:off x="590550" y="1085850"/>
            <a:ext cx="5486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수치 해석</a:t>
            </a:r>
            <a:endParaRPr lang="en-US" sz="1350" dirty="0"/>
          </a:p>
        </p:txBody>
      </p:sp>
      <p:sp>
        <p:nvSpPr>
          <p:cNvPr id="30" name="Text 2"/>
          <p:cNvSpPr/>
          <p:nvPr/>
        </p:nvSpPr>
        <p:spPr>
          <a:xfrm>
            <a:off x="495300" y="1581150"/>
            <a:ext cx="5257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프로젝트에서는 </a:t>
            </a: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가격(price)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</a:t>
            </a: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log(price+1)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변환하여 학습했기 때문에 RMSLE 수치가 로그 공간에서 측정됩니다.</a:t>
            </a:r>
            <a:endParaRPr lang="en-US" sz="1050" dirty="0"/>
          </a:p>
        </p:txBody>
      </p:sp>
      <p:sp>
        <p:nvSpPr>
          <p:cNvPr id="31" name="Text 3"/>
          <p:cNvSpPr/>
          <p:nvPr/>
        </p:nvSpPr>
        <p:spPr>
          <a:xfrm>
            <a:off x="381000" y="2190750"/>
            <a:ext cx="5486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계산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457200" y="2495550"/>
            <a:ext cx="95458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가격</a:t>
            </a:r>
            <a:endParaRPr lang="en-US" sz="1050" dirty="0"/>
          </a:p>
        </p:txBody>
      </p:sp>
      <p:sp>
        <p:nvSpPr>
          <p:cNvPr id="33" name="Text 5"/>
          <p:cNvSpPr/>
          <p:nvPr/>
        </p:nvSpPr>
        <p:spPr>
          <a:xfrm>
            <a:off x="1335584" y="2495550"/>
            <a:ext cx="303817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100원 → 110원</a:t>
            </a:r>
            <a:endParaRPr lang="en-US" sz="1050" dirty="0"/>
          </a:p>
        </p:txBody>
      </p:sp>
      <p:sp>
        <p:nvSpPr>
          <p:cNvPr id="34" name="Text 6"/>
          <p:cNvSpPr/>
          <p:nvPr/>
        </p:nvSpPr>
        <p:spPr>
          <a:xfrm>
            <a:off x="4075033" y="2495550"/>
            <a:ext cx="179236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차이: </a:t>
            </a: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10원</a:t>
            </a:r>
            <a:endParaRPr lang="en-US" sz="1050" dirty="0"/>
          </a:p>
        </p:txBody>
      </p:sp>
      <p:sp>
        <p:nvSpPr>
          <p:cNvPr id="35" name="Text 7"/>
          <p:cNvSpPr/>
          <p:nvPr/>
        </p:nvSpPr>
        <p:spPr>
          <a:xfrm>
            <a:off x="457200" y="2838450"/>
            <a:ext cx="95458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변환</a:t>
            </a:r>
            <a:endParaRPr lang="en-US" sz="1050" dirty="0"/>
          </a:p>
        </p:txBody>
      </p:sp>
      <p:sp>
        <p:nvSpPr>
          <p:cNvPr id="36" name="Text 8"/>
          <p:cNvSpPr/>
          <p:nvPr/>
        </p:nvSpPr>
        <p:spPr>
          <a:xfrm>
            <a:off x="727948" y="2838450"/>
            <a:ext cx="364581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log(101) ≈ 4.615 → log(111) ≈ 4.709</a:t>
            </a:r>
            <a:endParaRPr lang="en-US" sz="1050" dirty="0"/>
          </a:p>
        </p:txBody>
      </p:sp>
      <p:sp>
        <p:nvSpPr>
          <p:cNvPr id="37" name="Text 9"/>
          <p:cNvSpPr/>
          <p:nvPr/>
        </p:nvSpPr>
        <p:spPr>
          <a:xfrm>
            <a:off x="4075033" y="2838450"/>
            <a:ext cx="179236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변환 차이: </a:t>
            </a:r>
            <a:r>
              <a:rPr lang="en-US" sz="105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0.094</a:t>
            </a:r>
            <a:endParaRPr lang="en-US" sz="1050" dirty="0"/>
          </a:p>
        </p:txBody>
      </p:sp>
      <p:sp>
        <p:nvSpPr>
          <p:cNvPr id="38" name="Text 10"/>
          <p:cNvSpPr/>
          <p:nvPr/>
        </p:nvSpPr>
        <p:spPr>
          <a:xfrm>
            <a:off x="495300" y="3409950"/>
            <a:ext cx="5257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가격 차이 10원은</a:t>
            </a:r>
            <a:endParaRPr lang="en-US" sz="1050" dirty="0"/>
          </a:p>
        </p:txBody>
      </p:sp>
      <p:sp>
        <p:nvSpPr>
          <p:cNvPr id="39" name="Text 11"/>
          <p:cNvSpPr/>
          <p:nvPr/>
        </p:nvSpPr>
        <p:spPr>
          <a:xfrm>
            <a:off x="2402503" y="3638550"/>
            <a:ext cx="144339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100원 → 110원</a:t>
            </a:r>
            <a:endParaRPr lang="en-US" sz="1200" dirty="0"/>
          </a:p>
        </p:txBody>
      </p:sp>
      <p:sp>
        <p:nvSpPr>
          <p:cNvPr id="40" name="Text 12"/>
          <p:cNvSpPr/>
          <p:nvPr/>
        </p:nvSpPr>
        <p:spPr>
          <a:xfrm>
            <a:off x="495300" y="3981450"/>
            <a:ext cx="5257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공간에서는 차이가</a:t>
            </a:r>
            <a:endParaRPr lang="en-US" sz="1050" dirty="0"/>
          </a:p>
        </p:txBody>
      </p:sp>
      <p:sp>
        <p:nvSpPr>
          <p:cNvPr id="41" name="Text 13"/>
          <p:cNvSpPr/>
          <p:nvPr/>
        </p:nvSpPr>
        <p:spPr>
          <a:xfrm>
            <a:off x="1939781" y="4210050"/>
            <a:ext cx="236868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log(101) → log(111): 0.094</a:t>
            </a:r>
            <a:endParaRPr lang="en-US" sz="1200" dirty="0"/>
          </a:p>
        </p:txBody>
      </p:sp>
      <p:sp>
        <p:nvSpPr>
          <p:cNvPr id="42" name="Text 14"/>
          <p:cNvSpPr/>
          <p:nvPr/>
        </p:nvSpPr>
        <p:spPr>
          <a:xfrm>
            <a:off x="381000" y="4781550"/>
            <a:ext cx="5486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실험의 최적 모델 RMSLE ≈ 0.0123이 실제 가격 기준으로는 약 </a:t>
            </a: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1~1.3%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수준의 상대 오차를 의미합니다.</a:t>
            </a:r>
            <a:endParaRPr lang="en-US" sz="1050" dirty="0"/>
          </a:p>
        </p:txBody>
      </p:sp>
      <p:sp>
        <p:nvSpPr>
          <p:cNvPr id="43" name="Text 15"/>
          <p:cNvSpPr/>
          <p:nvPr/>
        </p:nvSpPr>
        <p:spPr>
          <a:xfrm>
            <a:off x="6572250" y="1085850"/>
            <a:ext cx="5486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한계점 및 중요한 고려사항</a:t>
            </a:r>
            <a:endParaRPr lang="en-US" sz="1350" dirty="0"/>
          </a:p>
        </p:txBody>
      </p:sp>
      <p:sp>
        <p:nvSpPr>
          <p:cNvPr id="44" name="Text 16"/>
          <p:cNvSpPr/>
          <p:nvPr/>
        </p:nvSpPr>
        <p:spPr>
          <a:xfrm>
            <a:off x="6438900" y="1581150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비교 제한성</a:t>
            </a:r>
            <a:endParaRPr lang="en-US" sz="1200" dirty="0"/>
          </a:p>
        </p:txBody>
      </p:sp>
      <p:sp>
        <p:nvSpPr>
          <p:cNvPr id="45" name="Text 17"/>
          <p:cNvSpPr/>
          <p:nvPr/>
        </p:nvSpPr>
        <p:spPr>
          <a:xfrm>
            <a:off x="6438900" y="1791855"/>
            <a:ext cx="5257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altLang="ko-KR" sz="1050" dirty="0"/>
              <a:t>RMSLE</a:t>
            </a:r>
            <a:r>
              <a:rPr lang="ko-KR" altLang="en-US" sz="1050" dirty="0"/>
              <a:t>는 </a:t>
            </a:r>
            <a:r>
              <a:rPr lang="en-US" altLang="ko-KR" sz="1050" dirty="0"/>
              <a:t>log(price+1) </a:t>
            </a:r>
            <a:r>
              <a:rPr lang="ko-KR" altLang="en-US" sz="1050" dirty="0"/>
              <a:t>변환 공간에서 계산되는 지표로</a:t>
            </a:r>
            <a:r>
              <a:rPr lang="en-US" altLang="ko-KR" sz="1050" dirty="0"/>
              <a:t>,</a:t>
            </a:r>
            <a:br>
              <a:rPr lang="en-US" altLang="ko-KR" sz="1050" dirty="0"/>
            </a:br>
            <a:r>
              <a:rPr lang="ko-KR" altLang="en-US" sz="1050" dirty="0"/>
              <a:t>원 가격 기준의 </a:t>
            </a:r>
            <a:r>
              <a:rPr lang="en-US" altLang="ko-KR" sz="1050" dirty="0"/>
              <a:t>RMSE</a:t>
            </a:r>
            <a:r>
              <a:rPr lang="ko-KR" altLang="en-US" sz="1050" dirty="0"/>
              <a:t>와 절대값 비교에는 적합하지 않다</a:t>
            </a:r>
            <a:r>
              <a:rPr lang="en-US" altLang="ko-KR" sz="1050" dirty="0"/>
              <a:t>.</a:t>
            </a:r>
            <a:br>
              <a:rPr lang="en-US" altLang="ko-KR" sz="1050" dirty="0"/>
            </a:br>
            <a:r>
              <a:rPr lang="ko-KR" altLang="en-US" sz="1050" dirty="0"/>
              <a:t>본 실험에서는 </a:t>
            </a:r>
            <a:r>
              <a:rPr lang="ko-KR" altLang="en-US" sz="1050" b="1" dirty="0"/>
              <a:t>동일한 </a:t>
            </a:r>
            <a:r>
              <a:rPr lang="ko-KR" altLang="en-US" sz="1050" b="1" dirty="0" err="1"/>
              <a:t>전처리</a:t>
            </a:r>
            <a:r>
              <a:rPr lang="ko-KR" altLang="en-US" sz="1050" b="1" dirty="0"/>
              <a:t> 및 로그 공간 내 모델 간 상대 비교 지표</a:t>
            </a:r>
            <a:r>
              <a:rPr lang="ko-KR" altLang="en-US" sz="1050" dirty="0"/>
              <a:t>로 활용하였다</a:t>
            </a:r>
            <a:r>
              <a:rPr lang="en-US" altLang="ko-KR" sz="1050" dirty="0"/>
              <a:t>.</a:t>
            </a:r>
            <a:endParaRPr lang="en-US" sz="1050" dirty="0"/>
          </a:p>
        </p:txBody>
      </p:sp>
      <p:sp>
        <p:nvSpPr>
          <p:cNvPr id="46" name="Text 18"/>
          <p:cNvSpPr/>
          <p:nvPr/>
        </p:nvSpPr>
        <p:spPr>
          <a:xfrm>
            <a:off x="8109781" y="2476500"/>
            <a:ext cx="7740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</a:t>
            </a:r>
            <a:endParaRPr lang="en-US" sz="900" dirty="0"/>
          </a:p>
        </p:txBody>
      </p:sp>
      <p:sp>
        <p:nvSpPr>
          <p:cNvPr id="47" name="Text 19"/>
          <p:cNvSpPr/>
          <p:nvPr/>
        </p:nvSpPr>
        <p:spPr>
          <a:xfrm>
            <a:off x="8109781" y="2628900"/>
            <a:ext cx="7740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0.0123</a:t>
            </a:r>
            <a:endParaRPr lang="en-US" sz="1500" dirty="0"/>
          </a:p>
        </p:txBody>
      </p:sp>
      <p:sp>
        <p:nvSpPr>
          <p:cNvPr id="48" name="Text 20"/>
          <p:cNvSpPr/>
          <p:nvPr/>
        </p:nvSpPr>
        <p:spPr>
          <a:xfrm>
            <a:off x="8109781" y="2895600"/>
            <a:ext cx="7740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Log(price+1)</a:t>
            </a:r>
            <a:endParaRPr lang="en-US" sz="900" dirty="0"/>
          </a:p>
        </p:txBody>
      </p:sp>
      <p:sp>
        <p:nvSpPr>
          <p:cNvPr id="49" name="Text 21"/>
          <p:cNvSpPr/>
          <p:nvPr/>
        </p:nvSpPr>
        <p:spPr>
          <a:xfrm>
            <a:off x="9009805" y="2400300"/>
            <a:ext cx="125551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≠</a:t>
            </a:r>
            <a:endParaRPr lang="en-US" sz="1500" dirty="0"/>
          </a:p>
        </p:txBody>
      </p:sp>
      <p:sp>
        <p:nvSpPr>
          <p:cNvPr id="50" name="Text 22"/>
          <p:cNvSpPr/>
          <p:nvPr/>
        </p:nvSpPr>
        <p:spPr>
          <a:xfrm>
            <a:off x="9304931" y="2476500"/>
            <a:ext cx="6350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RMSE</a:t>
            </a:r>
            <a:endParaRPr lang="en-US" sz="900" dirty="0"/>
          </a:p>
        </p:txBody>
      </p:sp>
      <p:sp>
        <p:nvSpPr>
          <p:cNvPr id="51" name="Text 23"/>
          <p:cNvSpPr/>
          <p:nvPr/>
        </p:nvSpPr>
        <p:spPr>
          <a:xfrm>
            <a:off x="9304931" y="2628900"/>
            <a:ext cx="635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sz="1500" dirty="0"/>
          </a:p>
        </p:txBody>
      </p:sp>
      <p:sp>
        <p:nvSpPr>
          <p:cNvPr id="52" name="Text 24"/>
          <p:cNvSpPr/>
          <p:nvPr/>
        </p:nvSpPr>
        <p:spPr>
          <a:xfrm>
            <a:off x="9241426" y="2895600"/>
            <a:ext cx="7620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 기준 추정</a:t>
            </a:r>
            <a:endParaRPr lang="en-US" sz="900" dirty="0"/>
          </a:p>
        </p:txBody>
      </p:sp>
      <p:sp>
        <p:nvSpPr>
          <p:cNvPr id="53" name="Text 25"/>
          <p:cNvSpPr/>
          <p:nvPr/>
        </p:nvSpPr>
        <p:spPr>
          <a:xfrm>
            <a:off x="6324600" y="3333750"/>
            <a:ext cx="5486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인터프리테이션 중요성</a:t>
            </a:r>
            <a:endParaRPr lang="en-US" sz="1200" dirty="0"/>
          </a:p>
        </p:txBody>
      </p:sp>
      <p:sp>
        <p:nvSpPr>
          <p:cNvPr id="54" name="Text 26"/>
          <p:cNvSpPr/>
          <p:nvPr/>
        </p:nvSpPr>
        <p:spPr>
          <a:xfrm>
            <a:off x="6438900" y="3714750"/>
            <a:ext cx="6355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선택: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RMSLE가 낮다고 해서 실제 비즈니스 상황에서 가장 우수하다고 볼 수 없음</a:t>
            </a:r>
            <a:endParaRPr lang="en-US" sz="1050" dirty="0"/>
          </a:p>
        </p:txBody>
      </p:sp>
      <p:sp>
        <p:nvSpPr>
          <p:cNvPr id="55" name="Text 27"/>
          <p:cNvSpPr/>
          <p:nvPr/>
        </p:nvSpPr>
        <p:spPr>
          <a:xfrm>
            <a:off x="6438900" y="4171950"/>
            <a:ext cx="6355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오차 평가 방식: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로그 변환 성능을 원 단위 오차로 해석 필요</a:t>
            </a:r>
            <a:endParaRPr lang="en-US" sz="1050" dirty="0"/>
          </a:p>
        </p:txBody>
      </p:sp>
      <p:sp>
        <p:nvSpPr>
          <p:cNvPr id="56" name="Text 28"/>
          <p:cNvSpPr/>
          <p:nvPr/>
        </p:nvSpPr>
        <p:spPr>
          <a:xfrm>
            <a:off x="6438900" y="4629150"/>
            <a:ext cx="5295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활용: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단일 메트릭으로 동결시키기보다 병행 평가 필요</a:t>
            </a:r>
            <a:endParaRPr lang="en-US" sz="1050" dirty="0"/>
          </a:p>
        </p:txBody>
      </p:sp>
      <p:sp>
        <p:nvSpPr>
          <p:cNvPr id="57" name="Text 29"/>
          <p:cNvSpPr/>
          <p:nvPr/>
        </p:nvSpPr>
        <p:spPr>
          <a:xfrm>
            <a:off x="6581775" y="5124450"/>
            <a:ext cx="5257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실무적 활용: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RMSLE 외 다른 메트릭(RMSE, MAE 등)을 함께 고려하여 사용하는 것이 적절함</a:t>
            </a:r>
            <a:endParaRPr lang="en-US" sz="1050" dirty="0"/>
          </a:p>
        </p:txBody>
      </p:sp>
      <p:sp>
        <p:nvSpPr>
          <p:cNvPr id="58" name="Text 30"/>
          <p:cNvSpPr/>
          <p:nvPr/>
        </p:nvSpPr>
        <p:spPr>
          <a:xfrm>
            <a:off x="828675" y="6038850"/>
            <a:ext cx="818209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"RMSLE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수치 자체가 정확도를 대변하면 안 됨. 로그 변환 환경에서의 측정치이므로 실제 가격 기준으로 해석 필요"</a:t>
            </a:r>
            <a:endParaRPr lang="en-US" sz="1050" dirty="0"/>
          </a:p>
        </p:txBody>
      </p:sp>
      <p:sp>
        <p:nvSpPr>
          <p:cNvPr id="59" name="Text 31"/>
          <p:cNvSpPr/>
          <p:nvPr/>
        </p:nvSpPr>
        <p:spPr>
          <a:xfrm>
            <a:off x="828675" y="6324600"/>
            <a:ext cx="29844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RMSLE = √(1/n × Σ(log(y+1) - log(ŷ+1))²)</a:t>
            </a:r>
            <a:endParaRPr lang="en-US" sz="1050" dirty="0"/>
          </a:p>
        </p:txBody>
      </p:sp>
      <p:sp>
        <p:nvSpPr>
          <p:cNvPr id="60" name="Text 32"/>
          <p:cNvSpPr/>
          <p:nvPr/>
        </p:nvSpPr>
        <p:spPr>
          <a:xfrm>
            <a:off x="828675" y="6496050"/>
            <a:ext cx="2525167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y: 실제 가격, ŷ: 예측 가격</a:t>
            </a:r>
            <a:endParaRPr lang="en-US" sz="900" dirty="0"/>
          </a:p>
        </p:txBody>
      </p:sp>
      <p:sp>
        <p:nvSpPr>
          <p:cNvPr id="61" name="Text 33"/>
          <p:cNvSpPr/>
          <p:nvPr/>
        </p:nvSpPr>
        <p:spPr>
          <a:xfrm>
            <a:off x="1104900" y="6388966"/>
            <a:ext cx="11201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 RMSLE는 로그 변환 환경에서 매우 효과적인 지표이지만, 수치 자체보다 의미 해석이 중요합니다."</a:t>
            </a:r>
            <a:endParaRPr lang="en-US" sz="1200" dirty="0"/>
          </a:p>
        </p:txBody>
      </p:sp>
      <p:sp>
        <p:nvSpPr>
          <p:cNvPr id="62" name="Text 34"/>
          <p:cNvSpPr/>
          <p:nvPr/>
        </p:nvSpPr>
        <p:spPr>
          <a:xfrm>
            <a:off x="11204972" y="6515100"/>
            <a:ext cx="81867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10/10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1804</Words>
  <Application>Microsoft Office PowerPoint</Application>
  <PresentationFormat>와이드스크린</PresentationFormat>
  <Paragraphs>287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Noto Sans KR</vt:lpstr>
      <vt:lpstr>ui-monospace</vt:lpstr>
      <vt:lpstr>Arial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TJ</cp:lastModifiedBy>
  <cp:revision>9</cp:revision>
  <dcterms:created xsi:type="dcterms:W3CDTF">2025-12-15T04:34:20Z</dcterms:created>
  <dcterms:modified xsi:type="dcterms:W3CDTF">2025-12-16T08:54:53Z</dcterms:modified>
</cp:coreProperties>
</file>