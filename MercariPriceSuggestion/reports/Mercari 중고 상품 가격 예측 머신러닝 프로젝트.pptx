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33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7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1.png"/><Relationship Id="rId21" Type="http://schemas.openxmlformats.org/officeDocument/2006/relationships/image" Target="../media/image51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7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1.png"/><Relationship Id="rId21" Type="http://schemas.openxmlformats.org/officeDocument/2006/relationships/image" Target="../media/image72.png"/><Relationship Id="rId7" Type="http://schemas.openxmlformats.org/officeDocument/2006/relationships/image" Target="../media/image59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7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2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1.png"/><Relationship Id="rId7" Type="http://schemas.openxmlformats.org/officeDocument/2006/relationships/image" Target="../media/image86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89.png"/><Relationship Id="rId5" Type="http://schemas.openxmlformats.org/officeDocument/2006/relationships/image" Target="../media/image7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4" Type="http://schemas.openxmlformats.org/officeDocument/2006/relationships/image" Target="../media/image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5.png"/><Relationship Id="rId3" Type="http://schemas.openxmlformats.org/officeDocument/2006/relationships/image" Target="../media/image1.png"/><Relationship Id="rId7" Type="http://schemas.openxmlformats.org/officeDocument/2006/relationships/image" Target="../media/image100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28.png"/><Relationship Id="rId5" Type="http://schemas.openxmlformats.org/officeDocument/2006/relationships/image" Target="../media/image7.png"/><Relationship Id="rId15" Type="http://schemas.openxmlformats.org/officeDocument/2006/relationships/image" Target="../media/image107.png"/><Relationship Id="rId10" Type="http://schemas.openxmlformats.org/officeDocument/2006/relationships/image" Target="../media/image103.png"/><Relationship Id="rId4" Type="http://schemas.openxmlformats.org/officeDocument/2006/relationships/image" Target="../media/image2.png"/><Relationship Id="rId9" Type="http://schemas.openxmlformats.org/officeDocument/2006/relationships/image" Target="../media/image102.png"/><Relationship Id="rId14" Type="http://schemas.openxmlformats.org/officeDocument/2006/relationships/image" Target="../media/image10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26" Type="http://schemas.openxmlformats.org/officeDocument/2006/relationships/image" Target="../media/image129.png"/><Relationship Id="rId3" Type="http://schemas.openxmlformats.org/officeDocument/2006/relationships/image" Target="../media/image1.png"/><Relationship Id="rId21" Type="http://schemas.openxmlformats.org/officeDocument/2006/relationships/image" Target="../media/image124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5" Type="http://schemas.openxmlformats.org/officeDocument/2006/relationships/image" Target="../media/image12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9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24" Type="http://schemas.openxmlformats.org/officeDocument/2006/relationships/image" Target="../media/image127.png"/><Relationship Id="rId5" Type="http://schemas.openxmlformats.org/officeDocument/2006/relationships/image" Target="../media/image7.png"/><Relationship Id="rId15" Type="http://schemas.openxmlformats.org/officeDocument/2006/relationships/image" Target="../media/image118.png"/><Relationship Id="rId23" Type="http://schemas.openxmlformats.org/officeDocument/2006/relationships/image" Target="../media/image126.png"/><Relationship Id="rId28" Type="http://schemas.openxmlformats.org/officeDocument/2006/relationships/image" Target="../media/image131.png"/><Relationship Id="rId10" Type="http://schemas.openxmlformats.org/officeDocument/2006/relationships/image" Target="../media/image113.png"/><Relationship Id="rId19" Type="http://schemas.openxmlformats.org/officeDocument/2006/relationships/image" Target="../media/image122.png"/><Relationship Id="rId4" Type="http://schemas.openxmlformats.org/officeDocument/2006/relationships/image" Target="../media/image2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Relationship Id="rId22" Type="http://schemas.openxmlformats.org/officeDocument/2006/relationships/image" Target="../media/image125.png"/><Relationship Id="rId27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43600"/>
            <a:ext cx="121920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0" y="2933700"/>
            <a:ext cx="9144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41529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1150" y="42481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7400" y="41529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0275" y="42481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1529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6538" y="4248150"/>
            <a:ext cx="238125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15315" y="2247900"/>
            <a:ext cx="109613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중고 상품 가격 예측 머신러닝 프로젝트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615315" y="3200400"/>
            <a:ext cx="109613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머신러닝을 활용한 중고 상품 가격 예측 모델 구축</a:t>
            </a:r>
            <a:endParaRPr lang="en-US" sz="2250" dirty="0"/>
          </a:p>
        </p:txBody>
      </p:sp>
      <p:sp>
        <p:nvSpPr>
          <p:cNvPr id="22" name="Text 2"/>
          <p:cNvSpPr/>
          <p:nvPr/>
        </p:nvSpPr>
        <p:spPr>
          <a:xfrm>
            <a:off x="11087100" y="6324600"/>
            <a:ext cx="960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2025-12-13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28750"/>
            <a:ext cx="5486400" cy="2171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57350"/>
            <a:ext cx="221307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129" y="1762125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428750"/>
            <a:ext cx="5486400" cy="2171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657350"/>
            <a:ext cx="291405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7453" y="176212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829050"/>
            <a:ext cx="11277600" cy="110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09575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5148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20065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58165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67200" y="558165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5581650"/>
            <a:ext cx="11430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문제 정의</a:t>
            </a:r>
            <a:endParaRPr lang="en-US" sz="2100" dirty="0"/>
          </a:p>
        </p:txBody>
      </p:sp>
      <p:sp>
        <p:nvSpPr>
          <p:cNvPr id="19" name="Text 1"/>
          <p:cNvSpPr/>
          <p:nvPr/>
        </p:nvSpPr>
        <p:spPr>
          <a:xfrm>
            <a:off x="1059507" y="1657350"/>
            <a:ext cx="46554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059507" y="2000250"/>
            <a:ext cx="465549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Price Suggestion Challenge는 중고 거래 플랫폼 Mercari에 등록된 상품 정보를 기반으로 상품 판매 가격을 예측하는 머신러닝 회귀 문제이다.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1059507" y="2686050"/>
            <a:ext cx="465549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상품명·상품 설명과 같은 비정형 텍스트 데이터와 카테고리, 브랜드, 배송 여부 등의 정형 데이터가 함께 제공된다.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6920805" y="1657350"/>
            <a:ext cx="45853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특성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6920805" y="2000250"/>
            <a:ext cx="45853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 상품 가격은 오른쪽으로 치우친 비대칭 분포를 가지며 저가 상품이 다수를 차지하고 고가 상품은 소수 존재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6920805" y="2457450"/>
            <a:ext cx="55024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카테고리 내에서도 브랜드·설명 방식에 따라 가격 편차가 큼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920805" y="2762250"/>
            <a:ext cx="45853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특성으로 인해 단순 회귀 모델은 고가 상품 예측에서 한계를 가진다.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990600" y="4057650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914400" y="4476750"/>
            <a:ext cx="102212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피처와 구조적 피처를 효과적으로 결합하여 RMSLE 기준 오차를 최소화하는 가격 예측 모델을 구축하는 것이 목표이다.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762000" y="516255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구성 요소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666750" y="5543550"/>
            <a:ext cx="33739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학습 데이터: 총 1,482,535개 상품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4457700" y="5543550"/>
            <a:ext cx="2682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텍스트: 상품명, 상품 설명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8267700" y="5543550"/>
            <a:ext cx="36170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피처: 카테고리, 브랜드, 상태, 배송 여부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096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62" y="1292884"/>
            <a:ext cx="5552090" cy="188846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668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52400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276350"/>
            <a:ext cx="5600700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46685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152400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224842"/>
            <a:ext cx="11430000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875" y="3558935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312" y="36195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5062" y="3558935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1262" y="3619500"/>
            <a:ext cx="1524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소개 및 모델링 관점</a:t>
            </a:r>
            <a:endParaRPr lang="en-US" sz="2100" dirty="0"/>
          </a:p>
        </p:txBody>
      </p:sp>
      <p:sp>
        <p:nvSpPr>
          <p:cNvPr id="17" name="Text 1"/>
          <p:cNvSpPr/>
          <p:nvPr/>
        </p:nvSpPr>
        <p:spPr>
          <a:xfrm>
            <a:off x="1104900" y="1466850"/>
            <a:ext cx="28116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구성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104900" y="1809750"/>
            <a:ext cx="33739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학습 데이터: 총 1,482,535개 상품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1181100" y="21145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데이터: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257300" y="23431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상품명, 상품 설명</a:t>
            </a:r>
            <a:endParaRPr lang="en-US" sz="1050" dirty="0"/>
          </a:p>
        </p:txBody>
      </p:sp>
      <p:sp>
        <p:nvSpPr>
          <p:cNvPr id="21" name="Text 5"/>
          <p:cNvSpPr/>
          <p:nvPr/>
        </p:nvSpPr>
        <p:spPr>
          <a:xfrm>
            <a:off x="1181100" y="25717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데이터: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1257300" y="28003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카테고리, 브랜드</a:t>
            </a:r>
            <a:endParaRPr lang="en-US" sz="1050" dirty="0"/>
          </a:p>
        </p:txBody>
      </p:sp>
      <p:sp>
        <p:nvSpPr>
          <p:cNvPr id="23" name="Text 7"/>
          <p:cNvSpPr/>
          <p:nvPr/>
        </p:nvSpPr>
        <p:spPr>
          <a:xfrm>
            <a:off x="2625030" y="21145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수치/이진 데이터: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2701230" y="23431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상태, 배송 여부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6934200" y="1466850"/>
            <a:ext cx="34968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피처의 중요성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6934200" y="18097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상품의 상태, 브랜드, 사용감 등 가격 결정 정보가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934200" y="20383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컬럼보다 텍스트 설명에 더 많이 포함되어 있음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6934200" y="23050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TF-IDF 및 임베딩 기반 텍스트 표현 기법 활용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538162" y="3269771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및 평가 기준</a:t>
            </a:r>
            <a:endParaRPr lang="en-US" sz="1350" dirty="0"/>
          </a:p>
        </p:txBody>
      </p:sp>
      <p:sp>
        <p:nvSpPr>
          <p:cNvPr id="30" name="Text 14"/>
          <p:cNvSpPr/>
          <p:nvPr/>
        </p:nvSpPr>
        <p:spPr>
          <a:xfrm>
            <a:off x="919162" y="358140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방법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728662" y="3924300"/>
            <a:ext cx="6217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트리 기반 모델 사용 (LightGBM, XGBoost 등)</a:t>
            </a:r>
            <a:endParaRPr lang="en-US" sz="1050" dirty="0"/>
          </a:p>
        </p:txBody>
      </p:sp>
      <p:sp>
        <p:nvSpPr>
          <p:cNvPr id="32" name="Text 16"/>
          <p:cNvSpPr/>
          <p:nvPr/>
        </p:nvSpPr>
        <p:spPr>
          <a:xfrm>
            <a:off x="728662" y="41148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텍스트: TF-IDF, 임베딩 기반 표현 기법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728662" y="430530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데이터: Label, One-Hot Encoding</a:t>
            </a:r>
            <a:endParaRPr lang="en-US" sz="1050" dirty="0"/>
          </a:p>
        </p:txBody>
      </p:sp>
      <p:sp>
        <p:nvSpPr>
          <p:cNvPr id="34" name="Text 18"/>
          <p:cNvSpPr/>
          <p:nvPr/>
        </p:nvSpPr>
        <p:spPr>
          <a:xfrm>
            <a:off x="6596062" y="3581400"/>
            <a:ext cx="7824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35" name="Text 19"/>
          <p:cNvSpPr/>
          <p:nvPr/>
        </p:nvSpPr>
        <p:spPr>
          <a:xfrm>
            <a:off x="6596062" y="3924300"/>
            <a:ext cx="4991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(회귀 모델의 경우):</a:t>
            </a:r>
            <a:endParaRPr lang="en-US" sz="1050" dirty="0"/>
          </a:p>
        </p:txBody>
      </p:sp>
      <p:sp>
        <p:nvSpPr>
          <p:cNvPr id="36" name="Text 20"/>
          <p:cNvSpPr/>
          <p:nvPr/>
        </p:nvSpPr>
        <p:spPr>
          <a:xfrm>
            <a:off x="6672262" y="4114800"/>
            <a:ext cx="491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스케일의 오차를 측정</a:t>
            </a:r>
            <a:endParaRPr lang="en-US" sz="1050" dirty="0"/>
          </a:p>
        </p:txBody>
      </p:sp>
      <p:sp>
        <p:nvSpPr>
          <p:cNvPr id="37" name="Text 21"/>
          <p:cNvSpPr/>
          <p:nvPr/>
        </p:nvSpPr>
        <p:spPr>
          <a:xfrm>
            <a:off x="6672262" y="4305300"/>
            <a:ext cx="491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비대칭 가격 분포에 적합</a:t>
            </a:r>
            <a:endParaRPr lang="en-US" sz="1050" dirty="0"/>
          </a:p>
        </p:txBody>
      </p:sp>
      <p:sp>
        <p:nvSpPr>
          <p:cNvPr id="38" name="Text 22"/>
          <p:cNvSpPr/>
          <p:nvPr/>
        </p:nvSpPr>
        <p:spPr>
          <a:xfrm>
            <a:off x="11353205" y="18707100"/>
            <a:ext cx="6407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3/9</a:t>
            </a:r>
            <a:endParaRPr lang="en-US" sz="105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4BFE2BEE-2F75-36C2-75C8-4789A03A6D1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662" y="4762500"/>
            <a:ext cx="11430000" cy="20365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5486400" cy="2686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8115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38" y="167640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22669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25336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28003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52550"/>
            <a:ext cx="5486400" cy="2686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58115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0350" y="167640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7524" y="2266950"/>
            <a:ext cx="1396901" cy="76542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7300" y="2638425"/>
            <a:ext cx="609600" cy="19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9775" y="2266950"/>
            <a:ext cx="1396901" cy="76542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3448050"/>
            <a:ext cx="5029200" cy="3619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3552825"/>
            <a:ext cx="1714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191000"/>
            <a:ext cx="11277600" cy="1562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441960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030" y="47625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2855" y="487680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47305" y="5153025"/>
            <a:ext cx="914400" cy="190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18831" y="476250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14081" y="48768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57106" y="5153025"/>
            <a:ext cx="914400" cy="190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95307" y="476250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09607" y="48768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00257" y="5153025"/>
            <a:ext cx="914400" cy="190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86654" y="4762500"/>
            <a:ext cx="38100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200954" y="4876800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</a:t>
            </a:r>
            <a:endParaRPr lang="en-US" sz="2100" dirty="0"/>
          </a:p>
        </p:txBody>
      </p:sp>
      <p:sp>
        <p:nvSpPr>
          <p:cNvPr id="33" name="Text 1"/>
          <p:cNvSpPr/>
          <p:nvPr/>
        </p:nvSpPr>
        <p:spPr>
          <a:xfrm>
            <a:off x="1295400" y="1581150"/>
            <a:ext cx="36339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 처리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1295400" y="1924050"/>
            <a:ext cx="43607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품질을 높이기 위해 결측치를 처리했습니다:</a:t>
            </a:r>
            <a:endParaRPr lang="en-US" sz="1200" dirty="0"/>
          </a:p>
        </p:txBody>
      </p:sp>
      <p:sp>
        <p:nvSpPr>
          <p:cNvPr id="35" name="Text 3"/>
          <p:cNvSpPr/>
          <p:nvPr/>
        </p:nvSpPr>
        <p:spPr>
          <a:xfrm>
            <a:off x="1524000" y="2228850"/>
            <a:ext cx="40864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brand_name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849,853/1,482,535건 유효값 (84%)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1524000" y="2495550"/>
            <a:ext cx="2968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category_name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약 6,300건 결측치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1524000" y="2762250"/>
            <a:ext cx="39426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item_description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82,489건 'No description yet'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7086600" y="1581150"/>
            <a:ext cx="41911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변수 정규화</a:t>
            </a:r>
            <a:endParaRPr lang="en-US" sz="1500" dirty="0"/>
          </a:p>
        </p:txBody>
      </p:sp>
      <p:sp>
        <p:nvSpPr>
          <p:cNvPr id="39" name="Text 7"/>
          <p:cNvSpPr/>
          <p:nvPr/>
        </p:nvSpPr>
        <p:spPr>
          <a:xfrm>
            <a:off x="7086600" y="1924050"/>
            <a:ext cx="50293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분포가 오른쪽으로 치우쳐 있어 모델 성능에 부정적 영향: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7086600" y="3143250"/>
            <a:ext cx="50293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변환을 통해 정규 분포에 가까운 형태로 변환했습니다.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6800850" y="3524250"/>
            <a:ext cx="48768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변환식: </a:t>
            </a:r>
            <a:r>
              <a:rPr lang="en-US" sz="105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log1p(price) 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역변환: </a:t>
            </a:r>
            <a:r>
              <a:rPr lang="en-US" sz="105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expm1(prediction)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952500" y="438150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 개선 과정</a:t>
            </a:r>
            <a:endParaRPr lang="en-US" sz="1500" dirty="0"/>
          </a:p>
        </p:txBody>
      </p:sp>
      <p:sp>
        <p:nvSpPr>
          <p:cNvPr id="43" name="Text 11"/>
          <p:cNvSpPr/>
          <p:nvPr/>
        </p:nvSpPr>
        <p:spPr>
          <a:xfrm>
            <a:off x="647700" y="5181600"/>
            <a:ext cx="70380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데이터
불완전함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4057501" y="5181600"/>
            <a:ext cx="70380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 처리
데이터 정제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7467302" y="5181600"/>
            <a:ext cx="83715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 정규화
로지스틱 변환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11010454" y="5181600"/>
            <a:ext cx="533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정화된
데이터셋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5486400" cy="2324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81150"/>
            <a:ext cx="402878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914" y="16764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1078" y="19621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1078" y="24955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1078" y="28003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1078" y="31051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52550"/>
            <a:ext cx="5486400" cy="2324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581150"/>
            <a:ext cx="42669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4546" y="167640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6090" y="19621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6090" y="24955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6090" y="2800350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3829050"/>
            <a:ext cx="11277600" cy="2552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095750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5705" y="447675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8105" y="46291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33886" y="4924425"/>
            <a:ext cx="762000" cy="190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30044" y="447675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91969" y="4629150"/>
            <a:ext cx="1333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1551" y="4924425"/>
            <a:ext cx="762000" cy="190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21591" y="4476750"/>
            <a:ext cx="4572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73991" y="46291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5581650"/>
            <a:ext cx="10820400" cy="571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200" y="5734050"/>
            <a:ext cx="190500" cy="2667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</a:t>
            </a:r>
            <a:endParaRPr lang="en-US" sz="2100" dirty="0"/>
          </a:p>
        </p:txBody>
      </p:sp>
      <p:sp>
        <p:nvSpPr>
          <p:cNvPr id="31" name="Text 1"/>
          <p:cNvSpPr/>
          <p:nvPr/>
        </p:nvSpPr>
        <p:spPr>
          <a:xfrm>
            <a:off x="1241078" y="1581150"/>
            <a:ext cx="447392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피처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1469678" y="1924050"/>
            <a:ext cx="424532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category_name : 'Men/Tops/T-shirts'를 '대분류', '중분류', '소분류'로 분리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1469678" y="2457450"/>
            <a:ext cx="451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item_condition_id : 제품 상태 (1~5)에 대한 원-핫 인코딩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1469678" y="2762250"/>
            <a:ext cx="36279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shipping : 배송비 부담 여부 (1: 무료, 0: 유료)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1469678" y="3067050"/>
            <a:ext cx="38210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brand_name : 브랜드 이름에 대한 원-핫 인코딩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7056090" y="1581150"/>
            <a:ext cx="44501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 벡터화</a:t>
            </a:r>
            <a:endParaRPr lang="en-US" sz="1500" dirty="0"/>
          </a:p>
        </p:txBody>
      </p:sp>
      <p:sp>
        <p:nvSpPr>
          <p:cNvPr id="37" name="Text 7"/>
          <p:cNvSpPr/>
          <p:nvPr/>
        </p:nvSpPr>
        <p:spPr>
          <a:xfrm>
            <a:off x="7284690" y="1924050"/>
            <a:ext cx="422151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name (제품명) : 단어의 출현 빈도를 기반으로 하는 CountVectorizer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7284690" y="2457450"/>
            <a:ext cx="49863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item_description (제품 설명) : TfidfVectorizer를 사용한 벡터화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7265640" y="2762250"/>
            <a:ext cx="45400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max_features=50000, ngram_range=(1,3), stop_words='english'</a:t>
            </a:r>
            <a:endParaRPr lang="en-US" sz="1050" dirty="0"/>
          </a:p>
        </p:txBody>
      </p:sp>
      <p:sp>
        <p:nvSpPr>
          <p:cNvPr id="40" name="Text 10"/>
          <p:cNvSpPr/>
          <p:nvPr/>
        </p:nvSpPr>
        <p:spPr>
          <a:xfrm>
            <a:off x="990600" y="4057650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통합 및 저장 형식</a:t>
            </a:r>
            <a:endParaRPr lang="en-US" sz="1500" dirty="0"/>
          </a:p>
        </p:txBody>
      </p:sp>
      <p:sp>
        <p:nvSpPr>
          <p:cNvPr id="41" name="Text 11"/>
          <p:cNvSpPr/>
          <p:nvPr/>
        </p:nvSpPr>
        <p:spPr>
          <a:xfrm>
            <a:off x="685800" y="5010150"/>
            <a:ext cx="83715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피처
(원-핫 인코딩)</a:t>
            </a:r>
            <a:endParaRPr lang="en-US" sz="1050" dirty="0"/>
          </a:p>
        </p:txBody>
      </p:sp>
      <p:sp>
        <p:nvSpPr>
          <p:cNvPr id="42" name="Text 12"/>
          <p:cNvSpPr/>
          <p:nvPr/>
        </p:nvSpPr>
        <p:spPr>
          <a:xfrm>
            <a:off x="5706814" y="5010150"/>
            <a:ext cx="70380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
(벡터화)</a:t>
            </a:r>
            <a:endParaRPr lang="en-US" sz="1050" dirty="0"/>
          </a:p>
        </p:txBody>
      </p:sp>
      <p:sp>
        <p:nvSpPr>
          <p:cNvPr id="43" name="Text 13"/>
          <p:cNvSpPr/>
          <p:nvPr/>
        </p:nvSpPr>
        <p:spPr>
          <a:xfrm>
            <a:off x="10594479" y="5010150"/>
            <a:ext cx="91142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 행렬
(Sparse Matrix)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1143000" y="5753100"/>
            <a:ext cx="23472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피처 개수: </a:t>
            </a: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16만 개 이상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9131201" y="5772150"/>
            <a:ext cx="26671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효율성: 희소 행렬 형태로 변환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28750"/>
            <a:ext cx="5486400" cy="3162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95450"/>
            <a:ext cx="238125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07645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75" y="2181225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37185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3476625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428750"/>
            <a:ext cx="5486400" cy="3162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69545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3295650"/>
            <a:ext cx="5029200" cy="1066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819650"/>
            <a:ext cx="11277600" cy="1371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5086350"/>
            <a:ext cx="142875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4673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3400" y="54673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5467350"/>
            <a:ext cx="1524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및 평가 지표</a:t>
            </a:r>
            <a:endParaRPr lang="en-US" sz="2100" dirty="0"/>
          </a:p>
        </p:txBody>
      </p:sp>
      <p:sp>
        <p:nvSpPr>
          <p:cNvPr id="20" name="Text 1"/>
          <p:cNvSpPr/>
          <p:nvPr/>
        </p:nvSpPr>
        <p:spPr>
          <a:xfrm>
            <a:off x="1038225" y="165735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314450" y="2076450"/>
            <a:ext cx="4400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회귀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1314450" y="2343150"/>
            <a:ext cx="440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회귀 모델의 일종으로, L2 정규화를 통해 과적합을 방지하고 모델의 안정성을 높입니다.</a:t>
            </a:r>
            <a:endParaRPr lang="en-US" sz="1050" dirty="0"/>
          </a:p>
        </p:txBody>
      </p:sp>
      <p:sp>
        <p:nvSpPr>
          <p:cNvPr id="23" name="Text 4"/>
          <p:cNvSpPr/>
          <p:nvPr/>
        </p:nvSpPr>
        <p:spPr>
          <a:xfrm>
            <a:off x="1314450" y="2762250"/>
            <a:ext cx="440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특히, 피처의 개수가 많고 다중 공선성 문제가 발생할 수 있는 경우에 효과적입니다.</a:t>
            </a:r>
            <a:endParaRPr lang="en-US" sz="1050" dirty="0"/>
          </a:p>
        </p:txBody>
      </p:sp>
      <p:sp>
        <p:nvSpPr>
          <p:cNvPr id="24" name="Text 5"/>
          <p:cNvSpPr/>
          <p:nvPr/>
        </p:nvSpPr>
        <p:spPr>
          <a:xfrm>
            <a:off x="1314450" y="3371850"/>
            <a:ext cx="4400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314450" y="3638550"/>
            <a:ext cx="5280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마이크로소프트에서 개발한 트리 기반의 앙상블 부스팅 모델입니다.</a:t>
            </a:r>
            <a:endParaRPr lang="en-US" sz="1050" dirty="0"/>
          </a:p>
        </p:txBody>
      </p:sp>
      <p:sp>
        <p:nvSpPr>
          <p:cNvPr id="26" name="Text 7"/>
          <p:cNvSpPr/>
          <p:nvPr/>
        </p:nvSpPr>
        <p:spPr>
          <a:xfrm>
            <a:off x="1314450" y="3867150"/>
            <a:ext cx="440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데이터 처리 속도가 빠르고 메모리 사용량이 적으며, 높은 예측 성능을 보여줍니다.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6781800" y="165735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6477000" y="2076450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(Root Mean Squared Logarithmic Error)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477000" y="2381250"/>
            <a:ext cx="6035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RMSE와 유사하지만, 예측 오차에 로그를 취하여 계산하는 방식으로,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6467475" y="2686050"/>
            <a:ext cx="5219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가격 상품에 대한 민感ivity를 반영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6467475" y="2952750"/>
            <a:ext cx="5219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변수 로그 변환과의 일관성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6591300" y="340995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RMSLE 계산 공식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6591300" y="3714750"/>
            <a:ext cx="4800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RMSLE = √(1/n ∑ </a:t>
            </a:r>
            <a:r>
              <a:rPr lang="en-US" sz="1013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i=1 </a:t>
            </a:r>
            <a:r>
              <a:rPr lang="en-US" sz="13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(log(y </a:t>
            </a:r>
            <a:r>
              <a:rPr lang="en-US" sz="1013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r>
              <a:rPr lang="en-US" sz="13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+ 1) - log(y </a:t>
            </a:r>
            <a:r>
              <a:rPr lang="en-US" sz="1013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hat i </a:t>
            </a:r>
            <a:r>
              <a:rPr lang="en-US" sz="13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+ 1)) )</a:t>
            </a:r>
            <a:endParaRPr lang="en-US" sz="1350" dirty="0"/>
          </a:p>
        </p:txBody>
      </p:sp>
      <p:sp>
        <p:nvSpPr>
          <p:cNvPr id="34" name="Text 15"/>
          <p:cNvSpPr/>
          <p:nvPr/>
        </p:nvSpPr>
        <p:spPr>
          <a:xfrm>
            <a:off x="942975" y="5048250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선택의 합리성</a:t>
            </a:r>
            <a:endParaRPr lang="en-US" sz="1500" dirty="0"/>
          </a:p>
        </p:txBody>
      </p:sp>
      <p:sp>
        <p:nvSpPr>
          <p:cNvPr id="35" name="Text 16"/>
          <p:cNvSpPr/>
          <p:nvPr/>
        </p:nvSpPr>
        <p:spPr>
          <a:xfrm>
            <a:off x="914400" y="5429250"/>
            <a:ext cx="3276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가격대의 상품에서 발생하는 예측 오차에 더 큰 패널티를 부여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914400" y="5810250"/>
            <a:ext cx="3276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(사용자에게 더 큰 영향을 미침)</a:t>
            </a:r>
            <a:endParaRPr lang="en-US" sz="900" dirty="0"/>
          </a:p>
        </p:txBody>
      </p:sp>
      <p:sp>
        <p:nvSpPr>
          <p:cNvPr id="37" name="Text 18"/>
          <p:cNvSpPr/>
          <p:nvPr/>
        </p:nvSpPr>
        <p:spPr>
          <a:xfrm>
            <a:off x="4572000" y="5429250"/>
            <a:ext cx="29871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변환된 타겟 변수에 적합한 평가 지표</a:t>
            </a:r>
            <a:endParaRPr lang="en-US" sz="1050" dirty="0"/>
          </a:p>
        </p:txBody>
      </p:sp>
      <p:sp>
        <p:nvSpPr>
          <p:cNvPr id="38" name="Text 19"/>
          <p:cNvSpPr/>
          <p:nvPr/>
        </p:nvSpPr>
        <p:spPr>
          <a:xfrm>
            <a:off x="4572000" y="5619750"/>
            <a:ext cx="29871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(모델의 예측 성능을 보다 정확하게 측정)</a:t>
            </a:r>
            <a:endParaRPr lang="en-US" sz="900" dirty="0"/>
          </a:p>
        </p:txBody>
      </p:sp>
      <p:sp>
        <p:nvSpPr>
          <p:cNvPr id="39" name="Text 20"/>
          <p:cNvSpPr/>
          <p:nvPr/>
        </p:nvSpPr>
        <p:spPr>
          <a:xfrm>
            <a:off x="8229600" y="5429250"/>
            <a:ext cx="36717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고가 상품의 작은 오차보다 저가 상품의 오차에 민감</a:t>
            </a:r>
            <a:endParaRPr lang="en-US" sz="1050" dirty="0"/>
          </a:p>
        </p:txBody>
      </p:sp>
      <p:sp>
        <p:nvSpPr>
          <p:cNvPr id="40" name="Text 21"/>
          <p:cNvSpPr/>
          <p:nvPr/>
        </p:nvSpPr>
        <p:spPr>
          <a:xfrm>
            <a:off x="8229600" y="5619750"/>
            <a:ext cx="305975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(실제 중고 거래 시장의 특성 반영)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4373761" cy="1790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1925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0383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3812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7241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371850"/>
            <a:ext cx="4373761" cy="2133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638550"/>
            <a:ext cx="219075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019550"/>
            <a:ext cx="3916561" cy="876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9436" y="4276725"/>
            <a:ext cx="390525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50673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9561" y="1352550"/>
            <a:ext cx="6675239" cy="4648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8161" y="1619250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88161" y="2000250"/>
            <a:ext cx="6218039" cy="243765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88161" y="5048250"/>
            <a:ext cx="3032820" cy="723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02461" y="520065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3380" y="5048250"/>
            <a:ext cx="3032820" cy="723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87680" y="5200650"/>
            <a:ext cx="1524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비교</a:t>
            </a:r>
            <a:endParaRPr lang="en-US" sz="2100" dirty="0"/>
          </a:p>
        </p:txBody>
      </p:sp>
      <p:sp>
        <p:nvSpPr>
          <p:cNvPr id="23" name="Text 1"/>
          <p:cNvSpPr/>
          <p:nvPr/>
        </p:nvSpPr>
        <p:spPr>
          <a:xfrm>
            <a:off x="990600" y="1581150"/>
            <a:ext cx="39165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성능 비교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914400" y="2000250"/>
            <a:ext cx="21240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회귀(제외)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0.5013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914400" y="2343150"/>
            <a:ext cx="21240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회귀(포함)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0.4712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914400" y="2686050"/>
            <a:ext cx="20729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LightGBM(포함)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0.4565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019175" y="3600450"/>
            <a:ext cx="39165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모델 성능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838200" y="4171950"/>
            <a:ext cx="1290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RMSLE 값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838200" y="4400550"/>
            <a:ext cx="12903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0.4505</a:t>
            </a:r>
            <a:endParaRPr lang="en-US" sz="2250" dirty="0"/>
          </a:p>
        </p:txBody>
      </p:sp>
      <p:sp>
        <p:nvSpPr>
          <p:cNvPr id="30" name="Text 8"/>
          <p:cNvSpPr/>
          <p:nvPr/>
        </p:nvSpPr>
        <p:spPr>
          <a:xfrm>
            <a:off x="876300" y="5048250"/>
            <a:ext cx="46998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LightGBM(0.45) + Ridge(0.55) 가중치 결합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5592961" y="1581150"/>
            <a:ext cx="62180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시각화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5288161" y="4667250"/>
            <a:ext cx="62180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발견</a:t>
            </a:r>
            <a:endParaRPr lang="en-US" sz="1350" dirty="0"/>
          </a:p>
        </p:txBody>
      </p:sp>
      <p:sp>
        <p:nvSpPr>
          <p:cNvPr id="33" name="Text 11"/>
          <p:cNvSpPr/>
          <p:nvPr/>
        </p:nvSpPr>
        <p:spPr>
          <a:xfrm>
            <a:off x="5592961" y="5162550"/>
            <a:ext cx="20629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item_description 중요성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5402461" y="5467350"/>
            <a:ext cx="336506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포함시 RMSLE 0.05 감소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8816280" y="516255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효과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8587680" y="5467350"/>
            <a:ext cx="2804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성능 0.006 향상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5486400" cy="1295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50495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288" y="1609725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800350"/>
            <a:ext cx="5486400" cy="1295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95275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057525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48150"/>
            <a:ext cx="5486400" cy="1295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40055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505325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352550"/>
            <a:ext cx="5486400" cy="419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58115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962150"/>
            <a:ext cx="4762500" cy="26670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인사이트</a:t>
            </a:r>
            <a:endParaRPr lang="en-US" sz="2100" dirty="0"/>
          </a:p>
        </p:txBody>
      </p:sp>
      <p:sp>
        <p:nvSpPr>
          <p:cNvPr id="18" name="Text 1"/>
          <p:cNvSpPr/>
          <p:nvPr/>
        </p:nvSpPr>
        <p:spPr>
          <a:xfrm>
            <a:off x="1238250" y="150495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설명의 중요성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238250" y="180975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item_description 피처를 모델에 포함했을 때 RMSLE 값이 감소하여,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1238250" y="2266950"/>
            <a:ext cx="5463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상세 설명이 가격 예측에 중요한 영향을 미침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238250" y="295275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및 비정형 데이터 통합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1238250" y="3257550"/>
            <a:ext cx="5463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category_name, brand_name 등 정형 데이터와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1238250" y="348615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name, item_description 등 비정형 텍스트 데이터를 활용했을 때 예측 정확도 향상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1238250" y="440055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모델의 성능 개선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1238250" y="470535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회귀 모델과 LightGBM 모델의 예측 결과를 적절한 가중치로 앙상블했을 때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1238250" y="5162550"/>
            <a:ext cx="4552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모델보다 더 낮은 RMSLE 값을 달성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6743700" y="154305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성능 비교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5928360" y="4705350"/>
            <a:ext cx="6126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item_description 포함 여부에 따른 모델 성능 차이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28750"/>
            <a:ext cx="5486400" cy="426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9545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076450"/>
            <a:ext cx="5029200" cy="1028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190750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" y="2286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257550"/>
            <a:ext cx="5029200" cy="102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371850"/>
            <a:ext cx="3048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34671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438650"/>
            <a:ext cx="50292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552950"/>
            <a:ext cx="3048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300" y="46482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428750"/>
            <a:ext cx="5486400" cy="426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695450"/>
            <a:ext cx="142875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2076450"/>
            <a:ext cx="5029200" cy="838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2190750"/>
            <a:ext cx="3048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0" y="22860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3067050"/>
            <a:ext cx="5029200" cy="838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1300" y="3181350"/>
            <a:ext cx="3048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67500" y="32766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057650"/>
            <a:ext cx="5029200" cy="838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91300" y="4171950"/>
            <a:ext cx="3048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67500" y="42672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85727" y="5924550"/>
            <a:ext cx="7220396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714327" y="6057900"/>
            <a:ext cx="133350" cy="1524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한계점 및 개선 방안</a:t>
            </a:r>
            <a:endParaRPr lang="en-US" sz="2100" dirty="0"/>
          </a:p>
        </p:txBody>
      </p:sp>
      <p:sp>
        <p:nvSpPr>
          <p:cNvPr id="30" name="Text 1"/>
          <p:cNvSpPr/>
          <p:nvPr/>
        </p:nvSpPr>
        <p:spPr>
          <a:xfrm>
            <a:off x="990600" y="165735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한계점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1219200" y="219075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데이터 미활용</a:t>
            </a:r>
            <a:endParaRPr lang="en-US" sz="1200" dirty="0"/>
          </a:p>
        </p:txBody>
      </p:sp>
      <p:sp>
        <p:nvSpPr>
          <p:cNvPr id="32" name="Text 3"/>
          <p:cNvSpPr/>
          <p:nvPr/>
        </p:nvSpPr>
        <p:spPr>
          <a:xfrm>
            <a:off x="1219200" y="2419350"/>
            <a:ext cx="4381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이미지 데이터는 분석에 포함되지 않았습니다. 이미지からは 상품의 실제 상태, 디자인, 희소성 등 가격에 영향을 미치는 중요한 시각적 정보를 얻을 수 있습니다.</a:t>
            </a:r>
            <a:endParaRPr lang="en-US" sz="1050" dirty="0"/>
          </a:p>
        </p:txBody>
      </p:sp>
      <p:sp>
        <p:nvSpPr>
          <p:cNvPr id="33" name="Text 4"/>
          <p:cNvSpPr/>
          <p:nvPr/>
        </p:nvSpPr>
        <p:spPr>
          <a:xfrm>
            <a:off x="1219200" y="337185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시간적 요소 미반영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1219200" y="3600450"/>
            <a:ext cx="4381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상품의 가격은 출시 시기, 계절성, 시장 트렌드, 유사 상품의 공급 및 수요 변화 등 다양한 시간적, 외부적 요인에 의해 영향을 받을 수 있습니다. 현재 모델은 이러한 동적인 요소를 충분히 반영하지 못했습니다.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1219200" y="455295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 튜uning 제한</a:t>
            </a:r>
            <a:endParaRPr lang="en-US" sz="1200" dirty="0"/>
          </a:p>
        </p:txBody>
      </p:sp>
      <p:sp>
        <p:nvSpPr>
          <p:cNvPr id="36" name="Text 7"/>
          <p:cNvSpPr/>
          <p:nvPr/>
        </p:nvSpPr>
        <p:spPr>
          <a:xfrm>
            <a:off x="1219200" y="4781550"/>
            <a:ext cx="4381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하이퍼파라미터 튜닝은 제한적인 범위 내에서 수동으로 진행되었습니다. 최적의 하이퍼파라미터 조합을 찾기 위해 체계적인 탐색 기법을 활용하지 못했습니다.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6734175" y="165735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방안</a:t>
            </a:r>
            <a:endParaRPr lang="en-US" sz="1500" dirty="0"/>
          </a:p>
        </p:txBody>
      </p:sp>
      <p:sp>
        <p:nvSpPr>
          <p:cNvPr id="38" name="Text 9"/>
          <p:cNvSpPr/>
          <p:nvPr/>
        </p:nvSpPr>
        <p:spPr>
          <a:xfrm>
            <a:off x="7010400" y="219075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데이터 분석 통합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7010400" y="2419350"/>
            <a:ext cx="4381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내 객체 탐지, 손상 여부 분석 등을 통해 피처를 추가하여 예측 성능을 향상시킬 수 있습니다.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7010400" y="318135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분석 기법 접목</a:t>
            </a:r>
            <a:endParaRPr lang="en-US" sz="1200" dirty="0"/>
          </a:p>
        </p:txBody>
      </p:sp>
      <p:sp>
        <p:nvSpPr>
          <p:cNvPr id="41" name="Text 12"/>
          <p:cNvSpPr/>
          <p:nvPr/>
        </p:nvSpPr>
        <p:spPr>
          <a:xfrm>
            <a:off x="7010400" y="3409950"/>
            <a:ext cx="4381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 시점 데이터, 시장 동향 데이터 등을 활용한 시계열 분석 기법을 적용하여 모델의 현실성을 높일 수 있습니다.</a:t>
            </a:r>
            <a:endParaRPr lang="en-US" sz="1050" dirty="0"/>
          </a:p>
        </p:txBody>
      </p:sp>
      <p:sp>
        <p:nvSpPr>
          <p:cNvPr id="42" name="Text 13"/>
          <p:cNvSpPr/>
          <p:nvPr/>
        </p:nvSpPr>
        <p:spPr>
          <a:xfrm>
            <a:off x="7010400" y="417195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 하이퍼파라미터 최적화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7010400" y="4400550"/>
            <a:ext cx="4381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GridSearchCV, RandomizedSearchCV와 같은 체계적인 탐색 기법을 활용하여 모델의 잠재력을 최대한 발휘할 수 있습니다.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2038008" y="6038850"/>
            <a:ext cx="81158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향후 개선을 통해 Mercari 중고 상품 가격 예측 모델의 정확도와 실용성을 더욱 높일 수 있습니다.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10303818" y="6172200"/>
            <a:ext cx="16595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1350" dirty="0"/>
          </a:p>
        </p:txBody>
      </p:sp>
      <p:sp>
        <p:nvSpPr>
          <p:cNvPr id="46" name="Text 17"/>
          <p:cNvSpPr/>
          <p:nvPr/>
        </p:nvSpPr>
        <p:spPr>
          <a:xfrm>
            <a:off x="9971901" y="6438900"/>
            <a:ext cx="19914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중고 상품 가격 예측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197184-E3BE-4D12-9E19-F742711C7DCC}">
  <we:reference id="wa200005566" version="3.0.0.3" store="ko-K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1044</Words>
  <Application>Microsoft Office PowerPoint</Application>
  <PresentationFormat>와이드스크린</PresentationFormat>
  <Paragraphs>147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KR</vt:lpstr>
      <vt:lpstr>ui-monospace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TJ</cp:lastModifiedBy>
  <cp:revision>4</cp:revision>
  <dcterms:created xsi:type="dcterms:W3CDTF">2025-12-13T11:39:01Z</dcterms:created>
  <dcterms:modified xsi:type="dcterms:W3CDTF">2025-12-13T12:25:35Z</dcterms:modified>
</cp:coreProperties>
</file>